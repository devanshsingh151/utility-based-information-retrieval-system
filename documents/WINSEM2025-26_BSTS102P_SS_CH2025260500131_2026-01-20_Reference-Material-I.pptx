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205" y="365125"/>
            <a:ext cx="11652131" cy="8791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7631" y="5670337"/>
            <a:ext cx="2665189" cy="10326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7801" y="2426854"/>
            <a:ext cx="6592570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150" y="2544921"/>
            <a:ext cx="10808335" cy="160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0714" y="1811147"/>
            <a:ext cx="6296922" cy="3166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5125"/>
            <a:ext cx="10515599" cy="13255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6700" b="1">
                <a:solidFill>
                  <a:srgbClr val="000000"/>
                </a:solidFill>
                <a:latin typeface="Calibri"/>
                <a:cs typeface="Calibri"/>
              </a:rPr>
              <a:t>DECISION</a:t>
            </a:r>
            <a:r>
              <a:rPr dirty="0" sz="6700" spc="-21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700" spc="-10" b="1">
                <a:solidFill>
                  <a:srgbClr val="000000"/>
                </a:solidFill>
                <a:latin typeface="Calibri"/>
                <a:cs typeface="Calibri"/>
              </a:rPr>
              <a:t>MAKING</a:t>
            </a:r>
            <a:endParaRPr sz="6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1219" y="2313755"/>
            <a:ext cx="10376535" cy="207518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10"/>
              </a:spcBef>
            </a:pP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In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simple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terms,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decision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making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the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process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of</a:t>
            </a:r>
            <a:r>
              <a:rPr dirty="0" sz="1950" spc="-5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making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choices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by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recognizing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the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51565E"/>
                </a:solidFill>
                <a:latin typeface="Arial MT"/>
                <a:cs typeface="Arial MT"/>
              </a:rPr>
              <a:t>problem,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gathering</a:t>
            </a:r>
            <a:r>
              <a:rPr dirty="0" sz="1950" spc="-6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information</a:t>
            </a:r>
            <a:r>
              <a:rPr dirty="0" sz="1950" spc="-6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about</a:t>
            </a:r>
            <a:r>
              <a:rPr dirty="0" sz="1950" spc="-6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feasible</a:t>
            </a:r>
            <a:r>
              <a:rPr dirty="0" sz="1950" spc="-6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solutions,</a:t>
            </a:r>
            <a:r>
              <a:rPr dirty="0" sz="1950" spc="-6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and</a:t>
            </a:r>
            <a:r>
              <a:rPr dirty="0" sz="1950" spc="-6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finalizing</a:t>
            </a:r>
            <a:r>
              <a:rPr dirty="0" sz="1950" spc="-6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the</a:t>
            </a:r>
            <a:r>
              <a:rPr dirty="0" sz="1950" spc="-6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best</a:t>
            </a:r>
            <a:r>
              <a:rPr dirty="0" sz="1950" spc="-6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51565E"/>
                </a:solidFill>
                <a:latin typeface="Arial MT"/>
                <a:cs typeface="Arial MT"/>
              </a:rPr>
              <a:t>alternative.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This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process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carried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out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through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an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intuitive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or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logical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process,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or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combination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of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 spc="-20">
                <a:solidFill>
                  <a:srgbClr val="51565E"/>
                </a:solidFill>
                <a:latin typeface="Arial MT"/>
                <a:cs typeface="Arial MT"/>
              </a:rPr>
              <a:t>two.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50">
              <a:latin typeface="Arial MT"/>
              <a:cs typeface="Arial MT"/>
            </a:endParaRPr>
          </a:p>
          <a:p>
            <a:pPr marL="12700" marR="222885">
              <a:lnSpc>
                <a:spcPts val="2300"/>
              </a:lnSpc>
            </a:pP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Intuition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is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all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about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using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your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gut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feeling</a:t>
            </a:r>
            <a:r>
              <a:rPr dirty="0" sz="1950" spc="-3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to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take</a:t>
            </a:r>
            <a:r>
              <a:rPr dirty="0" sz="1950" spc="-3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</a:t>
            </a:r>
            <a:r>
              <a:rPr dirty="0" sz="1950" spc="-3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stand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on</a:t>
            </a:r>
            <a:r>
              <a:rPr dirty="0" sz="1950" spc="-3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the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possible</a:t>
            </a:r>
            <a:r>
              <a:rPr dirty="0" sz="1950" spc="-3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course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of</a:t>
            </a:r>
            <a:r>
              <a:rPr dirty="0" sz="1950" spc="-4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action.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51565E"/>
                </a:solidFill>
                <a:latin typeface="Arial MT"/>
                <a:cs typeface="Arial MT"/>
              </a:rPr>
              <a:t>In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contrast,</a:t>
            </a:r>
            <a:r>
              <a:rPr dirty="0" sz="1950" spc="-5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logical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process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uses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facts</a:t>
            </a:r>
            <a:r>
              <a:rPr dirty="0" sz="1950" spc="-5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and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figures</a:t>
            </a:r>
            <a:r>
              <a:rPr dirty="0" sz="1950" spc="-5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to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make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scientifically</a:t>
            </a:r>
            <a:r>
              <a:rPr dirty="0" sz="1950" spc="-50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51565E"/>
                </a:solidFill>
                <a:latin typeface="Arial MT"/>
                <a:cs typeface="Arial MT"/>
              </a:rPr>
              <a:t>sound</a:t>
            </a:r>
            <a:r>
              <a:rPr dirty="0" sz="1950" spc="-45">
                <a:solidFill>
                  <a:srgbClr val="51565E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51565E"/>
                </a:solidFill>
                <a:latin typeface="Arial MT"/>
                <a:cs typeface="Arial MT"/>
              </a:rPr>
              <a:t>decisions.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205" y="365125"/>
            <a:ext cx="11652250" cy="87947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5615"/>
              </a:lnSpc>
            </a:pPr>
            <a:r>
              <a:rPr dirty="0" sz="4950" spc="-10" b="1">
                <a:solidFill>
                  <a:srgbClr val="000000"/>
                </a:solidFill>
                <a:latin typeface="Calibri"/>
                <a:cs typeface="Calibri"/>
              </a:rPr>
              <a:t>AGENDA</a:t>
            </a:r>
            <a:endParaRPr sz="4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4921" y="1834074"/>
            <a:ext cx="8724900" cy="228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dirty="0" sz="2500">
                <a:latin typeface="Arial MT"/>
                <a:cs typeface="Arial MT"/>
              </a:rPr>
              <a:t>Essence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making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decision,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Importance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Decision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making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dirty="0" sz="2500">
                <a:latin typeface="Arial MT"/>
                <a:cs typeface="Arial MT"/>
              </a:rPr>
              <a:t>Types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decision,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Decision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Making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-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Conditions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328930" indent="-316230">
              <a:lnSpc>
                <a:spcPct val="100000"/>
              </a:lnSpc>
              <a:buChar char="•"/>
              <a:tabLst>
                <a:tab pos="328930" algn="l"/>
              </a:tabLst>
            </a:pPr>
            <a:r>
              <a:rPr dirty="0" sz="2500">
                <a:latin typeface="Arial MT"/>
                <a:cs typeface="Arial MT"/>
              </a:rPr>
              <a:t>Effective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Decision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Making,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Scenarios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205" y="365125"/>
            <a:ext cx="11652250" cy="87947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663190">
              <a:lnSpc>
                <a:spcPct val="100000"/>
              </a:lnSpc>
              <a:spcBef>
                <a:spcPts val="100"/>
              </a:spcBef>
            </a:pPr>
            <a:r>
              <a:rPr dirty="0" sz="4450" b="1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4100" b="1">
                <a:solidFill>
                  <a:srgbClr val="000000"/>
                </a:solidFill>
                <a:latin typeface="Calibri"/>
                <a:cs typeface="Calibri"/>
              </a:rPr>
              <a:t>Essence</a:t>
            </a:r>
            <a:r>
              <a:rPr dirty="0" sz="4100" spc="-2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100" b="1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4100" spc="-1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100" b="1">
                <a:solidFill>
                  <a:srgbClr val="000000"/>
                </a:solidFill>
                <a:latin typeface="Calibri"/>
                <a:cs typeface="Calibri"/>
              </a:rPr>
              <a:t>making</a:t>
            </a:r>
            <a:r>
              <a:rPr dirty="0" sz="4100" spc="-10" b="1">
                <a:solidFill>
                  <a:srgbClr val="000000"/>
                </a:solidFill>
                <a:latin typeface="Calibri"/>
                <a:cs typeface="Calibri"/>
              </a:rPr>
              <a:t> decision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71219" y="1781121"/>
            <a:ext cx="8385175" cy="403923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4475" indent="-23177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244475" algn="l"/>
              </a:tabLst>
            </a:pPr>
            <a:r>
              <a:rPr dirty="0" sz="1650" spc="-10" b="1">
                <a:latin typeface="Arial"/>
                <a:cs typeface="Arial"/>
              </a:rPr>
              <a:t>Identifying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Problem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or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Opportunity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50" spc="-10">
                <a:latin typeface="Arial MT"/>
                <a:cs typeface="Arial MT"/>
              </a:rPr>
              <a:t>Decision-</a:t>
            </a:r>
            <a:r>
              <a:rPr dirty="0" sz="1650">
                <a:latin typeface="Arial MT"/>
                <a:cs typeface="Arial MT"/>
              </a:rPr>
              <a:t>making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starts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when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you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i="1">
                <a:latin typeface="Arial"/>
                <a:cs typeface="Arial"/>
              </a:rPr>
              <a:t>recognize</a:t>
            </a:r>
            <a:r>
              <a:rPr dirty="0" sz="1650" spc="-50" i="1">
                <a:latin typeface="Arial"/>
                <a:cs typeface="Arial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something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needs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change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or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chosen.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650">
              <a:latin typeface="Arial MT"/>
              <a:cs typeface="Arial MT"/>
            </a:endParaRPr>
          </a:p>
          <a:p>
            <a:pPr marL="244475" indent="-231775">
              <a:lnSpc>
                <a:spcPct val="100000"/>
              </a:lnSpc>
              <a:buAutoNum type="arabicPeriod" startAt="2"/>
              <a:tabLst>
                <a:tab pos="244475" algn="l"/>
              </a:tabLst>
            </a:pPr>
            <a:r>
              <a:rPr dirty="0" sz="1650" spc="-10" b="1">
                <a:latin typeface="Arial"/>
                <a:cs typeface="Arial"/>
              </a:rPr>
              <a:t>Gathering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Relevant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Information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50" spc="-40">
                <a:latin typeface="Arial MT"/>
                <a:cs typeface="Arial MT"/>
              </a:rPr>
              <a:t>You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collect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facts,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data,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opinions,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insights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needed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make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wise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choice.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650">
              <a:latin typeface="Arial MT"/>
              <a:cs typeface="Arial MT"/>
            </a:endParaRPr>
          </a:p>
          <a:p>
            <a:pPr marL="244475" indent="-231775">
              <a:lnSpc>
                <a:spcPct val="100000"/>
              </a:lnSpc>
              <a:buAutoNum type="arabicPeriod" startAt="3"/>
              <a:tabLst>
                <a:tab pos="244475" algn="l"/>
              </a:tabLst>
            </a:pPr>
            <a:r>
              <a:rPr dirty="0" sz="1650" spc="-20" b="1">
                <a:latin typeface="Arial"/>
                <a:cs typeface="Arial"/>
              </a:rPr>
              <a:t>Evaluating </a:t>
            </a:r>
            <a:r>
              <a:rPr dirty="0" sz="1650" spc="-10" b="1">
                <a:latin typeface="Arial"/>
                <a:cs typeface="Arial"/>
              </a:rPr>
              <a:t>Alternatives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50" spc="-40">
                <a:latin typeface="Arial MT"/>
                <a:cs typeface="Arial MT"/>
              </a:rPr>
              <a:t>You</a:t>
            </a:r>
            <a:r>
              <a:rPr dirty="0" sz="1650" spc="-8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compare</a:t>
            </a:r>
            <a:r>
              <a:rPr dirty="0" sz="1650" spc="-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different</a:t>
            </a:r>
            <a:r>
              <a:rPr dirty="0" sz="1650" spc="-8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options</a:t>
            </a:r>
            <a:r>
              <a:rPr dirty="0" sz="1650" spc="-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based</a:t>
            </a:r>
            <a:r>
              <a:rPr dirty="0" sz="1650" spc="-8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on:</a:t>
            </a:r>
            <a:endParaRPr sz="1650">
              <a:latin typeface="Arial MT"/>
              <a:cs typeface="Arial MT"/>
            </a:endParaRPr>
          </a:p>
          <a:p>
            <a:pPr lvl="1" marL="278765" indent="-126364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78765" algn="l"/>
              </a:tabLst>
            </a:pPr>
            <a:r>
              <a:rPr dirty="0" sz="1650">
                <a:latin typeface="Arial MT"/>
                <a:cs typeface="Arial MT"/>
              </a:rPr>
              <a:t>Pros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cons</a:t>
            </a:r>
            <a:endParaRPr sz="1650">
              <a:latin typeface="Arial MT"/>
              <a:cs typeface="Arial MT"/>
            </a:endParaRPr>
          </a:p>
          <a:p>
            <a:pPr lvl="1" marL="278765" indent="-126364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78765" algn="l"/>
              </a:tabLst>
            </a:pPr>
            <a:r>
              <a:rPr dirty="0" sz="1650" spc="-10">
                <a:latin typeface="Arial MT"/>
                <a:cs typeface="Arial MT"/>
              </a:rPr>
              <a:t>Risks</a:t>
            </a:r>
            <a:endParaRPr sz="1650">
              <a:latin typeface="Arial MT"/>
              <a:cs typeface="Arial MT"/>
            </a:endParaRPr>
          </a:p>
          <a:p>
            <a:pPr lvl="1" marL="278765" indent="-126364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78765" algn="l"/>
              </a:tabLst>
            </a:pPr>
            <a:r>
              <a:rPr dirty="0" sz="1650" spc="-10">
                <a:latin typeface="Arial MT"/>
                <a:cs typeface="Arial MT"/>
              </a:rPr>
              <a:t>Costs</a:t>
            </a:r>
            <a:endParaRPr sz="1650">
              <a:latin typeface="Arial MT"/>
              <a:cs typeface="Arial MT"/>
            </a:endParaRPr>
          </a:p>
          <a:p>
            <a:pPr lvl="1" marL="278765" indent="-126364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78765" algn="l"/>
              </a:tabLst>
            </a:pPr>
            <a:r>
              <a:rPr dirty="0" sz="1650">
                <a:latin typeface="Arial MT"/>
                <a:cs typeface="Arial MT"/>
              </a:rPr>
              <a:t>Expected</a:t>
            </a:r>
            <a:r>
              <a:rPr dirty="0" sz="1650" spc="-9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outcomes</a:t>
            </a:r>
            <a:endParaRPr sz="1650">
              <a:latin typeface="Arial MT"/>
              <a:cs typeface="Arial MT"/>
            </a:endParaRPr>
          </a:p>
          <a:p>
            <a:pPr lvl="1" marL="278765" indent="-126364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78765" algn="l"/>
              </a:tabLst>
            </a:pPr>
            <a:r>
              <a:rPr dirty="0" sz="1650">
                <a:latin typeface="Arial MT"/>
                <a:cs typeface="Arial MT"/>
              </a:rPr>
              <a:t>Alignment</a:t>
            </a:r>
            <a:r>
              <a:rPr dirty="0" sz="1650" spc="-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</a:t>
            </a:r>
            <a:r>
              <a:rPr dirty="0" sz="1650" spc="-6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goals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2619" y="882746"/>
            <a:ext cx="10835005" cy="477583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835"/>
              </a:spcBef>
              <a:buAutoNum type="arabicPeriod" startAt="4"/>
              <a:tabLst>
                <a:tab pos="257175" algn="l"/>
              </a:tabLst>
            </a:pPr>
            <a:r>
              <a:rPr dirty="0" sz="1700" b="1">
                <a:latin typeface="Arial"/>
                <a:cs typeface="Arial"/>
              </a:rPr>
              <a:t>Predicting</a:t>
            </a:r>
            <a:r>
              <a:rPr dirty="0" sz="1700" spc="10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Consequences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good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decision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maker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thinks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about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 i="1">
                <a:latin typeface="Arial"/>
                <a:cs typeface="Arial"/>
              </a:rPr>
              <a:t>what</a:t>
            </a:r>
            <a:r>
              <a:rPr dirty="0" sz="1700" spc="55" i="1">
                <a:latin typeface="Arial"/>
                <a:cs typeface="Arial"/>
              </a:rPr>
              <a:t> </a:t>
            </a:r>
            <a:r>
              <a:rPr dirty="0" sz="1700" i="1">
                <a:latin typeface="Arial"/>
                <a:cs typeface="Arial"/>
              </a:rPr>
              <a:t>will</a:t>
            </a:r>
            <a:r>
              <a:rPr dirty="0" sz="1700" spc="55" i="1">
                <a:latin typeface="Arial"/>
                <a:cs typeface="Arial"/>
              </a:rPr>
              <a:t> </a:t>
            </a:r>
            <a:r>
              <a:rPr dirty="0" sz="1700" i="1">
                <a:latin typeface="Arial"/>
                <a:cs typeface="Arial"/>
              </a:rPr>
              <a:t>happen</a:t>
            </a:r>
            <a:r>
              <a:rPr dirty="0" sz="1700" spc="55" i="1">
                <a:latin typeface="Arial"/>
                <a:cs typeface="Arial"/>
              </a:rPr>
              <a:t> </a:t>
            </a:r>
            <a:r>
              <a:rPr dirty="0" sz="1700">
                <a:latin typeface="Arial MT"/>
                <a:cs typeface="Arial MT"/>
              </a:rPr>
              <a:t>after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each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choice.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700">
              <a:latin typeface="Arial MT"/>
              <a:cs typeface="Arial MT"/>
            </a:endParaRPr>
          </a:p>
          <a:p>
            <a:pPr marL="257175" indent="-244475">
              <a:lnSpc>
                <a:spcPct val="100000"/>
              </a:lnSpc>
              <a:buAutoNum type="arabicPeriod" startAt="5"/>
              <a:tabLst>
                <a:tab pos="257175" algn="l"/>
              </a:tabLst>
            </a:pPr>
            <a:r>
              <a:rPr dirty="0" sz="1700" b="1">
                <a:latin typeface="Arial"/>
                <a:cs typeface="Arial"/>
              </a:rPr>
              <a:t>Choosing</a:t>
            </a:r>
            <a:r>
              <a:rPr dirty="0" sz="1700" spc="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the</a:t>
            </a:r>
            <a:r>
              <a:rPr dirty="0" sz="1700" spc="8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Best</a:t>
            </a:r>
            <a:r>
              <a:rPr dirty="0" sz="1700" spc="7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Option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700" spc="-10">
                <a:latin typeface="Arial MT"/>
                <a:cs typeface="Arial MT"/>
              </a:rPr>
              <a:t>You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select</a:t>
            </a:r>
            <a:r>
              <a:rPr dirty="0" sz="1700" spc="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alternative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offers</a:t>
            </a:r>
            <a:r>
              <a:rPr dirty="0" sz="1700" spc="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maximum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benefit</a:t>
            </a:r>
            <a:r>
              <a:rPr dirty="0" sz="1700" spc="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with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minimum</a:t>
            </a:r>
            <a:r>
              <a:rPr dirty="0" sz="1700" spc="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risk.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700">
              <a:latin typeface="Arial MT"/>
              <a:cs typeface="Arial MT"/>
            </a:endParaRPr>
          </a:p>
          <a:p>
            <a:pPr marL="257175" indent="-244475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257175" algn="l"/>
              </a:tabLst>
            </a:pPr>
            <a:r>
              <a:rPr dirty="0" sz="1700" b="1">
                <a:latin typeface="Arial"/>
                <a:cs typeface="Arial"/>
              </a:rPr>
              <a:t>Taking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Responsibility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700" spc="-10">
                <a:latin typeface="Arial MT"/>
                <a:cs typeface="Arial MT"/>
              </a:rPr>
              <a:t>You</a:t>
            </a:r>
            <a:r>
              <a:rPr dirty="0" sz="1700" spc="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commit</a:t>
            </a:r>
            <a:r>
              <a:rPr dirty="0" sz="1700" spc="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choice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act</a:t>
            </a:r>
            <a:r>
              <a:rPr dirty="0" sz="1700" spc="1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on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it.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700">
              <a:latin typeface="Arial MT"/>
              <a:cs typeface="Arial MT"/>
            </a:endParaRPr>
          </a:p>
          <a:p>
            <a:pPr marL="257175" indent="-244475">
              <a:lnSpc>
                <a:spcPct val="100000"/>
              </a:lnSpc>
              <a:buAutoNum type="arabicPeriod" startAt="7"/>
              <a:tabLst>
                <a:tab pos="257175" algn="l"/>
              </a:tabLst>
            </a:pPr>
            <a:r>
              <a:rPr dirty="0" sz="1700" b="1">
                <a:latin typeface="Arial"/>
                <a:cs typeface="Arial"/>
              </a:rPr>
              <a:t>Reviewing</a:t>
            </a:r>
            <a:r>
              <a:rPr dirty="0" sz="1700" spc="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the</a:t>
            </a:r>
            <a:r>
              <a:rPr dirty="0" sz="1700" spc="7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Outcome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700" spc="-10">
                <a:latin typeface="Arial MT"/>
                <a:cs typeface="Arial MT"/>
              </a:rPr>
              <a:t>You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learn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from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what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worked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what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didn’t—this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improves</a:t>
            </a:r>
            <a:r>
              <a:rPr dirty="0" sz="1700" spc="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future</a:t>
            </a:r>
            <a:r>
              <a:rPr dirty="0" sz="1700" spc="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decisions.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Arial"/>
                <a:cs typeface="Arial"/>
              </a:rPr>
              <a:t>In</a:t>
            </a:r>
            <a:r>
              <a:rPr dirty="0" sz="1700" spc="2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short:</a:t>
            </a:r>
            <a:endParaRPr sz="1700">
              <a:latin typeface="Arial"/>
              <a:cs typeface="Arial"/>
            </a:endParaRPr>
          </a:p>
          <a:p>
            <a:pPr marL="12700" marR="5080" indent="60960">
              <a:lnSpc>
                <a:spcPts val="2000"/>
              </a:lnSpc>
              <a:spcBef>
                <a:spcPts val="844"/>
              </a:spcBef>
            </a:pPr>
            <a:r>
              <a:rPr dirty="0" sz="1700">
                <a:latin typeface="Arial MT"/>
                <a:cs typeface="Arial MT"/>
              </a:rPr>
              <a:t>Decision-making</a:t>
            </a:r>
            <a:r>
              <a:rPr dirty="0" sz="1700" spc="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about</a:t>
            </a:r>
            <a:r>
              <a:rPr dirty="0" sz="1700" spc="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choosing</a:t>
            </a:r>
            <a:r>
              <a:rPr dirty="0" sz="1700" spc="9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wisely</a:t>
            </a:r>
            <a:r>
              <a:rPr dirty="0" sz="1700" spc="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by</a:t>
            </a:r>
            <a:r>
              <a:rPr dirty="0" sz="1700" spc="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analyzing</a:t>
            </a:r>
            <a:r>
              <a:rPr dirty="0" sz="1700" spc="9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information,</a:t>
            </a:r>
            <a:r>
              <a:rPr dirty="0" sz="1700" spc="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understanding</a:t>
            </a:r>
            <a:r>
              <a:rPr dirty="0" sz="1700" spc="9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consequences,</a:t>
            </a:r>
            <a:r>
              <a:rPr dirty="0" sz="1700" spc="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8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picking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most</a:t>
            </a:r>
            <a:r>
              <a:rPr dirty="0" sz="1700" spc="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beneficial</a:t>
            </a:r>
            <a:r>
              <a:rPr dirty="0" sz="1700" spc="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option.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464" y="395229"/>
            <a:ext cx="11652131" cy="6712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464" y="395229"/>
            <a:ext cx="11652250" cy="671830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2550" b="1">
                <a:solidFill>
                  <a:srgbClr val="000000"/>
                </a:solidFill>
                <a:latin typeface="Arial"/>
                <a:cs typeface="Arial"/>
              </a:rPr>
              <a:t>2.Importance</a:t>
            </a:r>
            <a:r>
              <a:rPr dirty="0" sz="2550" spc="-3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2550" spc="-2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00000"/>
                </a:solidFill>
                <a:latin typeface="Arial"/>
                <a:cs typeface="Arial"/>
              </a:rPr>
              <a:t>Decision</a:t>
            </a:r>
            <a:r>
              <a:rPr dirty="0" sz="2550" spc="-2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00000"/>
                </a:solidFill>
                <a:latin typeface="Arial"/>
                <a:cs typeface="Arial"/>
              </a:rPr>
              <a:t>making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67150" y="1599279"/>
            <a:ext cx="8056245" cy="615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6705" marR="5080" indent="-294640">
              <a:lnSpc>
                <a:spcPts val="2370"/>
              </a:lnSpc>
              <a:spcBef>
                <a:spcPts val="105"/>
              </a:spcBef>
              <a:tabLst>
                <a:tab pos="384175" algn="l"/>
              </a:tabLst>
            </a:pPr>
            <a:r>
              <a:rPr dirty="0" sz="2200" spc="-25">
                <a:solidFill>
                  <a:srgbClr val="232323"/>
                </a:solidFill>
                <a:latin typeface="Arial MT"/>
                <a:cs typeface="Arial MT"/>
              </a:rPr>
              <a:t>1.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		</a:t>
            </a:r>
            <a:r>
              <a:rPr dirty="0" sz="1900" b="1">
                <a:solidFill>
                  <a:srgbClr val="232323"/>
                </a:solidFill>
                <a:latin typeface="Arial"/>
                <a:cs typeface="Arial"/>
              </a:rPr>
              <a:t>Goal</a:t>
            </a:r>
            <a:r>
              <a:rPr dirty="0" sz="1900" spc="-13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232323"/>
                </a:solidFill>
                <a:latin typeface="Arial"/>
                <a:cs typeface="Arial"/>
              </a:rPr>
              <a:t>Achievement:</a:t>
            </a:r>
            <a:r>
              <a:rPr dirty="0" sz="1900" spc="-6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Effective</a:t>
            </a:r>
            <a:r>
              <a:rPr dirty="0" sz="19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decisions</a:t>
            </a:r>
            <a:r>
              <a:rPr dirty="0" sz="19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help</a:t>
            </a:r>
            <a:r>
              <a:rPr dirty="0" sz="19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managers</a:t>
            </a:r>
            <a:r>
              <a:rPr dirty="0" sz="19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set</a:t>
            </a:r>
            <a:r>
              <a:rPr dirty="0" sz="19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19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232323"/>
                </a:solidFill>
                <a:latin typeface="Arial MT"/>
                <a:cs typeface="Arial MT"/>
              </a:rPr>
              <a:t>achieve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choosing</a:t>
            </a:r>
            <a:r>
              <a:rPr dirty="0" sz="1900" spc="-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dirty="0" sz="1900" spc="-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best</a:t>
            </a:r>
            <a:r>
              <a:rPr dirty="0" sz="19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course</a:t>
            </a:r>
            <a:r>
              <a:rPr dirty="0" sz="1900" spc="-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dirty="0" sz="19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232323"/>
                </a:solidFill>
                <a:latin typeface="Arial MT"/>
                <a:cs typeface="Arial MT"/>
              </a:rPr>
              <a:t>action.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32772" y="1599279"/>
            <a:ext cx="24942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organizational</a:t>
            </a:r>
            <a:r>
              <a:rPr dirty="0" sz="1900" spc="-8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goals</a:t>
            </a:r>
            <a:r>
              <a:rPr dirty="0" sz="1900" spc="-8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232323"/>
                </a:solidFill>
                <a:latin typeface="Arial MT"/>
                <a:cs typeface="Arial MT"/>
              </a:rPr>
              <a:t>by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  <a:buFont typeface="Arial MT"/>
              <a:buAutoNum type="arabicPeriod" startAt="2"/>
              <a:tabLst>
                <a:tab pos="306705" algn="l"/>
              </a:tabLst>
            </a:pPr>
            <a:r>
              <a:rPr dirty="0" b="1">
                <a:latin typeface="Arial"/>
                <a:cs typeface="Arial"/>
              </a:rPr>
              <a:t>Resource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Utilization: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/>
              <a:t>Good</a:t>
            </a:r>
            <a:r>
              <a:rPr dirty="0" spc="-50"/>
              <a:t> </a:t>
            </a:r>
            <a:r>
              <a:rPr dirty="0"/>
              <a:t>decision</a:t>
            </a:r>
            <a:r>
              <a:rPr dirty="0" spc="-45"/>
              <a:t> </a:t>
            </a:r>
            <a:r>
              <a:rPr dirty="0"/>
              <a:t>making</a:t>
            </a:r>
            <a:r>
              <a:rPr dirty="0" spc="-45"/>
              <a:t> </a:t>
            </a:r>
            <a:r>
              <a:rPr dirty="0"/>
              <a:t>ensures</a:t>
            </a:r>
            <a:r>
              <a:rPr dirty="0" spc="-55"/>
              <a:t> </a:t>
            </a:r>
            <a:r>
              <a:rPr dirty="0"/>
              <a:t>optimal</a:t>
            </a:r>
            <a:r>
              <a:rPr dirty="0" spc="-45"/>
              <a:t> </a:t>
            </a:r>
            <a:r>
              <a:rPr dirty="0"/>
              <a:t>use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resources</a:t>
            </a:r>
            <a:r>
              <a:rPr dirty="0" spc="-50"/>
              <a:t> </a:t>
            </a:r>
            <a:r>
              <a:rPr dirty="0"/>
              <a:t>such</a:t>
            </a:r>
            <a:r>
              <a:rPr dirty="0" spc="-45"/>
              <a:t> </a:t>
            </a:r>
            <a:r>
              <a:rPr dirty="0"/>
              <a:t>as</a:t>
            </a:r>
            <a:r>
              <a:rPr dirty="0" spc="-55"/>
              <a:t> </a:t>
            </a:r>
            <a:r>
              <a:rPr dirty="0" spc="-10"/>
              <a:t>time, 	money,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 spc="-10"/>
              <a:t>manpower,</a:t>
            </a:r>
            <a:r>
              <a:rPr dirty="0" spc="-90"/>
              <a:t> </a:t>
            </a:r>
            <a:r>
              <a:rPr dirty="0"/>
              <a:t>minimizing</a:t>
            </a:r>
            <a:r>
              <a:rPr dirty="0" spc="-85"/>
              <a:t> </a:t>
            </a:r>
            <a:r>
              <a:rPr dirty="0" spc="-10"/>
              <a:t>waste</a:t>
            </a: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232323"/>
              </a:buClr>
              <a:buFont typeface="Arial MT"/>
              <a:buAutoNum type="arabicPeriod" startAt="2"/>
            </a:pPr>
          </a:p>
          <a:p>
            <a:pPr marL="304800" marR="356870" indent="-292735">
              <a:lnSpc>
                <a:spcPct val="100000"/>
              </a:lnSpc>
              <a:buFont typeface="Arial MT"/>
              <a:buAutoNum type="arabicPeriod" startAt="2"/>
              <a:tabLst>
                <a:tab pos="306705" algn="l"/>
              </a:tabLst>
            </a:pPr>
            <a:r>
              <a:rPr dirty="0" b="1">
                <a:latin typeface="Arial"/>
                <a:cs typeface="Arial"/>
              </a:rPr>
              <a:t>Problem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Solving: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/>
              <a:t>Managers</a:t>
            </a:r>
            <a:r>
              <a:rPr dirty="0" spc="-55"/>
              <a:t> </a:t>
            </a:r>
            <a:r>
              <a:rPr dirty="0"/>
              <a:t>face</a:t>
            </a:r>
            <a:r>
              <a:rPr dirty="0" spc="-55"/>
              <a:t> </a:t>
            </a:r>
            <a:r>
              <a:rPr dirty="0"/>
              <a:t>various</a:t>
            </a:r>
            <a:r>
              <a:rPr dirty="0" spc="-55"/>
              <a:t> </a:t>
            </a:r>
            <a:r>
              <a:rPr dirty="0"/>
              <a:t>challenges;</a:t>
            </a:r>
            <a:r>
              <a:rPr dirty="0" spc="-60"/>
              <a:t> </a:t>
            </a:r>
            <a:r>
              <a:rPr dirty="0"/>
              <a:t>decision</a:t>
            </a:r>
            <a:r>
              <a:rPr dirty="0" spc="-50"/>
              <a:t> </a:t>
            </a:r>
            <a:r>
              <a:rPr dirty="0"/>
              <a:t>making</a:t>
            </a:r>
            <a:r>
              <a:rPr dirty="0" spc="-55"/>
              <a:t> </a:t>
            </a:r>
            <a:r>
              <a:rPr dirty="0"/>
              <a:t>helps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 spc="-10"/>
              <a:t>identifying </a:t>
            </a:r>
            <a:r>
              <a:rPr dirty="0" spc="-10"/>
              <a:t>	</a:t>
            </a:r>
            <a:r>
              <a:rPr dirty="0"/>
              <a:t>problems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selecting</a:t>
            </a:r>
            <a:r>
              <a:rPr dirty="0" spc="-60"/>
              <a:t> </a:t>
            </a:r>
            <a:r>
              <a:rPr dirty="0"/>
              <a:t>appropriate</a:t>
            </a:r>
            <a:r>
              <a:rPr dirty="0" spc="-55"/>
              <a:t> </a:t>
            </a:r>
            <a:r>
              <a:rPr dirty="0" spc="-10"/>
              <a:t>solutions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681" y="1000412"/>
            <a:ext cx="11158220" cy="343407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05435" marR="934719" indent="-293370">
              <a:lnSpc>
                <a:spcPts val="2600"/>
              </a:lnSpc>
              <a:spcBef>
                <a:spcPts val="219"/>
              </a:spcBef>
              <a:buFont typeface="Arial MT"/>
              <a:buAutoNum type="arabicPeriod" startAt="4"/>
              <a:tabLst>
                <a:tab pos="306705" algn="l"/>
              </a:tabLst>
            </a:pPr>
            <a:r>
              <a:rPr dirty="0" sz="2200" spc="-10" b="1">
                <a:solidFill>
                  <a:srgbClr val="232323"/>
                </a:solidFill>
                <a:latin typeface="Arial"/>
                <a:cs typeface="Arial"/>
              </a:rPr>
              <a:t>Adaptability:</a:t>
            </a:r>
            <a:r>
              <a:rPr dirty="0" sz="2200" spc="-5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Decision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making</a:t>
            </a:r>
            <a:r>
              <a:rPr dirty="0" sz="2200" spc="-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enables</a:t>
            </a:r>
            <a:r>
              <a:rPr dirty="0" sz="2200" spc="-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organizations</a:t>
            </a:r>
            <a:r>
              <a:rPr dirty="0" sz="2200" spc="-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dirty="0" sz="2200" spc="-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adapt</a:t>
            </a:r>
            <a:r>
              <a:rPr dirty="0" sz="2200" spc="-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changes</a:t>
            </a:r>
            <a:r>
              <a:rPr dirty="0" sz="2200" spc="-6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232323"/>
                </a:solidFill>
                <a:latin typeface="Arial MT"/>
                <a:cs typeface="Arial MT"/>
              </a:rPr>
              <a:t>the </a:t>
            </a:r>
            <a:r>
              <a:rPr dirty="0" sz="2200" spc="-25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environment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by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making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timely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appropriate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adjustments.</a:t>
            </a:r>
            <a:endParaRPr sz="2200">
              <a:latin typeface="Arial MT"/>
              <a:cs typeface="Arial MT"/>
            </a:endParaRPr>
          </a:p>
          <a:p>
            <a:pPr marL="305435" marR="1527810" indent="-293370">
              <a:lnSpc>
                <a:spcPts val="2600"/>
              </a:lnSpc>
              <a:spcBef>
                <a:spcPts val="2000"/>
              </a:spcBef>
              <a:buFont typeface="Arial MT"/>
              <a:buAutoNum type="arabicPeriod" startAt="4"/>
              <a:tabLst>
                <a:tab pos="306705" algn="l"/>
              </a:tabLst>
            </a:pP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Coordination</a:t>
            </a:r>
            <a:r>
              <a:rPr dirty="0" sz="2200" spc="-7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and</a:t>
            </a:r>
            <a:r>
              <a:rPr dirty="0" sz="2200" spc="-7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Control:</a:t>
            </a:r>
            <a:r>
              <a:rPr dirty="0" sz="2200" spc="-7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Decisions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help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coordinating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activities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across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departments</a:t>
            </a:r>
            <a:r>
              <a:rPr dirty="0" sz="2200" spc="-8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2200" spc="-8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controlling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operations</a:t>
            </a:r>
            <a:r>
              <a:rPr dirty="0" sz="2200" spc="-8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maintain</a:t>
            </a:r>
            <a:r>
              <a:rPr dirty="0" sz="2200" spc="-8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efficiency.</a:t>
            </a:r>
            <a:endParaRPr sz="2200">
              <a:latin typeface="Arial MT"/>
              <a:cs typeface="Arial MT"/>
            </a:endParaRPr>
          </a:p>
          <a:p>
            <a:pPr marL="305435" marR="5080" indent="-293370">
              <a:lnSpc>
                <a:spcPts val="2600"/>
              </a:lnSpc>
              <a:spcBef>
                <a:spcPts val="2000"/>
              </a:spcBef>
              <a:buFont typeface="Arial MT"/>
              <a:buAutoNum type="arabicPeriod" startAt="4"/>
              <a:tabLst>
                <a:tab pos="306705" algn="l"/>
              </a:tabLst>
            </a:pP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Motivation</a:t>
            </a:r>
            <a:r>
              <a:rPr dirty="0" sz="2200" spc="-8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and</a:t>
            </a:r>
            <a:r>
              <a:rPr dirty="0" sz="2200" spc="-8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Leadership:</a:t>
            </a:r>
            <a:r>
              <a:rPr dirty="0" sz="2200" spc="-7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Involving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employees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decision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making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can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boost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morale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foster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sense</a:t>
            </a:r>
            <a:r>
              <a:rPr dirty="0" sz="2200" spc="-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ownership</a:t>
            </a:r>
            <a:r>
              <a:rPr dirty="0" sz="2200" spc="-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2200" spc="-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commitment.</a:t>
            </a:r>
            <a:endParaRPr sz="2200">
              <a:latin typeface="Arial MT"/>
              <a:cs typeface="Arial MT"/>
            </a:endParaRPr>
          </a:p>
          <a:p>
            <a:pPr marL="305435" marR="412750" indent="-293370">
              <a:lnSpc>
                <a:spcPts val="2600"/>
              </a:lnSpc>
              <a:spcBef>
                <a:spcPts val="2000"/>
              </a:spcBef>
              <a:buFont typeface="Arial MT"/>
              <a:buAutoNum type="arabicPeriod" startAt="4"/>
              <a:tabLst>
                <a:tab pos="306705" algn="l"/>
              </a:tabLst>
            </a:pPr>
            <a:r>
              <a:rPr dirty="0" sz="2200" b="1">
                <a:solidFill>
                  <a:srgbClr val="232323"/>
                </a:solidFill>
                <a:latin typeface="Arial"/>
                <a:cs typeface="Arial"/>
              </a:rPr>
              <a:t>Risk</a:t>
            </a:r>
            <a:r>
              <a:rPr dirty="0" sz="2200" spc="-7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232323"/>
                </a:solidFill>
                <a:latin typeface="Arial"/>
                <a:cs typeface="Arial"/>
              </a:rPr>
              <a:t>Management:</a:t>
            </a:r>
            <a:r>
              <a:rPr dirty="0" sz="2200" spc="-10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Through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careful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decision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making,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managers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can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anticipate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risks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take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preventive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measures</a:t>
            </a:r>
            <a:r>
              <a:rPr dirty="0" sz="22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avoid</a:t>
            </a:r>
            <a:r>
              <a:rPr dirty="0" sz="220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potential</a:t>
            </a:r>
            <a:r>
              <a:rPr dirty="0" sz="220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232323"/>
                </a:solidFill>
                <a:latin typeface="Arial MT"/>
                <a:cs typeface="Arial MT"/>
              </a:rPr>
              <a:t>losses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355"/>
              <a:t> </a:t>
            </a:r>
            <a:r>
              <a:rPr dirty="0" spc="-25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1</dc:title>
  <dcterms:created xsi:type="dcterms:W3CDTF">2026-02-13T07:31:54Z</dcterms:created>
  <dcterms:modified xsi:type="dcterms:W3CDTF">2026-02-13T07:31:54Z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Creator">
    <vt:lpwstr>Keynote</vt:lpwstr>
  </property>
  <property fmtid="{D5CDD505-2E9C-101B-9397-08002B2CF9AE}" pid="4" name="LastSaved">
    <vt:filetime>2026-02-13T00:00:00Z</vt:filetime>
  </property>
  <property fmtid="{D5CDD505-2E9C-101B-9397-08002B2CF9AE}" pid="5" name="Producer">
    <vt:lpwstr>CloudConvert</vt:lpwstr>
  </property>
</Properties>
</file>