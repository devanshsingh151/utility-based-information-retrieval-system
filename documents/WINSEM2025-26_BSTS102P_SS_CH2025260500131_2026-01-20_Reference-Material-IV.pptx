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7631" y="5670337"/>
            <a:ext cx="2665189" cy="103267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4448" y="-4357"/>
            <a:ext cx="503682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7915" y="1644599"/>
            <a:ext cx="6751320" cy="2672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0714" y="1811147"/>
            <a:ext cx="6296922" cy="31668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348089"/>
            <a:ext cx="12192000" cy="8319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2348089"/>
            <a:ext cx="12192000" cy="832485"/>
          </a:xfrm>
          <a:prstGeom prst="rect"/>
          <a:ln w="6350">
            <a:solidFill>
              <a:srgbClr val="5B9BD5"/>
            </a:solidFill>
          </a:ln>
        </p:spPr>
        <p:txBody>
          <a:bodyPr wrap="square" lIns="0" tIns="539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dirty="0" sz="4500" spc="-10" b="0">
                <a:latin typeface="Arial MT"/>
                <a:cs typeface="Arial MT"/>
              </a:rPr>
              <a:t>PLANNING</a:t>
            </a:r>
            <a:endParaRPr sz="45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95214" y="5548071"/>
            <a:ext cx="2265316" cy="123398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232249" y="3231724"/>
            <a:ext cx="5727700" cy="121158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Key</a:t>
            </a:r>
            <a:r>
              <a:rPr dirty="0" sz="3200" spc="-8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Components</a:t>
            </a:r>
            <a:r>
              <a:rPr dirty="0" sz="3200" spc="-8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•</a:t>
            </a:r>
            <a:r>
              <a:rPr dirty="0" sz="3200" spc="-8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Nature</a:t>
            </a:r>
            <a:r>
              <a:rPr dirty="0" sz="3200" spc="-8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•</a:t>
            </a:r>
            <a:r>
              <a:rPr dirty="0" sz="3200" spc="-8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888888"/>
                </a:solidFill>
                <a:latin typeface="Calibri"/>
                <a:cs typeface="Calibri"/>
              </a:rPr>
              <a:t>Levels</a:t>
            </a:r>
            <a:endParaRPr sz="3200">
              <a:latin typeface="Calibri"/>
              <a:cs typeface="Calibri"/>
            </a:endParaRPr>
          </a:p>
          <a:p>
            <a:pPr marL="1493520" indent="-294005">
              <a:lnSpc>
                <a:spcPct val="100000"/>
              </a:lnSpc>
              <a:spcBef>
                <a:spcPts val="830"/>
              </a:spcBef>
              <a:buChar char="•"/>
              <a:tabLst>
                <a:tab pos="1493520" algn="l"/>
              </a:tabLst>
            </a:pP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Structure</a:t>
            </a:r>
            <a:r>
              <a:rPr dirty="0" sz="3200" spc="-7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•</a:t>
            </a:r>
            <a:r>
              <a:rPr dirty="0" sz="3200" spc="-6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888888"/>
                </a:solidFill>
                <a:latin typeface="Calibri"/>
                <a:cs typeface="Calibri"/>
              </a:rPr>
              <a:t>Design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5985"/>
            <a:ext cx="12192000" cy="8319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285984"/>
            <a:ext cx="12192000" cy="832485"/>
          </a:xfrm>
          <a:prstGeom prst="rect"/>
          <a:ln w="6350">
            <a:solidFill>
              <a:srgbClr val="5B9BD5"/>
            </a:solidFill>
          </a:ln>
        </p:spPr>
        <p:txBody>
          <a:bodyPr wrap="square" lIns="0" tIns="53975" rIns="0" bIns="0" rtlCol="0" vert="horz">
            <a:spAutoFit/>
          </a:bodyPr>
          <a:lstStyle/>
          <a:p>
            <a:pPr marL="217170">
              <a:lnSpc>
                <a:spcPct val="100000"/>
              </a:lnSpc>
              <a:spcBef>
                <a:spcPts val="425"/>
              </a:spcBef>
              <a:tabLst>
                <a:tab pos="2704465" algn="l"/>
              </a:tabLst>
            </a:pPr>
            <a:r>
              <a:rPr dirty="0" sz="4500" spc="-75" b="0">
                <a:latin typeface="Arial MT"/>
                <a:cs typeface="Arial MT"/>
              </a:rPr>
              <a:t>WHAT</a:t>
            </a:r>
            <a:r>
              <a:rPr dirty="0" sz="4500" spc="-225" b="0">
                <a:latin typeface="Arial MT"/>
                <a:cs typeface="Arial MT"/>
              </a:rPr>
              <a:t> </a:t>
            </a:r>
            <a:r>
              <a:rPr dirty="0" sz="4500" spc="-25" b="0">
                <a:latin typeface="Arial MT"/>
                <a:cs typeface="Arial MT"/>
              </a:rPr>
              <a:t>IS</a:t>
            </a:r>
            <a:r>
              <a:rPr dirty="0" sz="4500" b="0">
                <a:latin typeface="Arial MT"/>
                <a:cs typeface="Arial MT"/>
              </a:rPr>
              <a:t>	</a:t>
            </a:r>
            <a:r>
              <a:rPr dirty="0" sz="4500" spc="-10" b="0">
                <a:latin typeface="Arial MT"/>
                <a:cs typeface="Arial MT"/>
              </a:rPr>
              <a:t>PLANNING?</a:t>
            </a:r>
            <a:endParaRPr sz="45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9"/>
              </a:spcBef>
            </a:pPr>
            <a:r>
              <a:rPr dirty="0"/>
              <a:t>Planning</a:t>
            </a:r>
            <a:r>
              <a:rPr dirty="0" spc="-55"/>
              <a:t> </a:t>
            </a:r>
            <a:r>
              <a:rPr dirty="0"/>
              <a:t>means</a:t>
            </a:r>
            <a:r>
              <a:rPr dirty="0" spc="-50"/>
              <a:t> </a:t>
            </a:r>
            <a:r>
              <a:rPr dirty="0"/>
              <a:t>deciding</a:t>
            </a:r>
            <a:r>
              <a:rPr dirty="0" spc="-50"/>
              <a:t> </a:t>
            </a:r>
            <a:r>
              <a:rPr dirty="0"/>
              <a:t>in</a:t>
            </a:r>
            <a:r>
              <a:rPr dirty="0" spc="-55"/>
              <a:t> </a:t>
            </a:r>
            <a:r>
              <a:rPr dirty="0"/>
              <a:t>advance</a:t>
            </a:r>
            <a:r>
              <a:rPr dirty="0" spc="-50"/>
              <a:t> </a:t>
            </a:r>
            <a:r>
              <a:rPr dirty="0"/>
              <a:t>what</a:t>
            </a:r>
            <a:r>
              <a:rPr dirty="0" spc="-50"/>
              <a:t> </a:t>
            </a:r>
            <a:r>
              <a:rPr dirty="0"/>
              <a:t>you</a:t>
            </a:r>
            <a:r>
              <a:rPr dirty="0" spc="-55"/>
              <a:t> </a:t>
            </a:r>
            <a:r>
              <a:rPr dirty="0"/>
              <a:t>want</a:t>
            </a:r>
            <a:r>
              <a:rPr dirty="0" spc="-50"/>
              <a:t> </a:t>
            </a:r>
            <a:r>
              <a:rPr dirty="0" spc="-25"/>
              <a:t>to </a:t>
            </a:r>
            <a:r>
              <a:rPr dirty="0"/>
              <a:t>achieve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how</a:t>
            </a:r>
            <a:r>
              <a:rPr dirty="0" spc="-40"/>
              <a:t> </a:t>
            </a:r>
            <a:r>
              <a:rPr dirty="0"/>
              <a:t>you</a:t>
            </a:r>
            <a:r>
              <a:rPr dirty="0" spc="-40"/>
              <a:t> </a:t>
            </a:r>
            <a:r>
              <a:rPr dirty="0"/>
              <a:t>will</a:t>
            </a:r>
            <a:r>
              <a:rPr dirty="0" spc="-40"/>
              <a:t> </a:t>
            </a:r>
            <a:r>
              <a:rPr dirty="0"/>
              <a:t>achieve</a:t>
            </a:r>
            <a:r>
              <a:rPr dirty="0" spc="-45"/>
              <a:t> </a:t>
            </a:r>
            <a:r>
              <a:rPr dirty="0"/>
              <a:t>it.</a:t>
            </a:r>
            <a:r>
              <a:rPr dirty="0" spc="-45"/>
              <a:t> </a:t>
            </a:r>
            <a:r>
              <a:rPr dirty="0"/>
              <a:t>It</a:t>
            </a:r>
            <a:r>
              <a:rPr dirty="0" spc="-45"/>
              <a:t> </a:t>
            </a:r>
            <a:r>
              <a:rPr dirty="0"/>
              <a:t>involves</a:t>
            </a:r>
            <a:r>
              <a:rPr dirty="0" spc="-45"/>
              <a:t> </a:t>
            </a:r>
            <a:r>
              <a:rPr dirty="0" spc="-10"/>
              <a:t>setting </a:t>
            </a:r>
            <a:r>
              <a:rPr dirty="0"/>
              <a:t>goals,</a:t>
            </a:r>
            <a:r>
              <a:rPr dirty="0" spc="-70"/>
              <a:t> </a:t>
            </a:r>
            <a:r>
              <a:rPr dirty="0"/>
              <a:t>choosing</a:t>
            </a:r>
            <a:r>
              <a:rPr dirty="0" spc="-65"/>
              <a:t> </a:t>
            </a:r>
            <a:r>
              <a:rPr dirty="0"/>
              <a:t>actions,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/>
              <a:t>arranging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 spc="-10"/>
              <a:t>resources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/>
              <a:t>time</a:t>
            </a:r>
            <a:r>
              <a:rPr dirty="0" spc="-40"/>
              <a:t> </a:t>
            </a:r>
            <a:r>
              <a:rPr dirty="0" spc="-10"/>
              <a:t>needed.</a:t>
            </a:r>
          </a:p>
          <a:p>
            <a:pPr>
              <a:lnSpc>
                <a:spcPct val="100000"/>
              </a:lnSpc>
              <a:spcBef>
                <a:spcPts val="70"/>
              </a:spcBef>
            </a:pPr>
          </a:p>
          <a:p>
            <a:pPr marL="12700" marR="67945">
              <a:lnSpc>
                <a:spcPts val="2600"/>
              </a:lnSpc>
            </a:pPr>
            <a:r>
              <a:rPr dirty="0"/>
              <a:t>In</a:t>
            </a:r>
            <a:r>
              <a:rPr dirty="0" spc="-50"/>
              <a:t> </a:t>
            </a:r>
            <a:r>
              <a:rPr dirty="0"/>
              <a:t>short,</a:t>
            </a:r>
            <a:r>
              <a:rPr dirty="0" spc="-55"/>
              <a:t> </a:t>
            </a:r>
            <a:r>
              <a:rPr dirty="0"/>
              <a:t>planning</a:t>
            </a:r>
            <a:r>
              <a:rPr dirty="0" spc="-50"/>
              <a:t> </a:t>
            </a:r>
            <a:r>
              <a:rPr dirty="0"/>
              <a:t>helps</a:t>
            </a:r>
            <a:r>
              <a:rPr dirty="0" spc="-55"/>
              <a:t> </a:t>
            </a:r>
            <a:r>
              <a:rPr dirty="0"/>
              <a:t>you</a:t>
            </a:r>
            <a:r>
              <a:rPr dirty="0" spc="-50"/>
              <a:t> </a:t>
            </a:r>
            <a:r>
              <a:rPr dirty="0"/>
              <a:t>move</a:t>
            </a:r>
            <a:r>
              <a:rPr dirty="0" spc="-50"/>
              <a:t> </a:t>
            </a:r>
            <a:r>
              <a:rPr dirty="0"/>
              <a:t>from</a:t>
            </a:r>
            <a:r>
              <a:rPr dirty="0" spc="-55"/>
              <a:t> </a:t>
            </a:r>
            <a:r>
              <a:rPr dirty="0"/>
              <a:t>where</a:t>
            </a:r>
            <a:r>
              <a:rPr dirty="0" spc="-50"/>
              <a:t> </a:t>
            </a:r>
            <a:r>
              <a:rPr dirty="0"/>
              <a:t>you</a:t>
            </a:r>
            <a:r>
              <a:rPr dirty="0" spc="-50"/>
              <a:t> </a:t>
            </a:r>
            <a:r>
              <a:rPr dirty="0" spc="-25"/>
              <a:t>are </a:t>
            </a:r>
            <a:r>
              <a:rPr dirty="0"/>
              <a:t>now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/>
              <a:t>where</a:t>
            </a:r>
            <a:r>
              <a:rPr dirty="0" spc="-35"/>
              <a:t> </a:t>
            </a:r>
            <a:r>
              <a:rPr dirty="0"/>
              <a:t>you</a:t>
            </a:r>
            <a:r>
              <a:rPr dirty="0" spc="-35"/>
              <a:t> </a:t>
            </a:r>
            <a:r>
              <a:rPr dirty="0"/>
              <a:t>want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/>
              <a:t>be</a:t>
            </a:r>
            <a:r>
              <a:rPr dirty="0" spc="-35"/>
              <a:t> </a:t>
            </a:r>
            <a:r>
              <a:rPr dirty="0"/>
              <a:t>by</a:t>
            </a:r>
            <a:r>
              <a:rPr dirty="0" spc="-40"/>
              <a:t> </a:t>
            </a:r>
            <a:r>
              <a:rPr dirty="0"/>
              <a:t>thinking</a:t>
            </a:r>
            <a:r>
              <a:rPr dirty="0" spc="-35"/>
              <a:t> </a:t>
            </a:r>
            <a:r>
              <a:rPr dirty="0"/>
              <a:t>ahead</a:t>
            </a:r>
            <a:r>
              <a:rPr dirty="0" spc="-35"/>
              <a:t> </a:t>
            </a:r>
            <a:r>
              <a:rPr dirty="0" spc="-25"/>
              <a:t>and </a:t>
            </a:r>
            <a:r>
              <a:rPr dirty="0"/>
              <a:t>making</a:t>
            </a:r>
            <a:r>
              <a:rPr dirty="0" spc="-70"/>
              <a:t> </a:t>
            </a:r>
            <a:r>
              <a:rPr dirty="0"/>
              <a:t>smart</a:t>
            </a:r>
            <a:r>
              <a:rPr dirty="0" spc="-70"/>
              <a:t> </a:t>
            </a:r>
            <a:r>
              <a:rPr dirty="0" spc="-10"/>
              <a:t>decisions.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8315895" y="1269029"/>
            <a:ext cx="3876675" cy="5532120"/>
            <a:chOff x="8315895" y="1269029"/>
            <a:chExt cx="3876675" cy="553212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25330" y="5563392"/>
              <a:ext cx="2265529" cy="123749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15895" y="1269029"/>
              <a:ext cx="3876104" cy="43199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395" y="286687"/>
            <a:ext cx="51257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KEY</a:t>
            </a:r>
            <a:r>
              <a:rPr dirty="0" spc="-15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COMPONENTS</a:t>
            </a:r>
            <a:r>
              <a:rPr dirty="0" spc="-6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dirty="0" spc="-145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PLANNING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99395" y="860325"/>
            <a:ext cx="4719320" cy="3613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2095" indent="-23939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52095" algn="l"/>
              </a:tabLst>
            </a:pPr>
            <a:r>
              <a:rPr dirty="0" sz="1700" spc="-10" b="1">
                <a:latin typeface="Arial"/>
                <a:cs typeface="Arial"/>
              </a:rPr>
              <a:t>Objectives</a:t>
            </a:r>
            <a:endParaRPr sz="17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36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 spc="-10">
                <a:latin typeface="Arial MT"/>
                <a:cs typeface="Arial MT"/>
              </a:rPr>
              <a:t>Clear,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measurable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goals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for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the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organization</a:t>
            </a:r>
            <a:endParaRPr sz="17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16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Provide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direction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for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all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activities</a:t>
            </a:r>
            <a:endParaRPr sz="1700">
              <a:latin typeface="Arial MT"/>
              <a:cs typeface="Arial MT"/>
            </a:endParaRPr>
          </a:p>
          <a:p>
            <a:pPr marL="252095" indent="-239395">
              <a:lnSpc>
                <a:spcPct val="100000"/>
              </a:lnSpc>
              <a:spcBef>
                <a:spcPts val="1160"/>
              </a:spcBef>
              <a:buAutoNum type="arabicPeriod"/>
              <a:tabLst>
                <a:tab pos="252095" algn="l"/>
              </a:tabLst>
            </a:pPr>
            <a:r>
              <a:rPr dirty="0" sz="1700" spc="-10" b="1">
                <a:latin typeface="Arial"/>
                <a:cs typeface="Arial"/>
              </a:rPr>
              <a:t>Policies</a:t>
            </a:r>
            <a:endParaRPr sz="17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36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General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guidelines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for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decision-making</a:t>
            </a:r>
            <a:endParaRPr sz="17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16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Ensure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consistency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across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departments</a:t>
            </a:r>
            <a:endParaRPr sz="1700">
              <a:latin typeface="Arial MT"/>
              <a:cs typeface="Arial MT"/>
            </a:endParaRPr>
          </a:p>
          <a:p>
            <a:pPr marL="252095" indent="-239395">
              <a:lnSpc>
                <a:spcPct val="100000"/>
              </a:lnSpc>
              <a:spcBef>
                <a:spcPts val="1160"/>
              </a:spcBef>
              <a:buAutoNum type="arabicPeriod"/>
              <a:tabLst>
                <a:tab pos="252095" algn="l"/>
              </a:tabLst>
            </a:pPr>
            <a:r>
              <a:rPr dirty="0" sz="1700" spc="-10" b="1">
                <a:latin typeface="Arial"/>
                <a:cs typeface="Arial"/>
              </a:rPr>
              <a:t>Procedures</a:t>
            </a:r>
            <a:endParaRPr sz="17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36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 spc="-20">
                <a:latin typeface="Arial MT"/>
                <a:cs typeface="Arial MT"/>
              </a:rPr>
              <a:t>Step-</a:t>
            </a:r>
            <a:r>
              <a:rPr dirty="0" sz="1700" spc="-10">
                <a:latin typeface="Arial MT"/>
                <a:cs typeface="Arial MT"/>
              </a:rPr>
              <a:t>by-</a:t>
            </a:r>
            <a:r>
              <a:rPr dirty="0" sz="1700">
                <a:latin typeface="Arial MT"/>
                <a:cs typeface="Arial MT"/>
              </a:rPr>
              <a:t>step</a:t>
            </a:r>
            <a:r>
              <a:rPr dirty="0" sz="1700" spc="-2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methods</a:t>
            </a:r>
            <a:r>
              <a:rPr dirty="0" sz="1700" spc="-2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to</a:t>
            </a:r>
            <a:r>
              <a:rPr dirty="0" sz="1700" spc="-2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carry</a:t>
            </a:r>
            <a:r>
              <a:rPr dirty="0" sz="1700" spc="-2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out</a:t>
            </a:r>
            <a:r>
              <a:rPr dirty="0" sz="1700" spc="-2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tasks</a:t>
            </a:r>
            <a:endParaRPr sz="17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16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Standardizes</a:t>
            </a:r>
            <a:r>
              <a:rPr dirty="0" sz="1700" spc="-11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workflow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40736" y="820209"/>
            <a:ext cx="5823585" cy="3613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2729" indent="-240029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252729" algn="l"/>
              </a:tabLst>
            </a:pPr>
            <a:r>
              <a:rPr dirty="0" sz="1700" spc="-10" b="1">
                <a:latin typeface="Arial"/>
                <a:cs typeface="Arial"/>
              </a:rPr>
              <a:t>Rules</a:t>
            </a:r>
            <a:endParaRPr sz="1700">
              <a:latin typeface="Arial"/>
              <a:cs typeface="Arial"/>
            </a:endParaRPr>
          </a:p>
          <a:p>
            <a:pPr lvl="1" marL="469265" indent="-317500">
              <a:lnSpc>
                <a:spcPct val="100000"/>
              </a:lnSpc>
              <a:spcBef>
                <a:spcPts val="136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Specific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statements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that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must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be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followed</a:t>
            </a:r>
            <a:endParaRPr sz="1700">
              <a:latin typeface="Arial MT"/>
              <a:cs typeface="Arial MT"/>
            </a:endParaRPr>
          </a:p>
          <a:p>
            <a:pPr lvl="1" marL="469265" indent="-317500">
              <a:lnSpc>
                <a:spcPct val="100000"/>
              </a:lnSpc>
              <a:spcBef>
                <a:spcPts val="116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No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flexibility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allowed</a:t>
            </a:r>
            <a:endParaRPr sz="1700">
              <a:latin typeface="Arial MT"/>
              <a:cs typeface="Arial MT"/>
            </a:endParaRPr>
          </a:p>
          <a:p>
            <a:pPr marL="252095" indent="-239395">
              <a:lnSpc>
                <a:spcPct val="100000"/>
              </a:lnSpc>
              <a:spcBef>
                <a:spcPts val="1160"/>
              </a:spcBef>
              <a:buAutoNum type="arabicPeriod" startAt="4"/>
              <a:tabLst>
                <a:tab pos="252095" algn="l"/>
              </a:tabLst>
            </a:pPr>
            <a:r>
              <a:rPr dirty="0" sz="1700" spc="-10" b="1">
                <a:latin typeface="Arial"/>
                <a:cs typeface="Arial"/>
              </a:rPr>
              <a:t>Programs</a:t>
            </a:r>
            <a:endParaRPr sz="1700">
              <a:latin typeface="Arial"/>
              <a:cs typeface="Arial"/>
            </a:endParaRPr>
          </a:p>
          <a:p>
            <a:pPr lvl="1" marL="469265" indent="-317500">
              <a:lnSpc>
                <a:spcPct val="100000"/>
              </a:lnSpc>
              <a:spcBef>
                <a:spcPts val="136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Comprehensive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plan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combining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goals,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policies,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procedu</a:t>
            </a:r>
            <a:endParaRPr sz="1700">
              <a:latin typeface="Arial MT"/>
              <a:cs typeface="Arial MT"/>
            </a:endParaRPr>
          </a:p>
          <a:p>
            <a:pPr lvl="1" marL="469265" indent="-317500">
              <a:lnSpc>
                <a:spcPct val="100000"/>
              </a:lnSpc>
              <a:spcBef>
                <a:spcPts val="116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Example:</a:t>
            </a:r>
            <a:r>
              <a:rPr dirty="0" sz="1700" spc="-114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Training</a:t>
            </a:r>
            <a:r>
              <a:rPr dirty="0" sz="1700" spc="-9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program,</a:t>
            </a:r>
            <a:r>
              <a:rPr dirty="0" sz="1700" spc="-9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marketing</a:t>
            </a:r>
            <a:r>
              <a:rPr dirty="0" sz="1700" spc="-9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program</a:t>
            </a:r>
            <a:endParaRPr sz="1700">
              <a:latin typeface="Arial MT"/>
              <a:cs typeface="Arial MT"/>
            </a:endParaRPr>
          </a:p>
          <a:p>
            <a:pPr marL="252095" indent="-239395">
              <a:lnSpc>
                <a:spcPct val="100000"/>
              </a:lnSpc>
              <a:spcBef>
                <a:spcPts val="1160"/>
              </a:spcBef>
              <a:buAutoNum type="arabicPeriod" startAt="4"/>
              <a:tabLst>
                <a:tab pos="252095" algn="l"/>
              </a:tabLst>
            </a:pPr>
            <a:r>
              <a:rPr dirty="0" sz="1700" spc="-10" b="1">
                <a:latin typeface="Arial"/>
                <a:cs typeface="Arial"/>
              </a:rPr>
              <a:t>Budgets</a:t>
            </a:r>
            <a:endParaRPr sz="1700">
              <a:latin typeface="Arial"/>
              <a:cs typeface="Arial"/>
            </a:endParaRPr>
          </a:p>
          <a:p>
            <a:pPr lvl="1" marL="469265" indent="-317500">
              <a:lnSpc>
                <a:spcPct val="100000"/>
              </a:lnSpc>
              <a:spcBef>
                <a:spcPts val="136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Numerical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plans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for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allocating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resources</a:t>
            </a:r>
            <a:endParaRPr sz="1700">
              <a:latin typeface="Arial MT"/>
              <a:cs typeface="Arial MT"/>
            </a:endParaRPr>
          </a:p>
          <a:p>
            <a:pPr lvl="1" marL="469265" indent="-317500">
              <a:lnSpc>
                <a:spcPct val="100000"/>
              </a:lnSpc>
              <a:spcBef>
                <a:spcPts val="116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Helps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in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cost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control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and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performance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measurement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890175" y="4763820"/>
            <a:ext cx="6188710" cy="1191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065" indent="-253365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66065" algn="l"/>
              </a:tabLst>
            </a:pPr>
            <a:r>
              <a:rPr dirty="0" sz="1800" spc="-10" b="1">
                <a:latin typeface="Arial"/>
                <a:cs typeface="Arial"/>
              </a:rPr>
              <a:t>Strategies</a:t>
            </a:r>
            <a:endParaRPr sz="18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45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800">
                <a:latin typeface="Arial MT"/>
                <a:cs typeface="Arial MT"/>
              </a:rPr>
              <a:t>Broad</a:t>
            </a:r>
            <a:r>
              <a:rPr dirty="0" sz="1800" spc="-10">
                <a:latin typeface="Arial MT"/>
                <a:cs typeface="Arial MT"/>
              </a:rPr>
              <a:t> long-</a:t>
            </a:r>
            <a:r>
              <a:rPr dirty="0" sz="1800">
                <a:latin typeface="Arial MT"/>
                <a:cs typeface="Arial MT"/>
              </a:rPr>
              <a:t>term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plans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achieve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competitive</a:t>
            </a:r>
            <a:r>
              <a:rPr dirty="0" sz="1800" spc="-10">
                <a:latin typeface="Arial MT"/>
                <a:cs typeface="Arial MT"/>
              </a:rPr>
              <a:t> advantage</a:t>
            </a:r>
            <a:endParaRPr sz="18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24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800">
                <a:latin typeface="Arial MT"/>
                <a:cs typeface="Arial MT"/>
              </a:rPr>
              <a:t>Example: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Market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expansion,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cost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leadership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5330" y="5548071"/>
            <a:ext cx="2265529" cy="12339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7523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dirty="0" spc="-25">
                <a:latin typeface="Times New Roman"/>
                <a:cs typeface="Times New Roman"/>
              </a:rPr>
              <a:t>NATURE</a:t>
            </a:r>
            <a:r>
              <a:rPr dirty="0" spc="-6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dirty="0" spc="-140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PLANNING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74561" y="1086302"/>
            <a:ext cx="5931535" cy="3232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2095" indent="-23939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52095" algn="l"/>
              </a:tabLst>
            </a:pPr>
            <a:r>
              <a:rPr dirty="0" sz="1700" spc="-10" b="1">
                <a:latin typeface="Arial"/>
                <a:cs typeface="Arial"/>
              </a:rPr>
              <a:t>Goal-Oriented</a:t>
            </a:r>
            <a:endParaRPr sz="1700">
              <a:latin typeface="Arial"/>
              <a:cs typeface="Arial"/>
            </a:endParaRPr>
          </a:p>
          <a:p>
            <a:pPr lvl="1" marL="469265" indent="-317500">
              <a:lnSpc>
                <a:spcPct val="100000"/>
              </a:lnSpc>
              <a:spcBef>
                <a:spcPts val="136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Focuses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on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achieving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objectives</a:t>
            </a:r>
            <a:endParaRPr sz="1700">
              <a:latin typeface="Arial MT"/>
              <a:cs typeface="Arial MT"/>
            </a:endParaRPr>
          </a:p>
          <a:p>
            <a:pPr marL="252095" indent="-239395">
              <a:lnSpc>
                <a:spcPct val="100000"/>
              </a:lnSpc>
              <a:spcBef>
                <a:spcPts val="1160"/>
              </a:spcBef>
              <a:buAutoNum type="arabicPeriod"/>
              <a:tabLst>
                <a:tab pos="252095" algn="l"/>
              </a:tabLst>
            </a:pPr>
            <a:r>
              <a:rPr dirty="0" sz="1700" b="1">
                <a:latin typeface="Arial"/>
                <a:cs typeface="Arial"/>
              </a:rPr>
              <a:t>Primary</a:t>
            </a:r>
            <a:r>
              <a:rPr dirty="0" sz="1700" spc="-4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Function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of</a:t>
            </a:r>
            <a:r>
              <a:rPr dirty="0" sz="1700" spc="-4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Management</a:t>
            </a:r>
            <a:endParaRPr sz="1700">
              <a:latin typeface="Arial"/>
              <a:cs typeface="Arial"/>
            </a:endParaRPr>
          </a:p>
          <a:p>
            <a:pPr lvl="1" marL="469265" indent="-317500">
              <a:lnSpc>
                <a:spcPct val="100000"/>
              </a:lnSpc>
              <a:spcBef>
                <a:spcPts val="136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Foundation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for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organizing,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staffing,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directing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&amp;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controlling</a:t>
            </a:r>
            <a:endParaRPr sz="1700">
              <a:latin typeface="Arial MT"/>
              <a:cs typeface="Arial MT"/>
            </a:endParaRPr>
          </a:p>
          <a:p>
            <a:pPr marL="252095" indent="-239395">
              <a:lnSpc>
                <a:spcPct val="100000"/>
              </a:lnSpc>
              <a:spcBef>
                <a:spcPts val="1160"/>
              </a:spcBef>
              <a:buAutoNum type="arabicPeriod"/>
              <a:tabLst>
                <a:tab pos="252095" algn="l"/>
              </a:tabLst>
            </a:pPr>
            <a:r>
              <a:rPr dirty="0" sz="1700" spc="-10" b="1">
                <a:latin typeface="Arial"/>
                <a:cs typeface="Arial"/>
              </a:rPr>
              <a:t>Pervasive</a:t>
            </a:r>
            <a:endParaRPr sz="1700">
              <a:latin typeface="Arial"/>
              <a:cs typeface="Arial"/>
            </a:endParaRPr>
          </a:p>
          <a:p>
            <a:pPr lvl="1" marL="469265" indent="-317500">
              <a:lnSpc>
                <a:spcPct val="100000"/>
              </a:lnSpc>
              <a:spcBef>
                <a:spcPts val="136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Required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at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all</a:t>
            </a:r>
            <a:r>
              <a:rPr dirty="0" sz="1700" spc="-3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levels: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top,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middle,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and</a:t>
            </a:r>
            <a:r>
              <a:rPr dirty="0" sz="1700" spc="-3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lower</a:t>
            </a:r>
            <a:endParaRPr sz="1700">
              <a:latin typeface="Arial MT"/>
              <a:cs typeface="Arial MT"/>
            </a:endParaRPr>
          </a:p>
          <a:p>
            <a:pPr marL="252095" indent="-239395">
              <a:lnSpc>
                <a:spcPct val="100000"/>
              </a:lnSpc>
              <a:spcBef>
                <a:spcPts val="1160"/>
              </a:spcBef>
              <a:buAutoNum type="arabicPeriod"/>
              <a:tabLst>
                <a:tab pos="252095" algn="l"/>
              </a:tabLst>
            </a:pPr>
            <a:r>
              <a:rPr dirty="0" sz="1700" b="1">
                <a:latin typeface="Arial"/>
                <a:cs typeface="Arial"/>
              </a:rPr>
              <a:t>Continuous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Process</a:t>
            </a:r>
            <a:endParaRPr sz="1700">
              <a:latin typeface="Arial"/>
              <a:cs typeface="Arial"/>
            </a:endParaRPr>
          </a:p>
          <a:p>
            <a:pPr lvl="1" marL="469265" indent="-317500">
              <a:lnSpc>
                <a:spcPct val="100000"/>
              </a:lnSpc>
              <a:spcBef>
                <a:spcPts val="136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Plans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must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be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updated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according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to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change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01858" y="1073739"/>
            <a:ext cx="5667375" cy="3232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2095" indent="-239395">
              <a:lnSpc>
                <a:spcPct val="100000"/>
              </a:lnSpc>
              <a:spcBef>
                <a:spcPts val="100"/>
              </a:spcBef>
              <a:buAutoNum type="arabicPeriod" startAt="5"/>
              <a:tabLst>
                <a:tab pos="252095" algn="l"/>
              </a:tabLst>
            </a:pPr>
            <a:r>
              <a:rPr dirty="0" sz="1700" spc="-10" b="1">
                <a:latin typeface="Arial"/>
                <a:cs typeface="Arial"/>
              </a:rPr>
              <a:t>Future-Oriented</a:t>
            </a:r>
            <a:endParaRPr sz="17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36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Anticipates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future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conditions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and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prepares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accordingly</a:t>
            </a:r>
            <a:endParaRPr sz="1700">
              <a:latin typeface="Arial MT"/>
              <a:cs typeface="Arial MT"/>
            </a:endParaRPr>
          </a:p>
          <a:p>
            <a:pPr marL="252095" indent="-239395">
              <a:lnSpc>
                <a:spcPct val="100000"/>
              </a:lnSpc>
              <a:spcBef>
                <a:spcPts val="1160"/>
              </a:spcBef>
              <a:buAutoNum type="arabicPeriod" startAt="5"/>
              <a:tabLst>
                <a:tab pos="252095" algn="l"/>
              </a:tabLst>
            </a:pPr>
            <a:r>
              <a:rPr dirty="0" sz="1700" spc="-10" b="1">
                <a:latin typeface="Arial"/>
                <a:cs typeface="Arial"/>
              </a:rPr>
              <a:t>Decision-</a:t>
            </a:r>
            <a:r>
              <a:rPr dirty="0" sz="1700" b="1">
                <a:latin typeface="Arial"/>
                <a:cs typeface="Arial"/>
              </a:rPr>
              <a:t>Making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Activity</a:t>
            </a:r>
            <a:endParaRPr sz="17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36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Involves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choosing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the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best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alternative</a:t>
            </a:r>
            <a:endParaRPr sz="1700">
              <a:latin typeface="Arial MT"/>
              <a:cs typeface="Arial MT"/>
            </a:endParaRPr>
          </a:p>
          <a:p>
            <a:pPr marL="252729" indent="-240029">
              <a:lnSpc>
                <a:spcPct val="100000"/>
              </a:lnSpc>
              <a:spcBef>
                <a:spcPts val="1160"/>
              </a:spcBef>
              <a:buAutoNum type="arabicPeriod" startAt="5"/>
              <a:tabLst>
                <a:tab pos="252729" algn="l"/>
              </a:tabLst>
            </a:pPr>
            <a:r>
              <a:rPr dirty="0" sz="1700" spc="-10" b="1">
                <a:latin typeface="Arial"/>
                <a:cs typeface="Arial"/>
              </a:rPr>
              <a:t>Flexible</a:t>
            </a:r>
            <a:endParaRPr sz="17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36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Adjusts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to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internal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and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external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changes</a:t>
            </a:r>
            <a:endParaRPr sz="1700">
              <a:latin typeface="Arial MT"/>
              <a:cs typeface="Arial MT"/>
            </a:endParaRPr>
          </a:p>
          <a:p>
            <a:pPr marL="252095" indent="-239395">
              <a:lnSpc>
                <a:spcPct val="100000"/>
              </a:lnSpc>
              <a:spcBef>
                <a:spcPts val="1160"/>
              </a:spcBef>
              <a:buAutoNum type="arabicPeriod" startAt="5"/>
              <a:tabLst>
                <a:tab pos="252095" algn="l"/>
              </a:tabLst>
            </a:pPr>
            <a:r>
              <a:rPr dirty="0" sz="1700" spc="-10" b="1">
                <a:latin typeface="Arial"/>
                <a:cs typeface="Arial"/>
              </a:rPr>
              <a:t>Integrated</a:t>
            </a:r>
            <a:endParaRPr sz="17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36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Coordinates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different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departments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and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resources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5330" y="5563392"/>
            <a:ext cx="2265529" cy="12374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78721" y="281004"/>
            <a:ext cx="6048375" cy="5612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LEVELS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OF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PLANNING</a:t>
            </a:r>
            <a:endParaRPr sz="1800">
              <a:latin typeface="Arial"/>
              <a:cs typeface="Arial"/>
            </a:endParaRPr>
          </a:p>
          <a:p>
            <a:pPr marL="266065" indent="-253365">
              <a:lnSpc>
                <a:spcPct val="100000"/>
              </a:lnSpc>
              <a:spcBef>
                <a:spcPts val="1645"/>
              </a:spcBef>
              <a:buAutoNum type="arabicPeriod"/>
              <a:tabLst>
                <a:tab pos="266065" algn="l"/>
              </a:tabLst>
            </a:pPr>
            <a:r>
              <a:rPr dirty="0" sz="1800" b="1">
                <a:latin typeface="Arial"/>
                <a:cs typeface="Arial"/>
              </a:rPr>
              <a:t>Strategic</a:t>
            </a:r>
            <a:r>
              <a:rPr dirty="0" sz="1800" spc="-7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Planning</a:t>
            </a:r>
            <a:r>
              <a:rPr dirty="0" sz="1800" spc="-75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(Top</a:t>
            </a:r>
            <a:r>
              <a:rPr dirty="0" sz="1800" spc="-7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Level)</a:t>
            </a:r>
            <a:endParaRPr sz="1800">
              <a:latin typeface="Arial"/>
              <a:cs typeface="Arial"/>
            </a:endParaRPr>
          </a:p>
          <a:p>
            <a:pPr lvl="1" marL="469265" indent="-317500">
              <a:lnSpc>
                <a:spcPct val="100000"/>
              </a:lnSpc>
              <a:spcBef>
                <a:spcPts val="146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800" spc="-10">
                <a:latin typeface="Arial MT"/>
                <a:cs typeface="Arial MT"/>
              </a:rPr>
              <a:t>Long-</a:t>
            </a:r>
            <a:r>
              <a:rPr dirty="0" sz="1800">
                <a:latin typeface="Arial MT"/>
                <a:cs typeface="Arial MT"/>
              </a:rPr>
              <a:t>term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(5–10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years)</a:t>
            </a:r>
            <a:endParaRPr sz="1800">
              <a:latin typeface="Arial MT"/>
              <a:cs typeface="Arial MT"/>
            </a:endParaRPr>
          </a:p>
          <a:p>
            <a:pPr lvl="1" marL="469265" indent="-317500">
              <a:lnSpc>
                <a:spcPct val="100000"/>
              </a:lnSpc>
              <a:spcBef>
                <a:spcPts val="124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800">
                <a:latin typeface="Arial MT"/>
                <a:cs typeface="Arial MT"/>
              </a:rPr>
              <a:t>Focus: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Vision,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mission,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major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goals</a:t>
            </a:r>
            <a:endParaRPr sz="1800">
              <a:latin typeface="Arial MT"/>
              <a:cs typeface="Arial MT"/>
            </a:endParaRPr>
          </a:p>
          <a:p>
            <a:pPr lvl="1" marL="469265" indent="-317500">
              <a:lnSpc>
                <a:spcPct val="100000"/>
              </a:lnSpc>
              <a:spcBef>
                <a:spcPts val="124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800">
                <a:latin typeface="Arial MT"/>
                <a:cs typeface="Arial MT"/>
              </a:rPr>
              <a:t>Example: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Expansion,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diversification,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mergers</a:t>
            </a:r>
            <a:endParaRPr sz="1800">
              <a:latin typeface="Arial MT"/>
              <a:cs typeface="Arial MT"/>
            </a:endParaRPr>
          </a:p>
          <a:p>
            <a:pPr marL="266065" indent="-253365">
              <a:lnSpc>
                <a:spcPct val="100000"/>
              </a:lnSpc>
              <a:spcBef>
                <a:spcPts val="1225"/>
              </a:spcBef>
              <a:buAutoNum type="arabicPeriod"/>
              <a:tabLst>
                <a:tab pos="266065" algn="l"/>
              </a:tabLst>
            </a:pPr>
            <a:r>
              <a:rPr dirty="0" sz="1800" spc="-10" b="1">
                <a:latin typeface="Arial"/>
                <a:cs typeface="Arial"/>
              </a:rPr>
              <a:t>Tactical</a:t>
            </a:r>
            <a:r>
              <a:rPr dirty="0" sz="1800" spc="-8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Planning</a:t>
            </a:r>
            <a:r>
              <a:rPr dirty="0" sz="1800" spc="-8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(Middle</a:t>
            </a:r>
            <a:r>
              <a:rPr dirty="0" sz="1800" spc="-7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Level)</a:t>
            </a:r>
            <a:endParaRPr sz="1800">
              <a:latin typeface="Arial"/>
              <a:cs typeface="Arial"/>
            </a:endParaRPr>
          </a:p>
          <a:p>
            <a:pPr lvl="1" marL="469265" indent="-317500">
              <a:lnSpc>
                <a:spcPct val="100000"/>
              </a:lnSpc>
              <a:spcBef>
                <a:spcPts val="145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800" spc="-10">
                <a:latin typeface="Arial MT"/>
                <a:cs typeface="Arial MT"/>
              </a:rPr>
              <a:t>Medium-</a:t>
            </a:r>
            <a:r>
              <a:rPr dirty="0" sz="1800">
                <a:latin typeface="Arial MT"/>
                <a:cs typeface="Arial MT"/>
              </a:rPr>
              <a:t>term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(1–3 </a:t>
            </a:r>
            <a:r>
              <a:rPr dirty="0" sz="1800" spc="-10">
                <a:latin typeface="Arial MT"/>
                <a:cs typeface="Arial MT"/>
              </a:rPr>
              <a:t>years)</a:t>
            </a:r>
            <a:endParaRPr sz="1800">
              <a:latin typeface="Arial MT"/>
              <a:cs typeface="Arial MT"/>
            </a:endParaRPr>
          </a:p>
          <a:p>
            <a:pPr lvl="1" marL="469265" indent="-317500">
              <a:lnSpc>
                <a:spcPct val="100000"/>
              </a:lnSpc>
              <a:spcBef>
                <a:spcPts val="124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800">
                <a:latin typeface="Arial MT"/>
                <a:cs typeface="Arial MT"/>
              </a:rPr>
              <a:t>Converts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strategic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plans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into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actionable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steps</a:t>
            </a:r>
            <a:endParaRPr sz="1800">
              <a:latin typeface="Arial MT"/>
              <a:cs typeface="Arial MT"/>
            </a:endParaRPr>
          </a:p>
          <a:p>
            <a:pPr lvl="1" marL="469265" indent="-317500">
              <a:lnSpc>
                <a:spcPct val="100000"/>
              </a:lnSpc>
              <a:spcBef>
                <a:spcPts val="124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800">
                <a:latin typeface="Arial MT"/>
                <a:cs typeface="Arial MT"/>
              </a:rPr>
              <a:t>Example: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Department-</a:t>
            </a:r>
            <a:r>
              <a:rPr dirty="0" sz="1800">
                <a:latin typeface="Arial MT"/>
                <a:cs typeface="Arial MT"/>
              </a:rPr>
              <a:t>level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goals &amp; resource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allocation</a:t>
            </a:r>
            <a:endParaRPr sz="1800">
              <a:latin typeface="Arial MT"/>
              <a:cs typeface="Arial MT"/>
            </a:endParaRPr>
          </a:p>
          <a:p>
            <a:pPr marL="266065" indent="-253365">
              <a:lnSpc>
                <a:spcPct val="100000"/>
              </a:lnSpc>
              <a:spcBef>
                <a:spcPts val="1230"/>
              </a:spcBef>
              <a:buAutoNum type="arabicPeriod"/>
              <a:tabLst>
                <a:tab pos="266065" algn="l"/>
              </a:tabLst>
            </a:pPr>
            <a:r>
              <a:rPr dirty="0" sz="1800" b="1">
                <a:latin typeface="Arial"/>
                <a:cs typeface="Arial"/>
              </a:rPr>
              <a:t>Operational</a:t>
            </a:r>
            <a:r>
              <a:rPr dirty="0" sz="1800" spc="-7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Planning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(Lower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Level)</a:t>
            </a:r>
            <a:endParaRPr sz="1800">
              <a:latin typeface="Arial"/>
              <a:cs typeface="Arial"/>
            </a:endParaRPr>
          </a:p>
          <a:p>
            <a:pPr lvl="1" marL="469265" indent="-317500">
              <a:lnSpc>
                <a:spcPct val="100000"/>
              </a:lnSpc>
              <a:spcBef>
                <a:spcPts val="145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800" spc="-10">
                <a:latin typeface="Arial MT"/>
                <a:cs typeface="Arial MT"/>
              </a:rPr>
              <a:t>Short-</a:t>
            </a:r>
            <a:r>
              <a:rPr dirty="0" sz="1800">
                <a:latin typeface="Arial MT"/>
                <a:cs typeface="Arial MT"/>
              </a:rPr>
              <a:t>term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(daily/weekly/monthly)</a:t>
            </a:r>
            <a:endParaRPr sz="1800">
              <a:latin typeface="Arial MT"/>
              <a:cs typeface="Arial MT"/>
            </a:endParaRPr>
          </a:p>
          <a:p>
            <a:pPr lvl="1" marL="469265" indent="-317500">
              <a:lnSpc>
                <a:spcPct val="100000"/>
              </a:lnSpc>
              <a:spcBef>
                <a:spcPts val="124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800">
                <a:latin typeface="Arial MT"/>
                <a:cs typeface="Arial MT"/>
              </a:rPr>
              <a:t>Ensures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smooth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day-to-</a:t>
            </a:r>
            <a:r>
              <a:rPr dirty="0" sz="1800">
                <a:latin typeface="Arial MT"/>
                <a:cs typeface="Arial MT"/>
              </a:rPr>
              <a:t>day </a:t>
            </a:r>
            <a:r>
              <a:rPr dirty="0" sz="1800" spc="-10">
                <a:latin typeface="Arial MT"/>
                <a:cs typeface="Arial MT"/>
              </a:rPr>
              <a:t>operations</a:t>
            </a:r>
            <a:endParaRPr sz="1800">
              <a:latin typeface="Arial MT"/>
              <a:cs typeface="Arial MT"/>
            </a:endParaRPr>
          </a:p>
          <a:p>
            <a:pPr lvl="1" marL="469265" indent="-317500">
              <a:lnSpc>
                <a:spcPct val="100000"/>
              </a:lnSpc>
              <a:spcBef>
                <a:spcPts val="124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800">
                <a:latin typeface="Arial MT"/>
                <a:cs typeface="Arial MT"/>
              </a:rPr>
              <a:t>Example: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Work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schedules,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shift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planning,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routine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tasks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5330" y="5548071"/>
            <a:ext cx="2265529" cy="12339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348088"/>
            <a:ext cx="12192000" cy="980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2348089"/>
            <a:ext cx="12192000" cy="981075"/>
          </a:xfrm>
          <a:prstGeom prst="rect"/>
          <a:ln w="6350">
            <a:solidFill>
              <a:srgbClr val="5B9BD5"/>
            </a:solidFill>
          </a:ln>
        </p:spPr>
        <p:txBody>
          <a:bodyPr wrap="square" lIns="0" tIns="1301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25"/>
              </a:spcBef>
            </a:pPr>
            <a:r>
              <a:rPr dirty="0" sz="4500" spc="-10" b="0">
                <a:latin typeface="Arial MT"/>
                <a:cs typeface="Arial MT"/>
              </a:rPr>
              <a:t>ORGANIZING</a:t>
            </a:r>
            <a:endParaRPr sz="45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057569" y="3246776"/>
            <a:ext cx="6437630" cy="121158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3200" spc="-10">
                <a:solidFill>
                  <a:srgbClr val="888888"/>
                </a:solidFill>
                <a:latin typeface="Calibri"/>
                <a:cs typeface="Calibri"/>
              </a:rPr>
              <a:t>Fundamentals</a:t>
            </a:r>
            <a:r>
              <a:rPr dirty="0" sz="3200" spc="-7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•</a:t>
            </a:r>
            <a:r>
              <a:rPr dirty="0" sz="3200" spc="-7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solidFill>
                  <a:srgbClr val="888888"/>
                </a:solidFill>
                <a:latin typeface="Calibri"/>
                <a:cs typeface="Calibri"/>
              </a:rPr>
              <a:t>Organization</a:t>
            </a:r>
            <a:r>
              <a:rPr dirty="0" sz="3200" spc="-7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888888"/>
                </a:solidFill>
                <a:latin typeface="Calibri"/>
                <a:cs typeface="Calibri"/>
              </a:rPr>
              <a:t>structure</a:t>
            </a:r>
            <a:endParaRPr sz="3200">
              <a:latin typeface="Calibri"/>
              <a:cs typeface="Calibri"/>
            </a:endParaRPr>
          </a:p>
          <a:p>
            <a:pPr marL="2811145" indent="-294005">
              <a:lnSpc>
                <a:spcPct val="100000"/>
              </a:lnSpc>
              <a:spcBef>
                <a:spcPts val="830"/>
              </a:spcBef>
              <a:buChar char="•"/>
              <a:tabLst>
                <a:tab pos="2811145" algn="l"/>
              </a:tabLst>
            </a:pPr>
            <a:r>
              <a:rPr dirty="0" sz="3200" spc="-10">
                <a:solidFill>
                  <a:srgbClr val="888888"/>
                </a:solidFill>
                <a:latin typeface="Calibri"/>
                <a:cs typeface="Calibri"/>
              </a:rPr>
              <a:t>Design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25330" y="5548071"/>
            <a:ext cx="2265529" cy="12339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3175" y="117240"/>
            <a:ext cx="12198350" cy="838835"/>
            <a:chOff x="-3175" y="117240"/>
            <a:chExt cx="12198350" cy="83883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0415"/>
              <a:ext cx="12192000" cy="831907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120415"/>
              <a:ext cx="12192000" cy="832485"/>
            </a:xfrm>
            <a:custGeom>
              <a:avLst/>
              <a:gdLst/>
              <a:ahLst/>
              <a:cxnLst/>
              <a:rect l="l" t="t" r="r" b="b"/>
              <a:pathLst>
                <a:path w="12192000" h="832485">
                  <a:moveTo>
                    <a:pt x="0" y="0"/>
                  </a:moveTo>
                  <a:lnTo>
                    <a:pt x="12192000" y="0"/>
                  </a:lnTo>
                  <a:lnTo>
                    <a:pt x="12192000" y="831907"/>
                  </a:lnTo>
                  <a:lnTo>
                    <a:pt x="0" y="83190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19" y="161701"/>
            <a:ext cx="3647440" cy="711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10" b="0">
                <a:latin typeface="Arial MT"/>
                <a:cs typeface="Arial MT"/>
              </a:rPr>
              <a:t>Fundamentals</a:t>
            </a:r>
            <a:endParaRPr sz="45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61105" y="1177987"/>
            <a:ext cx="10700385" cy="5071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38760" algn="l"/>
              </a:tabLst>
            </a:pPr>
            <a:r>
              <a:rPr dirty="0" sz="1600" spc="-10" b="1">
                <a:latin typeface="Arial"/>
                <a:cs typeface="Arial"/>
              </a:rPr>
              <a:t>Definition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600">
                <a:latin typeface="Arial MT"/>
                <a:cs typeface="Arial MT"/>
              </a:rPr>
              <a:t>Organizing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process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of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identifying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tasks,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grouping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them,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assigning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duties,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establishing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authority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relationships.</a:t>
            </a:r>
            <a:endParaRPr sz="1600">
              <a:latin typeface="Arial MT"/>
              <a:cs typeface="Arial MT"/>
            </a:endParaRPr>
          </a:p>
          <a:p>
            <a:pPr marL="238125" indent="-225425">
              <a:lnSpc>
                <a:spcPct val="100000"/>
              </a:lnSpc>
              <a:spcBef>
                <a:spcPts val="1180"/>
              </a:spcBef>
              <a:buAutoNum type="arabicPeriod" startAt="2"/>
              <a:tabLst>
                <a:tab pos="238125" algn="l"/>
              </a:tabLst>
            </a:pPr>
            <a:r>
              <a:rPr dirty="0" sz="1600" b="1">
                <a:latin typeface="Arial"/>
                <a:cs typeface="Arial"/>
              </a:rPr>
              <a:t>Key </a:t>
            </a:r>
            <a:r>
              <a:rPr dirty="0" sz="1600" spc="-10" b="1">
                <a:latin typeface="Arial"/>
                <a:cs typeface="Arial"/>
              </a:rPr>
              <a:t>Elements</a:t>
            </a:r>
            <a:endParaRPr sz="1600">
              <a:latin typeface="Arial"/>
              <a:cs typeface="Arial"/>
            </a:endParaRPr>
          </a:p>
          <a:p>
            <a:pPr lvl="1" marL="469265" indent="-317500">
              <a:lnSpc>
                <a:spcPct val="100000"/>
              </a:lnSpc>
              <a:spcBef>
                <a:spcPts val="138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 b="1">
                <a:latin typeface="Arial"/>
                <a:cs typeface="Arial"/>
              </a:rPr>
              <a:t>Job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Identification: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What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tasks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must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be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done</a:t>
            </a:r>
            <a:endParaRPr sz="1600">
              <a:latin typeface="Arial MT"/>
              <a:cs typeface="Arial MT"/>
            </a:endParaRPr>
          </a:p>
          <a:p>
            <a:pPr lvl="1" marL="469265" indent="-317500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 b="1">
                <a:latin typeface="Arial"/>
                <a:cs typeface="Arial"/>
              </a:rPr>
              <a:t>Departmentation: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Grouping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tasks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(HR,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Finance,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Marketing)</a:t>
            </a:r>
            <a:endParaRPr sz="1600">
              <a:latin typeface="Arial MT"/>
              <a:cs typeface="Arial MT"/>
            </a:endParaRPr>
          </a:p>
          <a:p>
            <a:pPr lvl="1" marL="469265" indent="-317500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 b="1">
                <a:latin typeface="Arial"/>
                <a:cs typeface="Arial"/>
              </a:rPr>
              <a:t>Assignment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of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Duties: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Who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will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do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what</a:t>
            </a:r>
            <a:endParaRPr sz="1600">
              <a:latin typeface="Arial MT"/>
              <a:cs typeface="Arial MT"/>
            </a:endParaRPr>
          </a:p>
          <a:p>
            <a:pPr lvl="1" marL="469265" indent="-317500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 b="1">
                <a:latin typeface="Arial"/>
                <a:cs typeface="Arial"/>
              </a:rPr>
              <a:t>Delegation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of</a:t>
            </a:r>
            <a:r>
              <a:rPr dirty="0" sz="1600" spc="-9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Authority: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Granting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power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to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perform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tasks</a:t>
            </a:r>
            <a:endParaRPr sz="1600">
              <a:latin typeface="Arial MT"/>
              <a:cs typeface="Arial MT"/>
            </a:endParaRPr>
          </a:p>
          <a:p>
            <a:pPr lvl="1" marL="469265" indent="-317500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 b="1">
                <a:latin typeface="Arial"/>
                <a:cs typeface="Arial"/>
              </a:rPr>
              <a:t>Coordination: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Ensuring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departments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work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together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smoothly</a:t>
            </a:r>
            <a:endParaRPr sz="1600">
              <a:latin typeface="Arial MT"/>
              <a:cs typeface="Arial MT"/>
            </a:endParaRPr>
          </a:p>
          <a:p>
            <a:pPr marL="238125" indent="-225425">
              <a:lnSpc>
                <a:spcPct val="100000"/>
              </a:lnSpc>
              <a:spcBef>
                <a:spcPts val="1180"/>
              </a:spcBef>
              <a:buAutoNum type="arabicPeriod" startAt="2"/>
              <a:tabLst>
                <a:tab pos="238125" algn="l"/>
              </a:tabLst>
            </a:pPr>
            <a:r>
              <a:rPr dirty="0" sz="1600" spc="-10" b="1">
                <a:latin typeface="Arial"/>
                <a:cs typeface="Arial"/>
              </a:rPr>
              <a:t>Importance</a:t>
            </a:r>
            <a:endParaRPr sz="1600">
              <a:latin typeface="Arial"/>
              <a:cs typeface="Arial"/>
            </a:endParaRPr>
          </a:p>
          <a:p>
            <a:pPr lvl="1" marL="469265" indent="-317500">
              <a:lnSpc>
                <a:spcPct val="100000"/>
              </a:lnSpc>
              <a:spcBef>
                <a:spcPts val="138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Efficient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use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of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resources</a:t>
            </a:r>
            <a:endParaRPr sz="1600">
              <a:latin typeface="Arial MT"/>
              <a:cs typeface="Arial MT"/>
            </a:endParaRPr>
          </a:p>
          <a:p>
            <a:pPr lvl="1" marL="469265" indent="-317500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Clarity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roles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responsibilities</a:t>
            </a:r>
            <a:endParaRPr sz="1600">
              <a:latin typeface="Arial MT"/>
              <a:cs typeface="Arial MT"/>
            </a:endParaRPr>
          </a:p>
          <a:p>
            <a:pPr lvl="1" marL="469265" indent="-317500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Reduces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confusion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10">
                <a:latin typeface="Arial MT"/>
                <a:cs typeface="Arial MT"/>
              </a:rPr>
              <a:t> duplication</a:t>
            </a:r>
            <a:endParaRPr sz="1600">
              <a:latin typeface="Arial MT"/>
              <a:cs typeface="Arial MT"/>
            </a:endParaRPr>
          </a:p>
          <a:p>
            <a:pPr lvl="1" marL="469265" indent="-317500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Improves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teamwork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productivity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25330" y="5563392"/>
            <a:ext cx="2265529" cy="12374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5"/>
              <a:t>ORGANIZATION</a:t>
            </a:r>
            <a:r>
              <a:rPr dirty="0" sz="2800" spc="-85"/>
              <a:t> </a:t>
            </a:r>
            <a:r>
              <a:rPr dirty="0" sz="2800" spc="-10"/>
              <a:t>STRUCTURE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164448" y="628584"/>
            <a:ext cx="4820285" cy="3077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8125" indent="-22542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38125" algn="l"/>
              </a:tabLst>
            </a:pPr>
            <a:r>
              <a:rPr dirty="0" sz="1600" b="1">
                <a:latin typeface="Arial"/>
                <a:cs typeface="Arial"/>
              </a:rPr>
              <a:t>Functional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Structure</a:t>
            </a:r>
            <a:endParaRPr sz="1600">
              <a:latin typeface="Arial"/>
              <a:cs typeface="Arial"/>
            </a:endParaRPr>
          </a:p>
          <a:p>
            <a:pPr lvl="1" marL="469265" indent="-317500">
              <a:lnSpc>
                <a:spcPct val="100000"/>
              </a:lnSpc>
              <a:spcBef>
                <a:spcPts val="13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Based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on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functions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(Finance,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HR,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Production)</a:t>
            </a:r>
            <a:endParaRPr sz="1600">
              <a:latin typeface="Arial MT"/>
              <a:cs typeface="Arial MT"/>
            </a:endParaRPr>
          </a:p>
          <a:p>
            <a:pPr lvl="1" marL="469265" indent="-317500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Simple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efficient</a:t>
            </a:r>
            <a:endParaRPr sz="1600">
              <a:latin typeface="Arial MT"/>
              <a:cs typeface="Arial MT"/>
            </a:endParaRPr>
          </a:p>
          <a:p>
            <a:pPr lvl="1" marL="469265" indent="-317500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Best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for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small/mid-</a:t>
            </a:r>
            <a:r>
              <a:rPr dirty="0" sz="1600">
                <a:latin typeface="Arial MT"/>
                <a:cs typeface="Arial MT"/>
              </a:rPr>
              <a:t>sized </a:t>
            </a:r>
            <a:r>
              <a:rPr dirty="0" sz="1600" spc="-10">
                <a:latin typeface="Arial MT"/>
                <a:cs typeface="Arial MT"/>
              </a:rPr>
              <a:t>companies</a:t>
            </a:r>
            <a:endParaRPr sz="1600">
              <a:latin typeface="Arial MT"/>
              <a:cs typeface="Arial MT"/>
            </a:endParaRPr>
          </a:p>
          <a:p>
            <a:pPr marL="238125" indent="-225425">
              <a:lnSpc>
                <a:spcPct val="100000"/>
              </a:lnSpc>
              <a:spcBef>
                <a:spcPts val="1180"/>
              </a:spcBef>
              <a:buAutoNum type="arabicPeriod"/>
              <a:tabLst>
                <a:tab pos="238125" algn="l"/>
              </a:tabLst>
            </a:pPr>
            <a:r>
              <a:rPr dirty="0" sz="1600" b="1">
                <a:latin typeface="Arial"/>
                <a:cs typeface="Arial"/>
              </a:rPr>
              <a:t>Divisional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Structure</a:t>
            </a:r>
            <a:endParaRPr sz="1600">
              <a:latin typeface="Arial"/>
              <a:cs typeface="Arial"/>
            </a:endParaRPr>
          </a:p>
          <a:p>
            <a:pPr lvl="1" marL="469265" indent="-317500">
              <a:lnSpc>
                <a:spcPct val="100000"/>
              </a:lnSpc>
              <a:spcBef>
                <a:spcPts val="138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Based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on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products,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regions,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or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customer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groups</a:t>
            </a:r>
            <a:endParaRPr sz="1600">
              <a:latin typeface="Arial MT"/>
              <a:cs typeface="Arial MT"/>
            </a:endParaRPr>
          </a:p>
          <a:p>
            <a:pPr lvl="1" marL="469265" indent="-317500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Each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division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operates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like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small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company</a:t>
            </a:r>
            <a:endParaRPr sz="1600">
              <a:latin typeface="Arial MT"/>
              <a:cs typeface="Arial MT"/>
            </a:endParaRPr>
          </a:p>
          <a:p>
            <a:pPr lvl="1" marL="469265" indent="-317500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Suitable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for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large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diversified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organizations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919469" y="760732"/>
            <a:ext cx="4650740" cy="2683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8125" indent="-225425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238125" algn="l"/>
              </a:tabLst>
            </a:pPr>
            <a:r>
              <a:rPr dirty="0" sz="1600" b="1">
                <a:latin typeface="Arial"/>
                <a:cs typeface="Arial"/>
              </a:rPr>
              <a:t>Matrix</a:t>
            </a:r>
            <a:r>
              <a:rPr dirty="0" sz="1600" spc="-6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Structure</a:t>
            </a:r>
            <a:endParaRPr sz="16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3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Combines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functional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&amp;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project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structures</a:t>
            </a:r>
            <a:endParaRPr sz="16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Employees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report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to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two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managers</a:t>
            </a:r>
            <a:endParaRPr sz="16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Good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for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complex,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innovative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projects</a:t>
            </a:r>
            <a:endParaRPr sz="1600">
              <a:latin typeface="Arial MT"/>
              <a:cs typeface="Arial MT"/>
            </a:endParaRPr>
          </a:p>
          <a:p>
            <a:pPr marL="238125" indent="-225425">
              <a:lnSpc>
                <a:spcPct val="100000"/>
              </a:lnSpc>
              <a:spcBef>
                <a:spcPts val="1180"/>
              </a:spcBef>
              <a:buAutoNum type="arabicPeriod" startAt="3"/>
              <a:tabLst>
                <a:tab pos="238125" algn="l"/>
              </a:tabLst>
            </a:pPr>
            <a:r>
              <a:rPr dirty="0" sz="1600" spc="-35" b="1">
                <a:latin typeface="Arial"/>
                <a:cs typeface="Arial"/>
              </a:rPr>
              <a:t>Team-</a:t>
            </a:r>
            <a:r>
              <a:rPr dirty="0" sz="1600" b="1">
                <a:latin typeface="Arial"/>
                <a:cs typeface="Arial"/>
              </a:rPr>
              <a:t>Based</a:t>
            </a:r>
            <a:r>
              <a:rPr dirty="0" sz="1600" spc="3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Structure</a:t>
            </a:r>
            <a:endParaRPr sz="16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38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Organized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around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teams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rather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than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hierarchy</a:t>
            </a:r>
            <a:endParaRPr sz="16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Fast </a:t>
            </a:r>
            <a:r>
              <a:rPr dirty="0" sz="1600" spc="-10">
                <a:latin typeface="Arial MT"/>
                <a:cs typeface="Arial MT"/>
              </a:rPr>
              <a:t>decision-</a:t>
            </a:r>
            <a:r>
              <a:rPr dirty="0" sz="1600">
                <a:latin typeface="Arial MT"/>
                <a:cs typeface="Arial MT"/>
              </a:rPr>
              <a:t>making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flexibility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764730" y="4356441"/>
            <a:ext cx="4955540" cy="1082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8125" indent="-225425">
              <a:lnSpc>
                <a:spcPct val="100000"/>
              </a:lnSpc>
              <a:spcBef>
                <a:spcPts val="100"/>
              </a:spcBef>
              <a:buAutoNum type="arabicPeriod" startAt="5"/>
              <a:tabLst>
                <a:tab pos="238125" algn="l"/>
              </a:tabLst>
            </a:pPr>
            <a:r>
              <a:rPr dirty="0" sz="1600" b="1">
                <a:latin typeface="Arial"/>
                <a:cs typeface="Arial"/>
              </a:rPr>
              <a:t>Network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/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Virtual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Structure</a:t>
            </a:r>
            <a:endParaRPr sz="16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3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Core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company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outsources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non-</a:t>
            </a:r>
            <a:r>
              <a:rPr dirty="0" sz="1600">
                <a:latin typeface="Arial MT"/>
                <a:cs typeface="Arial MT"/>
              </a:rPr>
              <a:t>essential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activities</a:t>
            </a:r>
            <a:endParaRPr sz="16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Highly flexible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cost-efficient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5330" y="5548071"/>
            <a:ext cx="2265529" cy="12339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8399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ORGANIZATION</a:t>
            </a:r>
            <a:r>
              <a:rPr dirty="0" spc="-65"/>
              <a:t> </a:t>
            </a:r>
            <a:r>
              <a:rPr dirty="0" spc="-10"/>
              <a:t>DESIGN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71376" y="628658"/>
            <a:ext cx="9212580" cy="5992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66700" algn="l"/>
              </a:tabLst>
            </a:pPr>
            <a:r>
              <a:rPr dirty="0" sz="1800" spc="-10" b="1">
                <a:latin typeface="Arial"/>
                <a:cs typeface="Arial"/>
              </a:rPr>
              <a:t>Definition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800">
                <a:latin typeface="Arial MT"/>
                <a:cs typeface="Arial MT"/>
              </a:rPr>
              <a:t>Process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creating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modifying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structure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organization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achieve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strategic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goals.</a:t>
            </a:r>
            <a:endParaRPr sz="1800">
              <a:latin typeface="Arial MT"/>
              <a:cs typeface="Arial MT"/>
            </a:endParaRPr>
          </a:p>
          <a:p>
            <a:pPr marL="266065" indent="-253365">
              <a:lnSpc>
                <a:spcPct val="100000"/>
              </a:lnSpc>
              <a:spcBef>
                <a:spcPts val="1240"/>
              </a:spcBef>
              <a:buAutoNum type="arabicPeriod" startAt="2"/>
              <a:tabLst>
                <a:tab pos="266065" algn="l"/>
              </a:tabLst>
            </a:pPr>
            <a:r>
              <a:rPr dirty="0" sz="1800" b="1">
                <a:latin typeface="Arial"/>
                <a:cs typeface="Arial"/>
              </a:rPr>
              <a:t>Key </a:t>
            </a:r>
            <a:r>
              <a:rPr dirty="0" sz="1800" spc="-10" b="1">
                <a:latin typeface="Arial"/>
                <a:cs typeface="Arial"/>
              </a:rPr>
              <a:t>Principles</a:t>
            </a:r>
            <a:endParaRPr sz="18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46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800" b="1">
                <a:latin typeface="Arial"/>
                <a:cs typeface="Arial"/>
              </a:rPr>
              <a:t>Specialization: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Dividing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work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into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smaller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tasks</a:t>
            </a:r>
            <a:endParaRPr sz="18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24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800" b="1">
                <a:latin typeface="Arial"/>
                <a:cs typeface="Arial"/>
              </a:rPr>
              <a:t>Span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of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Control: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Number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employees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supervised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by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manager</a:t>
            </a:r>
            <a:endParaRPr sz="18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24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800" b="1">
                <a:latin typeface="Arial"/>
                <a:cs typeface="Arial"/>
              </a:rPr>
              <a:t>Chain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of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Command: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Clear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line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authority</a:t>
            </a:r>
            <a:endParaRPr sz="18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24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800" b="1">
                <a:latin typeface="Arial"/>
                <a:cs typeface="Arial"/>
              </a:rPr>
              <a:t>Centralization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vs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Decentralization: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Where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decisions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are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made</a:t>
            </a:r>
            <a:endParaRPr sz="18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24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800" b="1">
                <a:latin typeface="Arial"/>
                <a:cs typeface="Arial"/>
              </a:rPr>
              <a:t>Formalization: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Rules,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procedures,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documentation</a:t>
            </a:r>
            <a:endParaRPr sz="1800">
              <a:latin typeface="Arial MT"/>
              <a:cs typeface="Arial MT"/>
            </a:endParaRPr>
          </a:p>
          <a:p>
            <a:pPr marL="266065" indent="-253365">
              <a:lnSpc>
                <a:spcPct val="100000"/>
              </a:lnSpc>
              <a:spcBef>
                <a:spcPts val="1225"/>
              </a:spcBef>
              <a:buAutoNum type="arabicPeriod" startAt="2"/>
              <a:tabLst>
                <a:tab pos="266065" algn="l"/>
              </a:tabLst>
            </a:pPr>
            <a:r>
              <a:rPr dirty="0" sz="1800" b="1">
                <a:latin typeface="Arial"/>
                <a:cs typeface="Arial"/>
              </a:rPr>
              <a:t>Factors</a:t>
            </a:r>
            <a:r>
              <a:rPr dirty="0" sz="1800" spc="-114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Affecting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Design</a:t>
            </a:r>
            <a:endParaRPr sz="18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45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800">
                <a:latin typeface="Arial MT"/>
                <a:cs typeface="Arial MT"/>
              </a:rPr>
              <a:t>Size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organization</a:t>
            </a:r>
            <a:endParaRPr sz="18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24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800" spc="-20">
                <a:latin typeface="Arial MT"/>
                <a:cs typeface="Arial MT"/>
              </a:rPr>
              <a:t>Technology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used</a:t>
            </a:r>
            <a:endParaRPr sz="18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24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800">
                <a:latin typeface="Arial MT"/>
                <a:cs typeface="Arial MT"/>
              </a:rPr>
              <a:t>Nature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environment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(stable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dynamic)</a:t>
            </a:r>
            <a:endParaRPr sz="18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24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800">
                <a:latin typeface="Arial MT"/>
                <a:cs typeface="Arial MT"/>
              </a:rPr>
              <a:t>Organizational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goals</a:t>
            </a:r>
            <a:endParaRPr sz="18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24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800">
                <a:latin typeface="Arial MT"/>
                <a:cs typeface="Arial MT"/>
              </a:rPr>
              <a:t>Workforce</a:t>
            </a:r>
            <a:r>
              <a:rPr dirty="0" sz="1800" spc="-9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skills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5330" y="5563392"/>
            <a:ext cx="2265529" cy="12374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7801" y="2426854"/>
            <a:ext cx="6592570" cy="13665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800" b="0">
                <a:solidFill>
                  <a:srgbClr val="2E75B6"/>
                </a:solidFill>
                <a:latin typeface="Times New Roman"/>
                <a:cs typeface="Times New Roman"/>
              </a:rPr>
              <a:t>THANK</a:t>
            </a:r>
            <a:r>
              <a:rPr dirty="0" sz="8800" spc="-355" b="0">
                <a:solidFill>
                  <a:srgbClr val="2E75B6"/>
                </a:solidFill>
                <a:latin typeface="Times New Roman"/>
                <a:cs typeface="Times New Roman"/>
              </a:rPr>
              <a:t> </a:t>
            </a:r>
            <a:r>
              <a:rPr dirty="0" sz="8800" spc="-25" b="0">
                <a:solidFill>
                  <a:srgbClr val="2E75B6"/>
                </a:solidFill>
                <a:latin typeface="Times New Roman"/>
                <a:cs typeface="Times New Roman"/>
              </a:rPr>
              <a:t>YOU</a:t>
            </a:r>
            <a:endParaRPr sz="8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4</dc:title>
  <dcterms:created xsi:type="dcterms:W3CDTF">2026-02-13T07:33:36Z</dcterms:created>
  <dcterms:modified xsi:type="dcterms:W3CDTF">2026-02-13T07:33:36Z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2025-12-06T00:00:00Z</vt:filetime>
  </property>
  <property fmtid="{D5CDD505-2E9C-101B-9397-08002B2CF9AE}" pid="3" name="Creator">
    <vt:lpwstr>Keynote</vt:lpwstr>
  </property>
  <property fmtid="{D5CDD505-2E9C-101B-9397-08002B2CF9AE}" pid="4" name="LastSaved">
    <vt:filetime>2026-02-13T00:00:00Z</vt:filetime>
  </property>
  <property fmtid="{D5CDD505-2E9C-101B-9397-08002B2CF9AE}" pid="5" name="Producer">
    <vt:lpwstr>macOS Version 26.2 (Build 25C5048a) Quartz PDFContext</vt:lpwstr>
  </property>
</Properties>
</file>