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ABBB4-D630-B087-C848-C390A0372D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507E67-C455-FDA1-EF69-72DFBF089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3F053C-1050-3467-B0E4-A951CB6AF04E}"/>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5" name="Footer Placeholder 4">
            <a:extLst>
              <a:ext uri="{FF2B5EF4-FFF2-40B4-BE49-F238E27FC236}">
                <a16:creationId xmlns:a16="http://schemas.microsoft.com/office/drawing/2014/main" id="{A5497DFC-2B49-A164-5598-1A612C0FC3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692140-69EF-BC68-2421-01E93E510AF7}"/>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915173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5F40-7FAB-AFE8-02E7-5B45465859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76CAE4-25FB-7604-C36B-2609232B38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10A109-EB51-0A69-6415-112ADE817F6C}"/>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5" name="Footer Placeholder 4">
            <a:extLst>
              <a:ext uri="{FF2B5EF4-FFF2-40B4-BE49-F238E27FC236}">
                <a16:creationId xmlns:a16="http://schemas.microsoft.com/office/drawing/2014/main" id="{E6553843-88A3-5CF5-877A-C5CC79219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698C68-1A22-44CE-09CF-583165AD92B8}"/>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3607924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D5A02-254C-22DE-3B54-C65A54D3BA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A8C9CC-698F-C5C1-2197-67DFD0502F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566419-B0DA-69D9-BB62-E60863842C4C}"/>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5" name="Footer Placeholder 4">
            <a:extLst>
              <a:ext uri="{FF2B5EF4-FFF2-40B4-BE49-F238E27FC236}">
                <a16:creationId xmlns:a16="http://schemas.microsoft.com/office/drawing/2014/main" id="{B3B36F17-D6F1-DDCA-ED39-A622182DA9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F442BD-9654-4D4D-4462-289949A2E5DC}"/>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628647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9661-0084-6C73-5606-B5B0E56D1A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A16C8C-BF65-C2B4-780F-B050A2D1F8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597EE98-186A-6445-6FC5-8861F1A65B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9C4088E-EA98-8AEE-8FE4-0949125A2A5B}"/>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6" name="Footer Placeholder 5">
            <a:extLst>
              <a:ext uri="{FF2B5EF4-FFF2-40B4-BE49-F238E27FC236}">
                <a16:creationId xmlns:a16="http://schemas.microsoft.com/office/drawing/2014/main" id="{ADDFA734-E1F7-06FA-7FCB-8A0DF5B280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CE71F1-2193-9A68-D6F3-4BF52F7B19D8}"/>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148112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E637F-0E60-5E61-E07D-00639E73BF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64069B-91F6-53CB-766E-E9D9F66805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C654B8-4A57-D21D-B0C2-9C1E502578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622D58-65AD-CD21-65A7-670AE60D0E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2D75D8-37FC-E9D2-7783-A2049912EB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7AA868-1029-AC10-F217-80BBD6FA7F7A}"/>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8" name="Footer Placeholder 7">
            <a:extLst>
              <a:ext uri="{FF2B5EF4-FFF2-40B4-BE49-F238E27FC236}">
                <a16:creationId xmlns:a16="http://schemas.microsoft.com/office/drawing/2014/main" id="{70D683BF-C629-F007-F785-8633D12EEA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B02F58-13BA-3E67-2934-55D5316FDED6}"/>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1594305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BD525-1887-CDA1-C11F-3A9F146976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A88819-490B-5C23-0868-596E40138D17}"/>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4" name="Footer Placeholder 3">
            <a:extLst>
              <a:ext uri="{FF2B5EF4-FFF2-40B4-BE49-F238E27FC236}">
                <a16:creationId xmlns:a16="http://schemas.microsoft.com/office/drawing/2014/main" id="{949E88C4-4AC2-4709-3BCF-A2DDA5A8E0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CAAFB5A-A573-3144-94DB-F825577DB715}"/>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3853500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BC7B05-5E2F-6884-3322-7F78D686ABBF}"/>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3" name="Footer Placeholder 2">
            <a:extLst>
              <a:ext uri="{FF2B5EF4-FFF2-40B4-BE49-F238E27FC236}">
                <a16:creationId xmlns:a16="http://schemas.microsoft.com/office/drawing/2014/main" id="{25BD9BDB-9BFE-60C2-50EF-AE7638BEAA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F05696-977F-8E4E-AE8C-05E94EC5FAC4}"/>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692997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1EA86-88B6-BE6A-F08C-36F2E43E19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70159F-432C-C0BD-8A95-9E040648C1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8E9836-E541-0919-0CE9-7F48660E9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C68E3-48BF-02BF-4676-0D6EC2FDFCDB}"/>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6" name="Footer Placeholder 5">
            <a:extLst>
              <a:ext uri="{FF2B5EF4-FFF2-40B4-BE49-F238E27FC236}">
                <a16:creationId xmlns:a16="http://schemas.microsoft.com/office/drawing/2014/main" id="{EA00DFDC-68B3-7D3B-131A-A7410553D3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7E0014-9CBA-1015-5F69-29FD7620BA92}"/>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1837841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CDCC-68A2-93E6-2F1C-7584039FC4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32F9F4-9EF5-E121-9D4C-B3A38FBDC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B7A2F4-781E-CF07-A879-4F6679006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BFF62C-1CAB-ABBC-9DE8-B48B7DFEBE58}"/>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6" name="Footer Placeholder 5">
            <a:extLst>
              <a:ext uri="{FF2B5EF4-FFF2-40B4-BE49-F238E27FC236}">
                <a16:creationId xmlns:a16="http://schemas.microsoft.com/office/drawing/2014/main" id="{980192ED-1F04-946F-2981-0AA0829261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C7115F-B7C8-5E52-A208-DDF410F402FE}"/>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216575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E576B-1990-C4B3-F351-FDF29BA838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B9EC9A-047F-5930-9988-8A53B66BFA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EDCA63-504A-4148-93AD-B17431414C52}"/>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5" name="Footer Placeholder 4">
            <a:extLst>
              <a:ext uri="{FF2B5EF4-FFF2-40B4-BE49-F238E27FC236}">
                <a16:creationId xmlns:a16="http://schemas.microsoft.com/office/drawing/2014/main" id="{DAD12ED1-C7C6-9348-38DD-6D03E7E851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E22248-76EF-11BF-C404-CC253465BC79}"/>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3959030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481C0A-2524-2802-1C69-5E65A23B9B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210671-04BF-97D6-D550-BDE835498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7BE81C-0272-FC65-7EA0-04A4984C8F4C}"/>
              </a:ext>
            </a:extLst>
          </p:cNvPr>
          <p:cNvSpPr>
            <a:spLocks noGrp="1"/>
          </p:cNvSpPr>
          <p:nvPr>
            <p:ph type="dt" sz="half" idx="10"/>
          </p:nvPr>
        </p:nvSpPr>
        <p:spPr/>
        <p:txBody>
          <a:bodyPr/>
          <a:lstStyle/>
          <a:p>
            <a:fld id="{DB71204E-43FC-4BC9-9C9A-E21D1F882F35}" type="datetimeFigureOut">
              <a:rPr lang="en-IN" smtClean="0"/>
              <a:t>30-01-2026</a:t>
            </a:fld>
            <a:endParaRPr lang="en-IN"/>
          </a:p>
        </p:txBody>
      </p:sp>
      <p:sp>
        <p:nvSpPr>
          <p:cNvPr id="5" name="Footer Placeholder 4">
            <a:extLst>
              <a:ext uri="{FF2B5EF4-FFF2-40B4-BE49-F238E27FC236}">
                <a16:creationId xmlns:a16="http://schemas.microsoft.com/office/drawing/2014/main" id="{FC49EE17-A35E-888F-8C0D-6009C68F46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F8F4D5-3784-6E10-02A4-46DB82765CF2}"/>
              </a:ext>
            </a:extLst>
          </p:cNvPr>
          <p:cNvSpPr>
            <a:spLocks noGrp="1"/>
          </p:cNvSpPr>
          <p:nvPr>
            <p:ph type="sldNum" sz="quarter" idx="12"/>
          </p:nvPr>
        </p:nvSpPr>
        <p:spPr/>
        <p:txBody>
          <a:bodyPr/>
          <a:lstStyle/>
          <a:p>
            <a:fld id="{B788A344-C8CB-4AA4-85C2-41B162504E41}" type="slidenum">
              <a:rPr lang="en-IN" smtClean="0"/>
              <a:t>‹#›</a:t>
            </a:fld>
            <a:endParaRPr lang="en-IN"/>
          </a:p>
        </p:txBody>
      </p:sp>
    </p:spTree>
    <p:extLst>
      <p:ext uri="{BB962C8B-B14F-4D97-AF65-F5344CB8AC3E}">
        <p14:creationId xmlns:p14="http://schemas.microsoft.com/office/powerpoint/2010/main" val="1873967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B78790-5419-E247-7ED2-A01F85FCD9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178207-D985-8D88-733E-00EFF6AC33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0F7252-73B0-319A-8339-3D7D7BA101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71204E-43FC-4BC9-9C9A-E21D1F882F35}" type="datetimeFigureOut">
              <a:rPr lang="en-IN" smtClean="0"/>
              <a:t>30-01-2026</a:t>
            </a:fld>
            <a:endParaRPr lang="en-IN"/>
          </a:p>
        </p:txBody>
      </p:sp>
      <p:sp>
        <p:nvSpPr>
          <p:cNvPr id="5" name="Footer Placeholder 4">
            <a:extLst>
              <a:ext uri="{FF2B5EF4-FFF2-40B4-BE49-F238E27FC236}">
                <a16:creationId xmlns:a16="http://schemas.microsoft.com/office/drawing/2014/main" id="{B1B373FD-5FB1-B4EB-0920-760CFB8D72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2682989-9CE2-056E-C4ED-EF143C81EA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8A344-C8CB-4AA4-85C2-41B162504E41}" type="slidenum">
              <a:rPr lang="en-IN" smtClean="0"/>
              <a:t>‹#›</a:t>
            </a:fld>
            <a:endParaRPr lang="en-IN"/>
          </a:p>
        </p:txBody>
      </p:sp>
    </p:spTree>
    <p:extLst>
      <p:ext uri="{BB962C8B-B14F-4D97-AF65-F5344CB8AC3E}">
        <p14:creationId xmlns:p14="http://schemas.microsoft.com/office/powerpoint/2010/main" val="31404171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4807-84EF-7AAB-A082-94177A9B39DC}"/>
              </a:ext>
            </a:extLst>
          </p:cNvPr>
          <p:cNvSpPr>
            <a:spLocks noGrp="1"/>
          </p:cNvSpPr>
          <p:nvPr>
            <p:ph type="ctrTitle"/>
          </p:nvPr>
        </p:nvSpPr>
        <p:spPr/>
        <p:txBody>
          <a:bodyPr/>
          <a:lstStyle/>
          <a:p>
            <a:r>
              <a:rPr lang="en-IN" dirty="0"/>
              <a:t>Probability 	</a:t>
            </a:r>
          </a:p>
        </p:txBody>
      </p:sp>
      <p:sp>
        <p:nvSpPr>
          <p:cNvPr id="3" name="Subtitle 2">
            <a:extLst>
              <a:ext uri="{FF2B5EF4-FFF2-40B4-BE49-F238E27FC236}">
                <a16:creationId xmlns:a16="http://schemas.microsoft.com/office/drawing/2014/main" id="{4A14BF47-84A6-81A4-5906-1794F23B5753}"/>
              </a:ext>
            </a:extLst>
          </p:cNvPr>
          <p:cNvSpPr>
            <a:spLocks noGrp="1"/>
          </p:cNvSpPr>
          <p:nvPr>
            <p:ph type="subTitle" idx="1"/>
          </p:nvPr>
        </p:nvSpPr>
        <p:spPr/>
        <p:txBody>
          <a:bodyPr/>
          <a:lstStyle/>
          <a:p>
            <a:r>
              <a:rPr lang="en-IN" dirty="0"/>
              <a:t>By Sharmila </a:t>
            </a:r>
            <a:r>
              <a:rPr lang="en-IN" dirty="0" err="1"/>
              <a:t>Sambasivam</a:t>
            </a:r>
            <a:r>
              <a:rPr lang="en-IN" dirty="0"/>
              <a:t> </a:t>
            </a:r>
          </a:p>
        </p:txBody>
      </p:sp>
    </p:spTree>
    <p:extLst>
      <p:ext uri="{BB962C8B-B14F-4D97-AF65-F5344CB8AC3E}">
        <p14:creationId xmlns:p14="http://schemas.microsoft.com/office/powerpoint/2010/main" val="1579595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DABF-05F8-C181-AD1A-512691118782}"/>
              </a:ext>
            </a:extLst>
          </p:cNvPr>
          <p:cNvSpPr>
            <a:spLocks noGrp="1"/>
          </p:cNvSpPr>
          <p:nvPr>
            <p:ph type="title"/>
          </p:nvPr>
        </p:nvSpPr>
        <p:spPr/>
        <p:txBody>
          <a:bodyPr/>
          <a:lstStyle/>
          <a:p>
            <a:r>
              <a:rPr lang="en-IN" b="1" dirty="0"/>
              <a:t>COIN BASED </a:t>
            </a:r>
            <a:br>
              <a:rPr lang="en-IN" b="1"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1EDBFB-BB21-EEF4-C26A-F512DDFACD36}"/>
                  </a:ext>
                </a:extLst>
              </p:cNvPr>
              <p:cNvSpPr>
                <a:spLocks noGrp="1"/>
              </p:cNvSpPr>
              <p:nvPr>
                <p:ph idx="1"/>
              </p:nvPr>
            </p:nvSpPr>
            <p:spPr/>
            <p:txBody>
              <a:bodyPr>
                <a:normAutofit/>
              </a:bodyPr>
              <a:lstStyle/>
              <a:p>
                <a:pPr marL="0" indent="0">
                  <a:buNone/>
                </a:pPr>
                <a:r>
                  <a:rPr lang="en-IN" b="1" dirty="0"/>
                  <a:t>General Rule</a:t>
                </a:r>
                <a:br>
                  <a:rPr lang="en-IN" dirty="0"/>
                </a:br>
                <a:r>
                  <a:rPr lang="en-IN" dirty="0"/>
                  <a:t>For </a:t>
                </a:r>
                <a:r>
                  <a:rPr lang="en-IN" i="1" dirty="0"/>
                  <a:t>n</a:t>
                </a:r>
                <a:r>
                  <a:rPr lang="en-IN" dirty="0"/>
                  <a:t> coins,</a:t>
                </a:r>
              </a:p>
              <a:p>
                <a:pPr marL="0" indent="0">
                  <a:buNone/>
                </a:pPr>
                <a14:m>
                  <m:oMathPara xmlns:m="http://schemas.openxmlformats.org/officeDocument/2006/math">
                    <m:oMathParaPr>
                      <m:jc m:val="centerGroup"/>
                    </m:oMathParaPr>
                    <m:oMath xmlns:m="http://schemas.openxmlformats.org/officeDocument/2006/math">
                      <m:r>
                        <m:rPr>
                          <m:nor/>
                        </m:rPr>
                        <a:rPr lang="en-IN" sz="3600" b="1" smtClean="0">
                          <a:solidFill>
                            <a:srgbClr val="FF0000"/>
                          </a:solidFill>
                        </a:rPr>
                        <m:t>Total</m:t>
                      </m:r>
                      <m:r>
                        <m:rPr>
                          <m:nor/>
                        </m:rPr>
                        <a:rPr lang="en-IN" sz="3600" b="1" i="1" smtClean="0">
                          <a:solidFill>
                            <a:srgbClr val="FF0000"/>
                          </a:solidFill>
                        </a:rPr>
                        <m:t> </m:t>
                      </m:r>
                      <m:r>
                        <m:rPr>
                          <m:nor/>
                        </m:rPr>
                        <a:rPr lang="en-IN" sz="3600" b="1" i="1" smtClean="0">
                          <a:solidFill>
                            <a:srgbClr val="FF0000"/>
                          </a:solidFill>
                        </a:rPr>
                        <m:t>outcomes</m:t>
                      </m:r>
                      <m:r>
                        <a:rPr lang="en-IN" sz="3600" b="1">
                          <a:solidFill>
                            <a:srgbClr val="FF0000"/>
                          </a:solidFill>
                          <a:latin typeface="Cambria Math" panose="02040503050406030204" pitchFamily="18" charset="0"/>
                        </a:rPr>
                        <m:t>=</m:t>
                      </m:r>
                      <m:sSup>
                        <m:sSupPr>
                          <m:ctrlPr>
                            <a:rPr lang="ar-AE" sz="3600" b="1" i="1">
                              <a:solidFill>
                                <a:srgbClr val="FF0000"/>
                              </a:solidFill>
                              <a:latin typeface="Cambria Math" panose="02040503050406030204" pitchFamily="18" charset="0"/>
                            </a:rPr>
                          </m:ctrlPr>
                        </m:sSupPr>
                        <m:e>
                          <m:r>
                            <a:rPr lang="ar-AE" sz="3600" b="1" i="1">
                              <a:solidFill>
                                <a:srgbClr val="FF0000"/>
                              </a:solidFill>
                              <a:latin typeface="Cambria Math" panose="02040503050406030204" pitchFamily="18" charset="0"/>
                            </a:rPr>
                            <m:t>𝟐</m:t>
                          </m:r>
                        </m:e>
                        <m:sup>
                          <m:r>
                            <a:rPr lang="ar-AE" sz="3600" b="1" i="1">
                              <a:solidFill>
                                <a:srgbClr val="FF0000"/>
                              </a:solidFill>
                              <a:latin typeface="Cambria Math" panose="02040503050406030204" pitchFamily="18" charset="0"/>
                            </a:rPr>
                            <m:t>𝒏</m:t>
                          </m:r>
                        </m:sup>
                      </m:sSup>
                    </m:oMath>
                  </m:oMathPara>
                </a14:m>
                <a:endParaRPr lang="ar-AE" sz="3600" b="1" dirty="0"/>
              </a:p>
              <a:p>
                <a:r>
                  <a:rPr lang="en-IN" b="1" dirty="0"/>
                  <a:t>For 2 coins:</a:t>
                </a:r>
                <a:endParaRPr lang="en-IN" dirty="0"/>
              </a:p>
              <a:p>
                <a:pPr marL="0" indent="0">
                  <a:buNone/>
                </a:pPr>
                <a14:m>
                  <m:oMathPara xmlns:m="http://schemas.openxmlformats.org/officeDocument/2006/math">
                    <m:oMathParaPr>
                      <m:jc m:val="centerGroup"/>
                    </m:oMathParaPr>
                    <m:oMath xmlns:m="http://schemas.openxmlformats.org/officeDocument/2006/math">
                      <m:r>
                        <m:rPr>
                          <m:nor/>
                        </m:rPr>
                        <a:rPr lang="en-IN" b="0"/>
                        <m:t>Total</m:t>
                      </m:r>
                      <m:r>
                        <m:rPr>
                          <m:nor/>
                        </m:rPr>
                        <a:rPr lang="en-IN" b="0" i="1"/>
                        <m:t> </m:t>
                      </m:r>
                      <m:r>
                        <m:rPr>
                          <m:nor/>
                        </m:rPr>
                        <a:rPr lang="en-IN" b="0" i="1"/>
                        <m:t>outcomes</m:t>
                      </m:r>
                      <m:r>
                        <a:rPr lang="en-IN">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4</m:t>
                      </m:r>
                    </m:oMath>
                  </m:oMathPara>
                </a14:m>
                <a:endParaRPr lang="ar-AE" b="0" dirty="0"/>
              </a:p>
              <a:p>
                <a:r>
                  <a:rPr lang="en-IN" b="1" dirty="0"/>
                  <a:t>For 3 coins:</a:t>
                </a:r>
                <a:endParaRPr lang="en-IN" dirty="0"/>
              </a:p>
              <a:p>
                <a:pPr marL="0" indent="0">
                  <a:buNone/>
                </a:pPr>
                <a14:m>
                  <m:oMathPara xmlns:m="http://schemas.openxmlformats.org/officeDocument/2006/math">
                    <m:oMathParaPr>
                      <m:jc m:val="centerGroup"/>
                    </m:oMathParaPr>
                    <m:oMath xmlns:m="http://schemas.openxmlformats.org/officeDocument/2006/math">
                      <m:r>
                        <m:rPr>
                          <m:nor/>
                        </m:rPr>
                        <a:rPr lang="en-IN" b="0"/>
                        <m:t>Total</m:t>
                      </m:r>
                      <m:r>
                        <m:rPr>
                          <m:nor/>
                        </m:rPr>
                        <a:rPr lang="en-IN" b="0" i="1"/>
                        <m:t> </m:t>
                      </m:r>
                      <m:r>
                        <m:rPr>
                          <m:nor/>
                        </m:rPr>
                        <a:rPr lang="en-IN" b="0" i="1"/>
                        <m:t>outcomes</m:t>
                      </m:r>
                      <m:r>
                        <a:rPr lang="en-IN">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3</m:t>
                          </m:r>
                        </m:sup>
                      </m:sSup>
                      <m:r>
                        <a:rPr lang="ar-AE">
                          <a:latin typeface="Cambria Math" panose="02040503050406030204" pitchFamily="18" charset="0"/>
                        </a:rPr>
                        <m:t>=</m:t>
                      </m:r>
                      <m:r>
                        <a:rPr lang="ar-AE">
                          <a:latin typeface="Cambria Math" panose="02040503050406030204" pitchFamily="18" charset="0"/>
                        </a:rPr>
                        <m:t>8</m:t>
                      </m:r>
                    </m:oMath>
                  </m:oMathPara>
                </a14:m>
                <a:endParaRPr lang="ar-AE" b="0" dirty="0"/>
              </a:p>
              <a:p>
                <a:r>
                  <a:rPr lang="en-IN" b="1" dirty="0"/>
                  <a:t>For 4 coins:</a:t>
                </a:r>
                <a:endParaRPr lang="en-IN" dirty="0"/>
              </a:p>
              <a:p>
                <a:pPr marL="0" indent="0">
                  <a:buNone/>
                </a:pPr>
                <a14:m>
                  <m:oMathPara xmlns:m="http://schemas.openxmlformats.org/officeDocument/2006/math">
                    <m:oMathParaPr>
                      <m:jc m:val="centerGroup"/>
                    </m:oMathParaPr>
                    <m:oMath xmlns:m="http://schemas.openxmlformats.org/officeDocument/2006/math">
                      <m:r>
                        <m:rPr>
                          <m:nor/>
                        </m:rPr>
                        <a:rPr lang="en-IN" b="0"/>
                        <m:t>Total</m:t>
                      </m:r>
                      <m:r>
                        <m:rPr>
                          <m:nor/>
                        </m:rPr>
                        <a:rPr lang="en-IN" b="0" i="1"/>
                        <m:t> </m:t>
                      </m:r>
                      <m:r>
                        <m:rPr>
                          <m:nor/>
                        </m:rPr>
                        <a:rPr lang="en-IN" b="0" i="1"/>
                        <m:t>outcomes</m:t>
                      </m:r>
                      <m:r>
                        <a:rPr lang="en-IN">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2</m:t>
                          </m:r>
                        </m:e>
                        <m:sup>
                          <m:r>
                            <a:rPr lang="en-IN" b="0" i="0" smtClean="0">
                              <a:latin typeface="Cambria Math" panose="02040503050406030204" pitchFamily="18" charset="0"/>
                            </a:rPr>
                            <m:t>4</m:t>
                          </m:r>
                        </m:sup>
                      </m:sSup>
                      <m:r>
                        <a:rPr lang="ar-AE">
                          <a:latin typeface="Cambria Math" panose="02040503050406030204" pitchFamily="18" charset="0"/>
                        </a:rPr>
                        <m:t>=</m:t>
                      </m:r>
                      <m:r>
                        <a:rPr lang="en-IN" b="0" i="0" smtClean="0">
                          <a:latin typeface="Cambria Math" panose="02040503050406030204" pitchFamily="18" charset="0"/>
                        </a:rPr>
                        <m:t>16</m:t>
                      </m:r>
                    </m:oMath>
                  </m:oMathPara>
                </a14:m>
                <a:endParaRPr lang="ar-AE" b="0" dirty="0"/>
              </a:p>
              <a:p>
                <a:endParaRPr lang="en-IN" dirty="0"/>
              </a:p>
            </p:txBody>
          </p:sp>
        </mc:Choice>
        <mc:Fallback xmlns="">
          <p:sp>
            <p:nvSpPr>
              <p:cNvPr id="3" name="Content Placeholder 2">
                <a:extLst>
                  <a:ext uri="{FF2B5EF4-FFF2-40B4-BE49-F238E27FC236}">
                    <a16:creationId xmlns:a16="http://schemas.microsoft.com/office/drawing/2014/main" id="{D71EDBFB-BB21-EEF4-C26A-F512DDFACD3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2125094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5FD29E1-DE12-98C5-D41E-B4A5661C2BD0}"/>
                  </a:ext>
                </a:extLst>
              </p:cNvPr>
              <p:cNvSpPr>
                <a:spLocks noGrp="1"/>
              </p:cNvSpPr>
              <p:nvPr>
                <p:ph type="title"/>
              </p:nvPr>
            </p:nvSpPr>
            <p:spPr>
              <a:xfrm>
                <a:off x="838200" y="365125"/>
                <a:ext cx="9534832" cy="1866798"/>
              </a:xfrm>
            </p:spPr>
            <p:txBody>
              <a:bodyPr>
                <a:normAutofit fontScale="90000"/>
              </a:bodyPr>
              <a:lstStyle/>
              <a:p>
                <a:pPr/>
                <a:r>
                  <a:rPr lang="en-US" dirty="0"/>
                  <a:t>Two coins are tossed simultaneously. </a:t>
                </a:r>
                <a:br>
                  <a:rPr lang="en-US" dirty="0"/>
                </a:br>
                <a:r>
                  <a:rPr lang="en-US" dirty="0"/>
                  <a:t>                             </a:t>
                </a:r>
                <a:r>
                  <a:rPr lang="en-IN" b="1" dirty="0"/>
                  <a:t>Sample Space</a:t>
                </a:r>
                <a:br>
                  <a:rPr lang="en-IN" b="1" dirty="0"/>
                </a:b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smtClean="0">
                          <a:latin typeface="Cambria Math" panose="02040503050406030204" pitchFamily="18" charset="0"/>
                        </a:rPr>
                        <m:t>=</m:t>
                      </m:r>
                      <m:r>
                        <a:rPr lang="en-IN" b="0" i="0" smtClean="0">
                          <a:latin typeface="Cambria Math" panose="02040503050406030204" pitchFamily="18" charset="0"/>
                        </a:rPr>
                        <m:t>{</m:t>
                      </m:r>
                      <m:r>
                        <m:rPr>
                          <m:sty m:val="p"/>
                        </m:rPr>
                        <a:rPr lang="en-IN" b="0" i="0" smtClean="0">
                          <a:latin typeface="Cambria Math" panose="02040503050406030204" pitchFamily="18" charset="0"/>
                        </a:rPr>
                        <m:t>HH</m:t>
                      </m:r>
                      <m:r>
                        <a:rPr lang="en-IN" b="0" i="0" smtClean="0">
                          <a:latin typeface="Cambria Math" panose="02040503050406030204" pitchFamily="18" charset="0"/>
                        </a:rPr>
                        <m:t>,</m:t>
                      </m:r>
                      <m:r>
                        <m:rPr>
                          <m:sty m:val="p"/>
                        </m:rPr>
                        <a:rPr lang="en-IN" b="0" i="0" smtClean="0">
                          <a:latin typeface="Cambria Math" panose="02040503050406030204" pitchFamily="18" charset="0"/>
                        </a:rPr>
                        <m:t>HT</m:t>
                      </m:r>
                      <m:r>
                        <a:rPr lang="en-IN" b="0" i="0" smtClean="0">
                          <a:latin typeface="Cambria Math" panose="02040503050406030204" pitchFamily="18" charset="0"/>
                        </a:rPr>
                        <m:t>, </m:t>
                      </m:r>
                      <m:r>
                        <m:rPr>
                          <m:sty m:val="p"/>
                        </m:rPr>
                        <a:rPr lang="en-IN" b="0" i="0" smtClean="0">
                          <a:latin typeface="Cambria Math" panose="02040503050406030204" pitchFamily="18" charset="0"/>
                        </a:rPr>
                        <m:t>TH</m:t>
                      </m:r>
                      <m:r>
                        <a:rPr lang="en-IN" b="0" i="0" smtClean="0">
                          <a:latin typeface="Cambria Math" panose="02040503050406030204" pitchFamily="18" charset="0"/>
                        </a:rPr>
                        <m:t>, </m:t>
                      </m:r>
                      <m:r>
                        <m:rPr>
                          <m:sty m:val="p"/>
                        </m:rPr>
                        <a:rPr lang="en-IN" b="0" i="0" smtClean="0">
                          <a:latin typeface="Cambria Math" panose="02040503050406030204" pitchFamily="18" charset="0"/>
                        </a:rPr>
                        <m:t>TT</m:t>
                      </m:r>
                      <m:r>
                        <a:rPr lang="en-IN" b="0" i="0" smtClean="0">
                          <a:latin typeface="Cambria Math" panose="02040503050406030204" pitchFamily="18" charset="0"/>
                        </a:rPr>
                        <m:t>}</m:t>
                      </m:r>
                    </m:oMath>
                  </m:oMathPara>
                </a14:m>
                <a:br>
                  <a:rPr lang="ar-AE" b="0" dirty="0"/>
                </a:br>
                <a:endParaRPr lang="en-IN" dirty="0"/>
              </a:p>
            </p:txBody>
          </p:sp>
        </mc:Choice>
        <mc:Fallback xmlns="">
          <p:sp>
            <p:nvSpPr>
              <p:cNvPr id="2" name="Title 1">
                <a:extLst>
                  <a:ext uri="{FF2B5EF4-FFF2-40B4-BE49-F238E27FC236}">
                    <a16:creationId xmlns:a16="http://schemas.microsoft.com/office/drawing/2014/main" id="{35FD29E1-DE12-98C5-D41E-B4A5661C2BD0}"/>
                  </a:ext>
                </a:extLst>
              </p:cNvPr>
              <p:cNvSpPr>
                <a:spLocks noGrp="1" noRot="1" noChangeAspect="1" noMove="1" noResize="1" noEditPoints="1" noAdjustHandles="1" noChangeArrowheads="1" noChangeShapeType="1" noTextEdit="1"/>
              </p:cNvSpPr>
              <p:nvPr>
                <p:ph type="title"/>
              </p:nvPr>
            </p:nvSpPr>
            <p:spPr>
              <a:xfrm>
                <a:off x="838200" y="365125"/>
                <a:ext cx="9534832" cy="1866798"/>
              </a:xfrm>
              <a:blipFill>
                <a:blip r:embed="rId2"/>
                <a:stretch>
                  <a:fillRect l="-2302" t="-5556"/>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E8001BE9-54F2-4491-8CD1-1360B7E745AC}"/>
              </a:ext>
            </a:extLst>
          </p:cNvPr>
          <p:cNvSpPr>
            <a:spLocks noGrp="1"/>
          </p:cNvSpPr>
          <p:nvPr>
            <p:ph idx="1"/>
          </p:nvPr>
        </p:nvSpPr>
        <p:spPr>
          <a:xfrm>
            <a:off x="838200" y="2506662"/>
            <a:ext cx="7784690" cy="4351338"/>
          </a:xfrm>
        </p:spPr>
        <p:txBody>
          <a:bodyPr/>
          <a:lstStyle/>
          <a:p>
            <a:pPr marL="0" indent="0">
              <a:buNone/>
            </a:pPr>
            <a:r>
              <a:rPr lang="en-US" dirty="0"/>
              <a:t>1.Find the probability that no tail appears.</a:t>
            </a:r>
          </a:p>
          <a:p>
            <a:pPr marL="0" indent="0">
              <a:buNone/>
            </a:pPr>
            <a:r>
              <a:rPr lang="en-US" dirty="0"/>
              <a:t>2.Find the probability of getting exactly one tail.</a:t>
            </a:r>
          </a:p>
          <a:p>
            <a:pPr marL="0" indent="0">
              <a:buNone/>
            </a:pPr>
            <a:r>
              <a:rPr lang="en-US" dirty="0"/>
              <a:t>3.Probability of getting two heads.</a:t>
            </a:r>
          </a:p>
          <a:p>
            <a:pPr marL="0" indent="0">
              <a:buNone/>
            </a:pPr>
            <a:r>
              <a:rPr lang="en-US" dirty="0"/>
              <a:t>4. Probability of getting at least one head.</a:t>
            </a:r>
          </a:p>
          <a:p>
            <a:pPr marL="0" indent="0">
              <a:buNone/>
            </a:pPr>
            <a:r>
              <a:rPr lang="en-US" dirty="0"/>
              <a:t>5.Probability of getting no head</a:t>
            </a:r>
          </a:p>
          <a:p>
            <a:pPr marL="0" indent="0">
              <a:buNone/>
            </a:pPr>
            <a:r>
              <a:rPr lang="en-US" dirty="0"/>
              <a:t>6. Probability that both coins show the same face.</a:t>
            </a:r>
          </a:p>
          <a:p>
            <a:pPr marL="0" indent="0">
              <a:buNone/>
            </a:pPr>
            <a:r>
              <a:rPr lang="en-US" dirty="0"/>
              <a:t>7. Probability of getting a tail on the second coin</a:t>
            </a:r>
            <a:endParaRPr lang="en-IN" dirty="0"/>
          </a:p>
        </p:txBody>
      </p:sp>
      <p:graphicFrame>
        <p:nvGraphicFramePr>
          <p:cNvPr id="7" name="Table 6">
            <a:extLst>
              <a:ext uri="{FF2B5EF4-FFF2-40B4-BE49-F238E27FC236}">
                <a16:creationId xmlns:a16="http://schemas.microsoft.com/office/drawing/2014/main" id="{6D667C96-02AC-B825-2AA1-DF59D91371EC}"/>
              </a:ext>
            </a:extLst>
          </p:cNvPr>
          <p:cNvGraphicFramePr>
            <a:graphicFrameLocks noGrp="1"/>
          </p:cNvGraphicFramePr>
          <p:nvPr>
            <p:extLst>
              <p:ext uri="{D42A27DB-BD31-4B8C-83A1-F6EECF244321}">
                <p14:modId xmlns:p14="http://schemas.microsoft.com/office/powerpoint/2010/main" val="3920462004"/>
              </p:ext>
            </p:extLst>
          </p:nvPr>
        </p:nvGraphicFramePr>
        <p:xfrm>
          <a:off x="9402096" y="3845944"/>
          <a:ext cx="2514600" cy="2926080"/>
        </p:xfrm>
        <a:graphic>
          <a:graphicData uri="http://schemas.openxmlformats.org/drawingml/2006/table">
            <a:tbl>
              <a:tblPr/>
              <a:tblGrid>
                <a:gridCol w="2514600">
                  <a:extLst>
                    <a:ext uri="{9D8B030D-6E8A-4147-A177-3AD203B41FA5}">
                      <a16:colId xmlns:a16="http://schemas.microsoft.com/office/drawing/2014/main" val="2748983157"/>
                    </a:ext>
                  </a:extLst>
                </a:gridCol>
              </a:tblGrid>
              <a:tr h="0">
                <a:tc>
                  <a:txBody>
                    <a:bodyPr/>
                    <a:lstStyle/>
                    <a:p>
                      <a:pPr>
                        <a:buNone/>
                      </a:pPr>
                      <a:r>
                        <a:rPr lang="en-IN" b="1" dirty="0">
                          <a:solidFill>
                            <a:srgbClr val="00B050"/>
                          </a:solidFill>
                        </a:rPr>
                        <a:t>Answers : Probability</a:t>
                      </a:r>
                      <a:endParaRPr lang="en-IN" dirty="0">
                        <a:solidFill>
                          <a:srgbClr val="00B050"/>
                        </a:solidFill>
                      </a:endParaRPr>
                    </a:p>
                  </a:txBody>
                  <a:tcPr anchor="ctr">
                    <a:lnL>
                      <a:noFill/>
                    </a:lnL>
                    <a:lnR>
                      <a:noFill/>
                    </a:lnR>
                    <a:lnT>
                      <a:noFill/>
                    </a:lnT>
                    <a:lnB>
                      <a:noFill/>
                    </a:lnB>
                    <a:noFill/>
                  </a:tcPr>
                </a:tc>
                <a:extLst>
                  <a:ext uri="{0D108BD9-81ED-4DB2-BD59-A6C34878D82A}">
                    <a16:rowId xmlns:a16="http://schemas.microsoft.com/office/drawing/2014/main" val="622933346"/>
                  </a:ext>
                </a:extLst>
              </a:tr>
              <a:tr h="0">
                <a:tc>
                  <a:txBody>
                    <a:bodyPr/>
                    <a:lstStyle/>
                    <a:p>
                      <a:pPr>
                        <a:buNone/>
                      </a:pPr>
                      <a:r>
                        <a:rPr lang="en-IN">
                          <a:solidFill>
                            <a:srgbClr val="00B050"/>
                          </a:solidFill>
                        </a:rPr>
                        <a:t>1/4</a:t>
                      </a:r>
                    </a:p>
                  </a:txBody>
                  <a:tcPr anchor="ctr">
                    <a:lnL>
                      <a:noFill/>
                    </a:lnL>
                    <a:lnR>
                      <a:noFill/>
                    </a:lnR>
                    <a:lnT>
                      <a:noFill/>
                    </a:lnT>
                    <a:lnB>
                      <a:noFill/>
                    </a:lnB>
                    <a:noFill/>
                  </a:tcPr>
                </a:tc>
                <a:extLst>
                  <a:ext uri="{0D108BD9-81ED-4DB2-BD59-A6C34878D82A}">
                    <a16:rowId xmlns:a16="http://schemas.microsoft.com/office/drawing/2014/main" val="4277661213"/>
                  </a:ext>
                </a:extLst>
              </a:tr>
              <a:tr h="0">
                <a:tc>
                  <a:txBody>
                    <a:bodyPr/>
                    <a:lstStyle/>
                    <a:p>
                      <a:pPr>
                        <a:buNone/>
                      </a:pPr>
                      <a:r>
                        <a:rPr lang="en-IN">
                          <a:solidFill>
                            <a:srgbClr val="00B050"/>
                          </a:solidFill>
                        </a:rPr>
                        <a:t>1/2</a:t>
                      </a:r>
                    </a:p>
                  </a:txBody>
                  <a:tcPr anchor="ctr">
                    <a:lnL>
                      <a:noFill/>
                    </a:lnL>
                    <a:lnR>
                      <a:noFill/>
                    </a:lnR>
                    <a:lnT>
                      <a:noFill/>
                    </a:lnT>
                    <a:lnB>
                      <a:noFill/>
                    </a:lnB>
                    <a:noFill/>
                  </a:tcPr>
                </a:tc>
                <a:extLst>
                  <a:ext uri="{0D108BD9-81ED-4DB2-BD59-A6C34878D82A}">
                    <a16:rowId xmlns:a16="http://schemas.microsoft.com/office/drawing/2014/main" val="891475732"/>
                  </a:ext>
                </a:extLst>
              </a:tr>
              <a:tr h="0">
                <a:tc>
                  <a:txBody>
                    <a:bodyPr/>
                    <a:lstStyle/>
                    <a:p>
                      <a:pPr>
                        <a:buNone/>
                      </a:pPr>
                      <a:r>
                        <a:rPr lang="en-IN">
                          <a:solidFill>
                            <a:srgbClr val="00B050"/>
                          </a:solidFill>
                        </a:rPr>
                        <a:t>1/4</a:t>
                      </a:r>
                    </a:p>
                  </a:txBody>
                  <a:tcPr anchor="ctr">
                    <a:lnL>
                      <a:noFill/>
                    </a:lnL>
                    <a:lnR>
                      <a:noFill/>
                    </a:lnR>
                    <a:lnT>
                      <a:noFill/>
                    </a:lnT>
                    <a:lnB>
                      <a:noFill/>
                    </a:lnB>
                    <a:noFill/>
                  </a:tcPr>
                </a:tc>
                <a:extLst>
                  <a:ext uri="{0D108BD9-81ED-4DB2-BD59-A6C34878D82A}">
                    <a16:rowId xmlns:a16="http://schemas.microsoft.com/office/drawing/2014/main" val="1850220774"/>
                  </a:ext>
                </a:extLst>
              </a:tr>
              <a:tr h="0">
                <a:tc>
                  <a:txBody>
                    <a:bodyPr/>
                    <a:lstStyle/>
                    <a:p>
                      <a:pPr>
                        <a:buNone/>
                      </a:pPr>
                      <a:r>
                        <a:rPr lang="en-IN" dirty="0">
                          <a:solidFill>
                            <a:srgbClr val="00B050"/>
                          </a:solidFill>
                        </a:rPr>
                        <a:t>3/4</a:t>
                      </a:r>
                    </a:p>
                  </a:txBody>
                  <a:tcPr anchor="ctr">
                    <a:lnL>
                      <a:noFill/>
                    </a:lnL>
                    <a:lnR>
                      <a:noFill/>
                    </a:lnR>
                    <a:lnT>
                      <a:noFill/>
                    </a:lnT>
                    <a:lnB>
                      <a:noFill/>
                    </a:lnB>
                    <a:noFill/>
                  </a:tcPr>
                </a:tc>
                <a:extLst>
                  <a:ext uri="{0D108BD9-81ED-4DB2-BD59-A6C34878D82A}">
                    <a16:rowId xmlns:a16="http://schemas.microsoft.com/office/drawing/2014/main" val="2237972115"/>
                  </a:ext>
                </a:extLst>
              </a:tr>
              <a:tr h="0">
                <a:tc>
                  <a:txBody>
                    <a:bodyPr/>
                    <a:lstStyle/>
                    <a:p>
                      <a:pPr>
                        <a:buNone/>
                      </a:pPr>
                      <a:r>
                        <a:rPr lang="en-IN">
                          <a:solidFill>
                            <a:srgbClr val="00B050"/>
                          </a:solidFill>
                        </a:rPr>
                        <a:t>1/4</a:t>
                      </a:r>
                    </a:p>
                  </a:txBody>
                  <a:tcPr anchor="ctr">
                    <a:lnL>
                      <a:noFill/>
                    </a:lnL>
                    <a:lnR>
                      <a:noFill/>
                    </a:lnR>
                    <a:lnT>
                      <a:noFill/>
                    </a:lnT>
                    <a:lnB>
                      <a:noFill/>
                    </a:lnB>
                    <a:noFill/>
                  </a:tcPr>
                </a:tc>
                <a:extLst>
                  <a:ext uri="{0D108BD9-81ED-4DB2-BD59-A6C34878D82A}">
                    <a16:rowId xmlns:a16="http://schemas.microsoft.com/office/drawing/2014/main" val="1318033751"/>
                  </a:ext>
                </a:extLst>
              </a:tr>
              <a:tr h="0">
                <a:tc>
                  <a:txBody>
                    <a:bodyPr/>
                    <a:lstStyle/>
                    <a:p>
                      <a:pPr>
                        <a:buNone/>
                      </a:pPr>
                      <a:r>
                        <a:rPr lang="en-IN" dirty="0">
                          <a:solidFill>
                            <a:srgbClr val="00B050"/>
                          </a:solidFill>
                        </a:rPr>
                        <a:t>1/2</a:t>
                      </a:r>
                    </a:p>
                  </a:txBody>
                  <a:tcPr anchor="ctr">
                    <a:lnL>
                      <a:noFill/>
                    </a:lnL>
                    <a:lnR>
                      <a:noFill/>
                    </a:lnR>
                    <a:lnT>
                      <a:noFill/>
                    </a:lnT>
                    <a:lnB>
                      <a:noFill/>
                    </a:lnB>
                    <a:noFill/>
                  </a:tcPr>
                </a:tc>
                <a:extLst>
                  <a:ext uri="{0D108BD9-81ED-4DB2-BD59-A6C34878D82A}">
                    <a16:rowId xmlns:a16="http://schemas.microsoft.com/office/drawing/2014/main" val="736875598"/>
                  </a:ext>
                </a:extLst>
              </a:tr>
              <a:tr h="0">
                <a:tc>
                  <a:txBody>
                    <a:bodyPr/>
                    <a:lstStyle/>
                    <a:p>
                      <a:pPr>
                        <a:buNone/>
                      </a:pPr>
                      <a:r>
                        <a:rPr lang="en-IN" dirty="0">
                          <a:solidFill>
                            <a:srgbClr val="00B050"/>
                          </a:solidFill>
                        </a:rPr>
                        <a:t>1/2</a:t>
                      </a:r>
                    </a:p>
                  </a:txBody>
                  <a:tcPr anchor="ctr">
                    <a:lnL>
                      <a:noFill/>
                    </a:lnL>
                    <a:lnR>
                      <a:noFill/>
                    </a:lnR>
                    <a:lnT>
                      <a:noFill/>
                    </a:lnT>
                    <a:lnB>
                      <a:noFill/>
                    </a:lnB>
                    <a:noFill/>
                  </a:tcPr>
                </a:tc>
                <a:extLst>
                  <a:ext uri="{0D108BD9-81ED-4DB2-BD59-A6C34878D82A}">
                    <a16:rowId xmlns:a16="http://schemas.microsoft.com/office/drawing/2014/main" val="32235786"/>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D548E6-6460-B9E3-836B-B10E887C367A}"/>
                  </a:ext>
                </a:extLst>
              </p:cNvPr>
              <p:cNvSpPr txBox="1"/>
              <p:nvPr/>
            </p:nvSpPr>
            <p:spPr>
              <a:xfrm>
                <a:off x="9094837" y="549440"/>
                <a:ext cx="2821859" cy="1535036"/>
              </a:xfrm>
              <a:prstGeom prst="rect">
                <a:avLst/>
              </a:prstGeom>
              <a:noFill/>
            </p:spPr>
            <p:txBody>
              <a:bodyPr wrap="square">
                <a:spAutoFit/>
              </a:bodyPr>
              <a:lstStyle/>
              <a:p>
                <a:pPr>
                  <a:buNone/>
                </a:pPr>
                <a:r>
                  <a:rPr lang="en-IN" b="1" dirty="0">
                    <a:solidFill>
                      <a:srgbClr val="00B050"/>
                    </a:solidFill>
                  </a:rPr>
                  <a:t>Total Number of Outcomes</a:t>
                </a:r>
              </a:p>
              <a:p>
                <a:pPr>
                  <a:buNone/>
                </a:pPr>
                <a:r>
                  <a:rPr lang="en-IN" dirty="0">
                    <a:solidFill>
                      <a:srgbClr val="00B050"/>
                    </a:solidFill>
                  </a:rPr>
                  <a:t>For 4 coins:</a:t>
                </a:r>
              </a:p>
              <a:p>
                <a:pPr>
                  <a:buNone/>
                </a:pPr>
                <a14:m>
                  <m:oMathPara xmlns:m="http://schemas.openxmlformats.org/officeDocument/2006/math">
                    <m:oMathParaPr>
                      <m:jc m:val="centerGroup"/>
                    </m:oMathParaPr>
                    <m:oMath xmlns:m="http://schemas.openxmlformats.org/officeDocument/2006/math">
                      <m:r>
                        <m:rPr>
                          <m:nor/>
                        </m:rPr>
                        <a:rPr lang="en-IN" sz="2800" b="0">
                          <a:solidFill>
                            <a:srgbClr val="00B050"/>
                          </a:solidFill>
                        </a:rPr>
                        <m:t>Total</m:t>
                      </m:r>
                      <m:r>
                        <m:rPr>
                          <m:nor/>
                        </m:rPr>
                        <a:rPr lang="en-IN" sz="2800" b="0" i="1">
                          <a:solidFill>
                            <a:srgbClr val="00B050"/>
                          </a:solidFill>
                        </a:rPr>
                        <m:t> </m:t>
                      </m:r>
                      <m:r>
                        <m:rPr>
                          <m:nor/>
                        </m:rPr>
                        <a:rPr lang="en-IN" sz="2800" b="0" i="1">
                          <a:solidFill>
                            <a:srgbClr val="00B050"/>
                          </a:solidFill>
                        </a:rPr>
                        <m:t>outcomes</m:t>
                      </m:r>
                      <m:r>
                        <a:rPr lang="en-IN" sz="2800" b="0" i="0">
                          <a:solidFill>
                            <a:srgbClr val="00B050"/>
                          </a:solidFill>
                          <a:latin typeface="Cambria Math" panose="02040503050406030204" pitchFamily="18" charset="0"/>
                        </a:rPr>
                        <m:t>=</m:t>
                      </m:r>
                      <m:sSup>
                        <m:sSupPr>
                          <m:ctrlPr>
                            <a:rPr lang="ar-AE" sz="2800" b="0" i="1">
                              <a:solidFill>
                                <a:srgbClr val="00B050"/>
                              </a:solidFill>
                              <a:latin typeface="Cambria Math" panose="02040503050406030204" pitchFamily="18" charset="0"/>
                            </a:rPr>
                          </m:ctrlPr>
                        </m:sSupPr>
                        <m:e>
                          <m:r>
                            <a:rPr lang="ar-AE" sz="2800" b="0" i="0">
                              <a:solidFill>
                                <a:srgbClr val="00B050"/>
                              </a:solidFill>
                              <a:latin typeface="Cambria Math" panose="02040503050406030204" pitchFamily="18" charset="0"/>
                            </a:rPr>
                            <m:t>2</m:t>
                          </m:r>
                        </m:e>
                        <m:sup>
                          <m:r>
                            <a:rPr lang="en-IN" sz="2800" b="0" i="0" smtClean="0">
                              <a:solidFill>
                                <a:srgbClr val="00B050"/>
                              </a:solidFill>
                              <a:latin typeface="Cambria Math" panose="02040503050406030204" pitchFamily="18" charset="0"/>
                            </a:rPr>
                            <m:t>2</m:t>
                          </m:r>
                        </m:sup>
                      </m:sSup>
                      <m:r>
                        <a:rPr lang="ar-AE" sz="2800" b="0" i="0">
                          <a:solidFill>
                            <a:srgbClr val="00B050"/>
                          </a:solidFill>
                          <a:latin typeface="Cambria Math" panose="02040503050406030204" pitchFamily="18" charset="0"/>
                        </a:rPr>
                        <m:t>=</m:t>
                      </m:r>
                      <m:r>
                        <a:rPr lang="en-IN" sz="2800" b="0" i="0" smtClean="0">
                          <a:solidFill>
                            <a:srgbClr val="00B050"/>
                          </a:solidFill>
                          <a:latin typeface="Cambria Math" panose="02040503050406030204" pitchFamily="18" charset="0"/>
                        </a:rPr>
                        <m:t>4</m:t>
                      </m:r>
                    </m:oMath>
                  </m:oMathPara>
                </a14:m>
                <a:endParaRPr lang="ar-AE" sz="2800" b="0" dirty="0">
                  <a:solidFill>
                    <a:srgbClr val="00B050"/>
                  </a:solidFill>
                </a:endParaRPr>
              </a:p>
            </p:txBody>
          </p:sp>
        </mc:Choice>
        <mc:Fallback xmlns="">
          <p:sp>
            <p:nvSpPr>
              <p:cNvPr id="8" name="TextBox 7">
                <a:extLst>
                  <a:ext uri="{FF2B5EF4-FFF2-40B4-BE49-F238E27FC236}">
                    <a16:creationId xmlns:a16="http://schemas.microsoft.com/office/drawing/2014/main" id="{F0D548E6-6460-B9E3-836B-B10E887C367A}"/>
                  </a:ext>
                </a:extLst>
              </p:cNvPr>
              <p:cNvSpPr txBox="1">
                <a:spLocks noRot="1" noChangeAspect="1" noMove="1" noResize="1" noEditPoints="1" noAdjustHandles="1" noChangeArrowheads="1" noChangeShapeType="1" noTextEdit="1"/>
              </p:cNvSpPr>
              <p:nvPr/>
            </p:nvSpPr>
            <p:spPr>
              <a:xfrm>
                <a:off x="9094837" y="549440"/>
                <a:ext cx="2821859" cy="1535036"/>
              </a:xfrm>
              <a:prstGeom prst="rect">
                <a:avLst/>
              </a:prstGeom>
              <a:blipFill>
                <a:blip r:embed="rId3"/>
                <a:stretch>
                  <a:fillRect l="-1944" t="-1984"/>
                </a:stretch>
              </a:blipFill>
            </p:spPr>
            <p:txBody>
              <a:bodyPr/>
              <a:lstStyle/>
              <a:p>
                <a:r>
                  <a:rPr lang="en-IN">
                    <a:noFill/>
                  </a:rPr>
                  <a:t> </a:t>
                </a:r>
              </a:p>
            </p:txBody>
          </p:sp>
        </mc:Fallback>
      </mc:AlternateContent>
    </p:spTree>
    <p:extLst>
      <p:ext uri="{BB962C8B-B14F-4D97-AF65-F5344CB8AC3E}">
        <p14:creationId xmlns:p14="http://schemas.microsoft.com/office/powerpoint/2010/main" val="326004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A2BA0-EDEE-7A4A-D47D-911027B63ECA}"/>
              </a:ext>
            </a:extLst>
          </p:cNvPr>
          <p:cNvSpPr>
            <a:spLocks noGrp="1"/>
          </p:cNvSpPr>
          <p:nvPr>
            <p:ph type="title"/>
          </p:nvPr>
        </p:nvSpPr>
        <p:spPr>
          <a:xfrm>
            <a:off x="169606" y="365125"/>
            <a:ext cx="8502446" cy="913069"/>
          </a:xfrm>
        </p:spPr>
        <p:txBody>
          <a:bodyPr>
            <a:normAutofit fontScale="90000"/>
          </a:bodyPr>
          <a:lstStyle/>
          <a:p>
            <a:r>
              <a:rPr lang="en-US" dirty="0"/>
              <a:t>Three coins are tossed simultaneously</a:t>
            </a:r>
            <a:br>
              <a:rPr lang="en-US" dirty="0"/>
            </a:br>
            <a:endParaRPr lang="en-IN" dirty="0"/>
          </a:p>
        </p:txBody>
      </p:sp>
      <p:sp>
        <p:nvSpPr>
          <p:cNvPr id="3" name="Content Placeholder 2">
            <a:extLst>
              <a:ext uri="{FF2B5EF4-FFF2-40B4-BE49-F238E27FC236}">
                <a16:creationId xmlns:a16="http://schemas.microsoft.com/office/drawing/2014/main" id="{0CFE65E1-D5A5-FEA5-939F-9BC892251FE6}"/>
              </a:ext>
            </a:extLst>
          </p:cNvPr>
          <p:cNvSpPr>
            <a:spLocks noGrp="1"/>
          </p:cNvSpPr>
          <p:nvPr>
            <p:ph idx="1"/>
          </p:nvPr>
        </p:nvSpPr>
        <p:spPr>
          <a:xfrm>
            <a:off x="376084" y="2277909"/>
            <a:ext cx="7106264" cy="3641110"/>
          </a:xfrm>
        </p:spPr>
        <p:txBody>
          <a:bodyPr>
            <a:normAutofit fontScale="92500"/>
          </a:bodyPr>
          <a:lstStyle/>
          <a:p>
            <a:r>
              <a:rPr lang="en-US" dirty="0"/>
              <a:t>Find the probability of getting at least two heads</a:t>
            </a:r>
          </a:p>
          <a:p>
            <a:r>
              <a:rPr lang="en-US" dirty="0"/>
              <a:t>Find the probability of getting no heads </a:t>
            </a:r>
          </a:p>
          <a:p>
            <a:r>
              <a:rPr lang="en-US" dirty="0"/>
              <a:t>Find the probability of getting at least one head and at least one tail.</a:t>
            </a:r>
          </a:p>
          <a:p>
            <a:r>
              <a:rPr lang="en-US" dirty="0"/>
              <a:t>what is the probability of getting more heads than tails?</a:t>
            </a:r>
          </a:p>
          <a:p>
            <a:r>
              <a:rPr lang="en-US" dirty="0"/>
              <a:t>Find the probability that the number of heads is greater than or equal to 2.</a:t>
            </a:r>
            <a:endParaRPr lang="en-IN" dirty="0"/>
          </a:p>
        </p:txBody>
      </p:sp>
      <p:pic>
        <p:nvPicPr>
          <p:cNvPr id="5" name="Picture 4">
            <a:extLst>
              <a:ext uri="{FF2B5EF4-FFF2-40B4-BE49-F238E27FC236}">
                <a16:creationId xmlns:a16="http://schemas.microsoft.com/office/drawing/2014/main" id="{6B6F1416-232C-CC4E-CC02-8D5B20EC7397}"/>
              </a:ext>
            </a:extLst>
          </p:cNvPr>
          <p:cNvPicPr>
            <a:picLocks noChangeAspect="1"/>
          </p:cNvPicPr>
          <p:nvPr/>
        </p:nvPicPr>
        <p:blipFill>
          <a:blip r:embed="rId2"/>
          <a:stretch>
            <a:fillRect/>
          </a:stretch>
        </p:blipFill>
        <p:spPr>
          <a:xfrm>
            <a:off x="376084" y="1027905"/>
            <a:ext cx="8116433" cy="1095528"/>
          </a:xfrm>
          <a:prstGeom prst="rect">
            <a:avLst/>
          </a:prstGeom>
        </p:spPr>
      </p:pic>
      <p:graphicFrame>
        <p:nvGraphicFramePr>
          <p:cNvPr id="6" name="Table 5">
            <a:extLst>
              <a:ext uri="{FF2B5EF4-FFF2-40B4-BE49-F238E27FC236}">
                <a16:creationId xmlns:a16="http://schemas.microsoft.com/office/drawing/2014/main" id="{7BE905A1-4515-B5E3-D9B1-BB0B02CB2288}"/>
              </a:ext>
            </a:extLst>
          </p:cNvPr>
          <p:cNvGraphicFramePr>
            <a:graphicFrameLocks noGrp="1"/>
          </p:cNvGraphicFramePr>
          <p:nvPr>
            <p:extLst>
              <p:ext uri="{D42A27DB-BD31-4B8C-83A1-F6EECF244321}">
                <p14:modId xmlns:p14="http://schemas.microsoft.com/office/powerpoint/2010/main" val="3575956106"/>
              </p:ext>
            </p:extLst>
          </p:nvPr>
        </p:nvGraphicFramePr>
        <p:xfrm>
          <a:off x="7927258" y="2786215"/>
          <a:ext cx="2937387" cy="2394157"/>
        </p:xfrm>
        <a:graphic>
          <a:graphicData uri="http://schemas.openxmlformats.org/drawingml/2006/table">
            <a:tbl>
              <a:tblPr/>
              <a:tblGrid>
                <a:gridCol w="2937387">
                  <a:extLst>
                    <a:ext uri="{9D8B030D-6E8A-4147-A177-3AD203B41FA5}">
                      <a16:colId xmlns:a16="http://schemas.microsoft.com/office/drawing/2014/main" val="4183921586"/>
                    </a:ext>
                  </a:extLst>
                </a:gridCol>
              </a:tblGrid>
              <a:tr h="382844">
                <a:tc>
                  <a:txBody>
                    <a:bodyPr/>
                    <a:lstStyle/>
                    <a:p>
                      <a:pPr>
                        <a:buNone/>
                      </a:pPr>
                      <a:r>
                        <a:rPr lang="en-IN" b="1" dirty="0">
                          <a:solidFill>
                            <a:srgbClr val="00B050"/>
                          </a:solidFill>
                        </a:rPr>
                        <a:t>Answers : Probability</a:t>
                      </a:r>
                      <a:endParaRPr lang="en-IN" dirty="0">
                        <a:solidFill>
                          <a:srgbClr val="00B050"/>
                        </a:solidFill>
                      </a:endParaRPr>
                    </a:p>
                  </a:txBody>
                  <a:tcPr anchor="ctr">
                    <a:lnL>
                      <a:noFill/>
                    </a:lnL>
                    <a:lnR>
                      <a:noFill/>
                    </a:lnR>
                    <a:lnT>
                      <a:noFill/>
                    </a:lnT>
                    <a:lnB>
                      <a:noFill/>
                    </a:lnB>
                    <a:noFill/>
                  </a:tcPr>
                </a:tc>
                <a:extLst>
                  <a:ext uri="{0D108BD9-81ED-4DB2-BD59-A6C34878D82A}">
                    <a16:rowId xmlns:a16="http://schemas.microsoft.com/office/drawing/2014/main" val="596790836"/>
                  </a:ext>
                </a:extLst>
              </a:tr>
              <a:tr h="382844">
                <a:tc>
                  <a:txBody>
                    <a:bodyPr/>
                    <a:lstStyle/>
                    <a:p>
                      <a:pPr>
                        <a:buNone/>
                      </a:pPr>
                      <a:r>
                        <a:rPr lang="en-IN" dirty="0">
                          <a:solidFill>
                            <a:srgbClr val="00B050"/>
                          </a:solidFill>
                        </a:rPr>
                        <a:t>1/2</a:t>
                      </a:r>
                    </a:p>
                  </a:txBody>
                  <a:tcPr anchor="ctr">
                    <a:lnL>
                      <a:noFill/>
                    </a:lnL>
                    <a:lnR>
                      <a:noFill/>
                    </a:lnR>
                    <a:lnT>
                      <a:noFill/>
                    </a:lnT>
                    <a:lnB>
                      <a:noFill/>
                    </a:lnB>
                    <a:noFill/>
                  </a:tcPr>
                </a:tc>
                <a:extLst>
                  <a:ext uri="{0D108BD9-81ED-4DB2-BD59-A6C34878D82A}">
                    <a16:rowId xmlns:a16="http://schemas.microsoft.com/office/drawing/2014/main" val="1696164339"/>
                  </a:ext>
                </a:extLst>
              </a:tr>
              <a:tr h="382844">
                <a:tc>
                  <a:txBody>
                    <a:bodyPr/>
                    <a:lstStyle/>
                    <a:p>
                      <a:pPr>
                        <a:buNone/>
                      </a:pPr>
                      <a:r>
                        <a:rPr lang="en-IN">
                          <a:solidFill>
                            <a:srgbClr val="00B050"/>
                          </a:solidFill>
                        </a:rPr>
                        <a:t>1/8</a:t>
                      </a:r>
                    </a:p>
                  </a:txBody>
                  <a:tcPr anchor="ctr">
                    <a:lnL>
                      <a:noFill/>
                    </a:lnL>
                    <a:lnR>
                      <a:noFill/>
                    </a:lnR>
                    <a:lnT>
                      <a:noFill/>
                    </a:lnT>
                    <a:lnB>
                      <a:noFill/>
                    </a:lnB>
                    <a:noFill/>
                  </a:tcPr>
                </a:tc>
                <a:extLst>
                  <a:ext uri="{0D108BD9-81ED-4DB2-BD59-A6C34878D82A}">
                    <a16:rowId xmlns:a16="http://schemas.microsoft.com/office/drawing/2014/main" val="3203004953"/>
                  </a:ext>
                </a:extLst>
              </a:tr>
              <a:tr h="479937">
                <a:tc>
                  <a:txBody>
                    <a:bodyPr/>
                    <a:lstStyle/>
                    <a:p>
                      <a:pPr>
                        <a:buNone/>
                      </a:pPr>
                      <a:r>
                        <a:rPr lang="en-IN">
                          <a:solidFill>
                            <a:srgbClr val="00B050"/>
                          </a:solidFill>
                        </a:rPr>
                        <a:t>3/4</a:t>
                      </a:r>
                    </a:p>
                  </a:txBody>
                  <a:tcPr anchor="ctr">
                    <a:lnL>
                      <a:noFill/>
                    </a:lnL>
                    <a:lnR>
                      <a:noFill/>
                    </a:lnR>
                    <a:lnT>
                      <a:noFill/>
                    </a:lnT>
                    <a:lnB>
                      <a:noFill/>
                    </a:lnB>
                    <a:noFill/>
                  </a:tcPr>
                </a:tc>
                <a:extLst>
                  <a:ext uri="{0D108BD9-81ED-4DB2-BD59-A6C34878D82A}">
                    <a16:rowId xmlns:a16="http://schemas.microsoft.com/office/drawing/2014/main" val="1705873840"/>
                  </a:ext>
                </a:extLst>
              </a:tr>
              <a:tr h="382844">
                <a:tc>
                  <a:txBody>
                    <a:bodyPr/>
                    <a:lstStyle/>
                    <a:p>
                      <a:pPr>
                        <a:buNone/>
                      </a:pPr>
                      <a:r>
                        <a:rPr lang="en-IN">
                          <a:solidFill>
                            <a:srgbClr val="00B050"/>
                          </a:solidFill>
                        </a:rPr>
                        <a:t>1/2</a:t>
                      </a:r>
                    </a:p>
                  </a:txBody>
                  <a:tcPr anchor="ctr">
                    <a:lnL>
                      <a:noFill/>
                    </a:lnL>
                    <a:lnR>
                      <a:noFill/>
                    </a:lnR>
                    <a:lnT>
                      <a:noFill/>
                    </a:lnT>
                    <a:lnB>
                      <a:noFill/>
                    </a:lnB>
                    <a:noFill/>
                  </a:tcPr>
                </a:tc>
                <a:extLst>
                  <a:ext uri="{0D108BD9-81ED-4DB2-BD59-A6C34878D82A}">
                    <a16:rowId xmlns:a16="http://schemas.microsoft.com/office/drawing/2014/main" val="3098969460"/>
                  </a:ext>
                </a:extLst>
              </a:tr>
              <a:tr h="382844">
                <a:tc>
                  <a:txBody>
                    <a:bodyPr/>
                    <a:lstStyle/>
                    <a:p>
                      <a:pPr>
                        <a:buNone/>
                      </a:pPr>
                      <a:r>
                        <a:rPr lang="en-IN" dirty="0">
                          <a:solidFill>
                            <a:srgbClr val="00B050"/>
                          </a:solidFill>
                        </a:rPr>
                        <a:t>1/2</a:t>
                      </a:r>
                    </a:p>
                  </a:txBody>
                  <a:tcPr anchor="ctr">
                    <a:lnL>
                      <a:noFill/>
                    </a:lnL>
                    <a:lnR>
                      <a:noFill/>
                    </a:lnR>
                    <a:lnT>
                      <a:noFill/>
                    </a:lnT>
                    <a:lnB>
                      <a:noFill/>
                    </a:lnB>
                    <a:noFill/>
                  </a:tcPr>
                </a:tc>
                <a:extLst>
                  <a:ext uri="{0D108BD9-81ED-4DB2-BD59-A6C34878D82A}">
                    <a16:rowId xmlns:a16="http://schemas.microsoft.com/office/drawing/2014/main" val="1260674639"/>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53ECBD6-7094-53DE-9C14-4B9A283CEFBE}"/>
                  </a:ext>
                </a:extLst>
              </p:cNvPr>
              <p:cNvSpPr txBox="1"/>
              <p:nvPr/>
            </p:nvSpPr>
            <p:spPr>
              <a:xfrm>
                <a:off x="9200535" y="625266"/>
                <a:ext cx="2821859" cy="1535036"/>
              </a:xfrm>
              <a:prstGeom prst="rect">
                <a:avLst/>
              </a:prstGeom>
              <a:noFill/>
            </p:spPr>
            <p:txBody>
              <a:bodyPr wrap="square">
                <a:spAutoFit/>
              </a:bodyPr>
              <a:lstStyle/>
              <a:p>
                <a:pPr>
                  <a:buNone/>
                </a:pPr>
                <a:r>
                  <a:rPr lang="en-IN" b="1" dirty="0">
                    <a:solidFill>
                      <a:srgbClr val="00B050"/>
                    </a:solidFill>
                  </a:rPr>
                  <a:t>Total Number of Outcomes</a:t>
                </a:r>
              </a:p>
              <a:p>
                <a:pPr>
                  <a:buNone/>
                </a:pPr>
                <a:r>
                  <a:rPr lang="en-IN" dirty="0">
                    <a:solidFill>
                      <a:srgbClr val="00B050"/>
                    </a:solidFill>
                  </a:rPr>
                  <a:t>For 4 coins:</a:t>
                </a:r>
              </a:p>
              <a:p>
                <a:pPr>
                  <a:buNone/>
                </a:pPr>
                <a14:m>
                  <m:oMathPara xmlns:m="http://schemas.openxmlformats.org/officeDocument/2006/math">
                    <m:oMathParaPr>
                      <m:jc m:val="centerGroup"/>
                    </m:oMathParaPr>
                    <m:oMath xmlns:m="http://schemas.openxmlformats.org/officeDocument/2006/math">
                      <m:r>
                        <m:rPr>
                          <m:nor/>
                        </m:rPr>
                        <a:rPr lang="en-IN" sz="2800" b="0">
                          <a:solidFill>
                            <a:srgbClr val="00B050"/>
                          </a:solidFill>
                        </a:rPr>
                        <m:t>Total</m:t>
                      </m:r>
                      <m:r>
                        <m:rPr>
                          <m:nor/>
                        </m:rPr>
                        <a:rPr lang="en-IN" sz="2800" b="0" i="1">
                          <a:solidFill>
                            <a:srgbClr val="00B050"/>
                          </a:solidFill>
                        </a:rPr>
                        <m:t> </m:t>
                      </m:r>
                      <m:r>
                        <m:rPr>
                          <m:nor/>
                        </m:rPr>
                        <a:rPr lang="en-IN" sz="2800" b="0" i="1">
                          <a:solidFill>
                            <a:srgbClr val="00B050"/>
                          </a:solidFill>
                        </a:rPr>
                        <m:t>outcomes</m:t>
                      </m:r>
                      <m:r>
                        <a:rPr lang="en-IN" sz="2800" b="0" i="0">
                          <a:solidFill>
                            <a:srgbClr val="00B050"/>
                          </a:solidFill>
                          <a:latin typeface="Cambria Math" panose="02040503050406030204" pitchFamily="18" charset="0"/>
                        </a:rPr>
                        <m:t>=</m:t>
                      </m:r>
                      <m:sSup>
                        <m:sSupPr>
                          <m:ctrlPr>
                            <a:rPr lang="ar-AE" sz="2800" b="0" i="1">
                              <a:solidFill>
                                <a:srgbClr val="00B050"/>
                              </a:solidFill>
                              <a:latin typeface="Cambria Math" panose="02040503050406030204" pitchFamily="18" charset="0"/>
                            </a:rPr>
                          </m:ctrlPr>
                        </m:sSupPr>
                        <m:e>
                          <m:r>
                            <a:rPr lang="ar-AE" sz="2800" b="0" i="0">
                              <a:solidFill>
                                <a:srgbClr val="00B050"/>
                              </a:solidFill>
                              <a:latin typeface="Cambria Math" panose="02040503050406030204" pitchFamily="18" charset="0"/>
                            </a:rPr>
                            <m:t>2</m:t>
                          </m:r>
                        </m:e>
                        <m:sup>
                          <m:r>
                            <a:rPr lang="en-IN" sz="2800" b="0" i="0" smtClean="0">
                              <a:solidFill>
                                <a:srgbClr val="00B050"/>
                              </a:solidFill>
                              <a:latin typeface="Cambria Math" panose="02040503050406030204" pitchFamily="18" charset="0"/>
                            </a:rPr>
                            <m:t>3</m:t>
                          </m:r>
                        </m:sup>
                      </m:sSup>
                      <m:r>
                        <a:rPr lang="ar-AE" sz="2800" b="0" i="0">
                          <a:solidFill>
                            <a:srgbClr val="00B050"/>
                          </a:solidFill>
                          <a:latin typeface="Cambria Math" panose="02040503050406030204" pitchFamily="18" charset="0"/>
                        </a:rPr>
                        <m:t>=</m:t>
                      </m:r>
                      <m:r>
                        <a:rPr lang="en-IN" sz="2800" b="0" i="0" smtClean="0">
                          <a:solidFill>
                            <a:srgbClr val="00B050"/>
                          </a:solidFill>
                          <a:latin typeface="Cambria Math" panose="02040503050406030204" pitchFamily="18" charset="0"/>
                        </a:rPr>
                        <m:t>8</m:t>
                      </m:r>
                    </m:oMath>
                  </m:oMathPara>
                </a14:m>
                <a:endParaRPr lang="ar-AE" sz="2800" b="0" dirty="0">
                  <a:solidFill>
                    <a:srgbClr val="00B050"/>
                  </a:solidFill>
                </a:endParaRPr>
              </a:p>
            </p:txBody>
          </p:sp>
        </mc:Choice>
        <mc:Fallback xmlns="">
          <p:sp>
            <p:nvSpPr>
              <p:cNvPr id="7" name="TextBox 6">
                <a:extLst>
                  <a:ext uri="{FF2B5EF4-FFF2-40B4-BE49-F238E27FC236}">
                    <a16:creationId xmlns:a16="http://schemas.microsoft.com/office/drawing/2014/main" id="{253ECBD6-7094-53DE-9C14-4B9A283CEFBE}"/>
                  </a:ext>
                </a:extLst>
              </p:cNvPr>
              <p:cNvSpPr txBox="1">
                <a:spLocks noRot="1" noChangeAspect="1" noMove="1" noResize="1" noEditPoints="1" noAdjustHandles="1" noChangeArrowheads="1" noChangeShapeType="1" noTextEdit="1"/>
              </p:cNvSpPr>
              <p:nvPr/>
            </p:nvSpPr>
            <p:spPr>
              <a:xfrm>
                <a:off x="9200535" y="625266"/>
                <a:ext cx="2821859" cy="1535036"/>
              </a:xfrm>
              <a:prstGeom prst="rect">
                <a:avLst/>
              </a:prstGeom>
              <a:blipFill>
                <a:blip r:embed="rId3"/>
                <a:stretch>
                  <a:fillRect l="-1728" t="-2390"/>
                </a:stretch>
              </a:blipFill>
            </p:spPr>
            <p:txBody>
              <a:bodyPr/>
              <a:lstStyle/>
              <a:p>
                <a:r>
                  <a:rPr lang="en-IN">
                    <a:noFill/>
                  </a:rPr>
                  <a:t> </a:t>
                </a:r>
              </a:p>
            </p:txBody>
          </p:sp>
        </mc:Fallback>
      </mc:AlternateContent>
    </p:spTree>
    <p:extLst>
      <p:ext uri="{BB962C8B-B14F-4D97-AF65-F5344CB8AC3E}">
        <p14:creationId xmlns:p14="http://schemas.microsoft.com/office/powerpoint/2010/main" val="74914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AD396-DD7B-D783-7620-79AED3FB3D6B}"/>
              </a:ext>
            </a:extLst>
          </p:cNvPr>
          <p:cNvSpPr>
            <a:spLocks noGrp="1"/>
          </p:cNvSpPr>
          <p:nvPr>
            <p:ph type="title"/>
          </p:nvPr>
        </p:nvSpPr>
        <p:spPr>
          <a:xfrm>
            <a:off x="334297" y="365125"/>
            <a:ext cx="7482347" cy="745469"/>
          </a:xfrm>
        </p:spPr>
        <p:txBody>
          <a:bodyPr>
            <a:normAutofit/>
          </a:bodyPr>
          <a:lstStyle/>
          <a:p>
            <a:r>
              <a:rPr lang="en-US" b="1" dirty="0">
                <a:solidFill>
                  <a:srgbClr val="FF0000"/>
                </a:solidFill>
              </a:rPr>
              <a:t>Four coins are tossed once..</a:t>
            </a:r>
            <a:endParaRPr lang="en-IN" b="1" dirty="0">
              <a:solidFill>
                <a:srgbClr val="FF000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E81869-EAC2-6E75-2A44-BB2391331095}"/>
                  </a:ext>
                </a:extLst>
              </p:cNvPr>
              <p:cNvSpPr>
                <a:spLocks noGrp="1"/>
              </p:cNvSpPr>
              <p:nvPr>
                <p:ph idx="1"/>
              </p:nvPr>
            </p:nvSpPr>
            <p:spPr>
              <a:xfrm>
                <a:off x="334297" y="4111800"/>
                <a:ext cx="7794521" cy="2381075"/>
              </a:xfrm>
            </p:spPr>
            <p:txBody>
              <a:bodyPr>
                <a:normAutofit fontScale="77500" lnSpcReduction="20000"/>
              </a:bodyPr>
              <a:lstStyle/>
              <a:p>
                <a:pPr marL="0" indent="0">
                  <a:buNone/>
                </a:pPr>
                <a:r>
                  <a:rPr lang="en-US" dirty="0"/>
                  <a:t>1.Find the probability of getting exactly three tails</a:t>
                </a:r>
              </a:p>
              <a:p>
                <a:pPr marL="0" indent="0">
                  <a:buNone/>
                </a:pPr>
                <a:r>
                  <a:rPr lang="en-IN" b="1" dirty="0"/>
                  <a:t>Favourable Outcomes (Exactly 3 Tails)</a:t>
                </a:r>
              </a:p>
              <a:p>
                <a:pPr marL="0" indent="0">
                  <a:buNone/>
                </a:pPr>
                <a14:m>
                  <m:oMathPara xmlns:m="http://schemas.openxmlformats.org/officeDocument/2006/math">
                    <m:oMathParaPr>
                      <m:jc m:val="centerGroup"/>
                    </m:oMathParaPr>
                    <m:oMath xmlns:m="http://schemas.openxmlformats.org/officeDocument/2006/math">
                      <m:d>
                        <m:dPr>
                          <m:begChr m:val="{"/>
                          <m:endChr m:val="}"/>
                          <m:sepChr m:val=","/>
                          <m:ctrlPr>
                            <a:rPr lang="ar-AE" b="1" i="1" smtClean="0">
                              <a:solidFill>
                                <a:srgbClr val="00B050"/>
                              </a:solidFill>
                              <a:latin typeface="Cambria Math" panose="02040503050406030204" pitchFamily="18" charset="0"/>
                            </a:rPr>
                          </m:ctrlPr>
                        </m:dPr>
                        <m:e>
                          <m:r>
                            <m:rPr>
                              <m:nor/>
                            </m:rPr>
                            <a:rPr lang="en-IN" b="1">
                              <a:solidFill>
                                <a:srgbClr val="00B050"/>
                              </a:solidFill>
                            </a:rPr>
                            <m:t>HTTT</m:t>
                          </m:r>
                        </m:e>
                        <m:e>
                          <m:r>
                            <m:rPr>
                              <m:nor/>
                            </m:rPr>
                            <a:rPr lang="en-IN" b="1" i="1">
                              <a:solidFill>
                                <a:srgbClr val="00B050"/>
                              </a:solidFill>
                            </a:rPr>
                            <m:t>THTT</m:t>
                          </m:r>
                        </m:e>
                        <m:e>
                          <m:r>
                            <m:rPr>
                              <m:nor/>
                            </m:rPr>
                            <a:rPr lang="en-IN" b="1" i="1">
                              <a:solidFill>
                                <a:srgbClr val="00B050"/>
                              </a:solidFill>
                            </a:rPr>
                            <m:t>TTHT</m:t>
                          </m:r>
                        </m:e>
                        <m:e>
                          <m:r>
                            <m:rPr>
                              <m:nor/>
                            </m:rPr>
                            <a:rPr lang="en-IN" b="1" i="1">
                              <a:solidFill>
                                <a:srgbClr val="00B050"/>
                              </a:solidFill>
                            </a:rPr>
                            <m:t>TTTH</m:t>
                          </m:r>
                        </m:e>
                      </m:d>
                    </m:oMath>
                  </m:oMathPara>
                </a14:m>
                <a:endParaRPr lang="ar-AE" b="1" dirty="0"/>
              </a:p>
              <a:p>
                <a:pPr marL="0" indent="0">
                  <a:buNone/>
                </a:pPr>
                <a:r>
                  <a:rPr lang="en-IN" dirty="0"/>
                  <a:t>Number of favourable outcomes = </a:t>
                </a:r>
                <a:r>
                  <a:rPr lang="en-IN" b="1" dirty="0"/>
                  <a:t>4</a:t>
                </a:r>
              </a:p>
              <a:p>
                <a:pPr marL="0" indent="0">
                  <a:buNone/>
                </a:pPr>
                <a:r>
                  <a:rPr lang="en-IN" b="1" dirty="0"/>
                  <a:t>Probability</a:t>
                </a:r>
              </a:p>
              <a:p>
                <a:pPr marL="0" indent="0">
                  <a:buNone/>
                </a:pPr>
                <a14:m>
                  <m:oMathPara xmlns:m="http://schemas.openxmlformats.org/officeDocument/2006/math">
                    <m:oMathParaPr>
                      <m:jc m:val="centerGroup"/>
                    </m:oMathParaPr>
                    <m:oMath xmlns:m="http://schemas.openxmlformats.org/officeDocument/2006/math">
                      <m:r>
                        <a:rPr lang="en-IN" b="1" i="1" smtClean="0">
                          <a:solidFill>
                            <a:srgbClr val="00B050"/>
                          </a:solidFill>
                          <a:latin typeface="Cambria Math" panose="02040503050406030204" pitchFamily="18" charset="0"/>
                        </a:rPr>
                        <m:t>𝑷</m:t>
                      </m:r>
                      <m:d>
                        <m:dPr>
                          <m:ctrlPr>
                            <a:rPr lang="ar-AE" b="1" i="1">
                              <a:solidFill>
                                <a:srgbClr val="00B050"/>
                              </a:solidFill>
                              <a:latin typeface="Cambria Math" panose="02040503050406030204" pitchFamily="18" charset="0"/>
                            </a:rPr>
                          </m:ctrlPr>
                        </m:dPr>
                        <m:e>
                          <m:r>
                            <m:rPr>
                              <m:nor/>
                            </m:rPr>
                            <a:rPr lang="en-IN" b="1" i="1">
                              <a:solidFill>
                                <a:srgbClr val="00B050"/>
                              </a:solidFill>
                            </a:rPr>
                            <m:t>Exactly</m:t>
                          </m:r>
                          <m:r>
                            <m:rPr>
                              <m:nor/>
                            </m:rPr>
                            <a:rPr lang="en-IN" b="1" i="1">
                              <a:solidFill>
                                <a:srgbClr val="00B050"/>
                              </a:solidFill>
                            </a:rPr>
                            <m:t> </m:t>
                          </m:r>
                          <m:r>
                            <m:rPr>
                              <m:nor/>
                            </m:rPr>
                            <a:rPr lang="en-IN" b="1" i="1">
                              <a:solidFill>
                                <a:srgbClr val="00B050"/>
                              </a:solidFill>
                            </a:rPr>
                            <m:t>3 </m:t>
                          </m:r>
                          <m:r>
                            <m:rPr>
                              <m:nor/>
                            </m:rPr>
                            <a:rPr lang="en-IN" b="1" i="1">
                              <a:solidFill>
                                <a:srgbClr val="00B050"/>
                              </a:solidFill>
                            </a:rPr>
                            <m:t>tails</m:t>
                          </m:r>
                        </m:e>
                      </m:d>
                      <m:r>
                        <a:rPr lang="ar-AE" b="1">
                          <a:solidFill>
                            <a:srgbClr val="00B050"/>
                          </a:solidFill>
                          <a:latin typeface="Cambria Math" panose="02040503050406030204" pitchFamily="18" charset="0"/>
                        </a:rPr>
                        <m:t>=</m:t>
                      </m:r>
                      <m:f>
                        <m:fPr>
                          <m:ctrlPr>
                            <a:rPr lang="ar-AE" b="1" i="1">
                              <a:solidFill>
                                <a:srgbClr val="00B050"/>
                              </a:solidFill>
                              <a:latin typeface="Cambria Math" panose="02040503050406030204" pitchFamily="18" charset="0"/>
                            </a:rPr>
                          </m:ctrlPr>
                        </m:fPr>
                        <m:num>
                          <m:r>
                            <a:rPr lang="ar-AE" b="1" i="1">
                              <a:solidFill>
                                <a:srgbClr val="00B050"/>
                              </a:solidFill>
                              <a:latin typeface="Cambria Math" panose="02040503050406030204" pitchFamily="18" charset="0"/>
                            </a:rPr>
                            <m:t>𝟒</m:t>
                          </m:r>
                        </m:num>
                        <m:den>
                          <m:r>
                            <a:rPr lang="ar-AE" b="1" i="1">
                              <a:solidFill>
                                <a:srgbClr val="00B050"/>
                              </a:solidFill>
                              <a:latin typeface="Cambria Math" panose="02040503050406030204" pitchFamily="18" charset="0"/>
                            </a:rPr>
                            <m:t>𝟏𝟔</m:t>
                          </m:r>
                        </m:den>
                      </m:f>
                      <m:r>
                        <a:rPr lang="ar-AE" b="1">
                          <a:solidFill>
                            <a:srgbClr val="00B050"/>
                          </a:solidFill>
                          <a:latin typeface="Cambria Math" panose="02040503050406030204" pitchFamily="18" charset="0"/>
                        </a:rPr>
                        <m:t>=</m:t>
                      </m:r>
                      <m:f>
                        <m:fPr>
                          <m:ctrlPr>
                            <a:rPr lang="ar-AE" b="1" i="1">
                              <a:solidFill>
                                <a:srgbClr val="00B050"/>
                              </a:solidFill>
                              <a:latin typeface="Cambria Math" panose="02040503050406030204" pitchFamily="18" charset="0"/>
                            </a:rPr>
                          </m:ctrlPr>
                        </m:fPr>
                        <m:num>
                          <m:r>
                            <a:rPr lang="ar-AE" b="1" i="1">
                              <a:solidFill>
                                <a:srgbClr val="00B050"/>
                              </a:solidFill>
                              <a:latin typeface="Cambria Math" panose="02040503050406030204" pitchFamily="18" charset="0"/>
                            </a:rPr>
                            <m:t>𝟏</m:t>
                          </m:r>
                        </m:num>
                        <m:den>
                          <m:r>
                            <a:rPr lang="ar-AE" b="1" i="1">
                              <a:solidFill>
                                <a:srgbClr val="00B050"/>
                              </a:solidFill>
                              <a:latin typeface="Cambria Math" panose="02040503050406030204" pitchFamily="18" charset="0"/>
                            </a:rPr>
                            <m:t>𝟒</m:t>
                          </m:r>
                        </m:den>
                      </m:f>
                    </m:oMath>
                  </m:oMathPara>
                </a14:m>
                <a:endParaRPr lang="ar-AE" b="1" dirty="0"/>
              </a:p>
              <a:p>
                <a:pPr marL="0" indent="0">
                  <a:buNone/>
                </a:pPr>
                <a:endParaRPr lang="en-IN" dirty="0"/>
              </a:p>
              <a:p>
                <a:endParaRPr lang="en-IN" dirty="0"/>
              </a:p>
            </p:txBody>
          </p:sp>
        </mc:Choice>
        <mc:Fallback xmlns="">
          <p:sp>
            <p:nvSpPr>
              <p:cNvPr id="3" name="Content Placeholder 2">
                <a:extLst>
                  <a:ext uri="{FF2B5EF4-FFF2-40B4-BE49-F238E27FC236}">
                    <a16:creationId xmlns:a16="http://schemas.microsoft.com/office/drawing/2014/main" id="{7AE81869-EAC2-6E75-2A44-BB2391331095}"/>
                  </a:ext>
                </a:extLst>
              </p:cNvPr>
              <p:cNvSpPr>
                <a:spLocks noGrp="1" noRot="1" noChangeAspect="1" noMove="1" noResize="1" noEditPoints="1" noAdjustHandles="1" noChangeArrowheads="1" noChangeShapeType="1" noTextEdit="1"/>
              </p:cNvSpPr>
              <p:nvPr>
                <p:ph idx="1"/>
              </p:nvPr>
            </p:nvSpPr>
            <p:spPr>
              <a:xfrm>
                <a:off x="334297" y="4111800"/>
                <a:ext cx="7794521" cy="2381075"/>
              </a:xfrm>
              <a:blipFill>
                <a:blip r:embed="rId2"/>
                <a:stretch>
                  <a:fillRect l="-1017" t="-53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20B629-5B82-9136-CAA8-C813E5A53EB7}"/>
                  </a:ext>
                </a:extLst>
              </p:cNvPr>
              <p:cNvSpPr txBox="1"/>
              <p:nvPr/>
            </p:nvSpPr>
            <p:spPr>
              <a:xfrm>
                <a:off x="8790038" y="1930833"/>
                <a:ext cx="2821859" cy="1498167"/>
              </a:xfrm>
              <a:prstGeom prst="rect">
                <a:avLst/>
              </a:prstGeom>
              <a:noFill/>
            </p:spPr>
            <p:txBody>
              <a:bodyPr wrap="square">
                <a:spAutoFit/>
              </a:bodyPr>
              <a:lstStyle/>
              <a:p>
                <a:pPr>
                  <a:buNone/>
                </a:pPr>
                <a:r>
                  <a:rPr lang="en-IN" b="1" dirty="0">
                    <a:solidFill>
                      <a:srgbClr val="00B050"/>
                    </a:solidFill>
                  </a:rPr>
                  <a:t>Total Number of Outcomes</a:t>
                </a:r>
              </a:p>
              <a:p>
                <a:pPr>
                  <a:buNone/>
                </a:pPr>
                <a:r>
                  <a:rPr lang="en-IN" dirty="0">
                    <a:solidFill>
                      <a:srgbClr val="00B050"/>
                    </a:solidFill>
                  </a:rPr>
                  <a:t>For 4 coins:</a:t>
                </a:r>
              </a:p>
              <a:p>
                <a:pPr>
                  <a:buNone/>
                </a:pPr>
                <a14:m>
                  <m:oMathPara xmlns:m="http://schemas.openxmlformats.org/officeDocument/2006/math">
                    <m:oMathParaPr>
                      <m:jc m:val="centerGroup"/>
                    </m:oMathParaPr>
                    <m:oMath xmlns:m="http://schemas.openxmlformats.org/officeDocument/2006/math">
                      <m:r>
                        <m:rPr>
                          <m:nor/>
                        </m:rPr>
                        <a:rPr lang="en-IN" sz="2800" b="0">
                          <a:solidFill>
                            <a:srgbClr val="00B050"/>
                          </a:solidFill>
                        </a:rPr>
                        <m:t>Total</m:t>
                      </m:r>
                      <m:r>
                        <m:rPr>
                          <m:nor/>
                        </m:rPr>
                        <a:rPr lang="en-IN" sz="2800" b="0" i="1">
                          <a:solidFill>
                            <a:srgbClr val="00B050"/>
                          </a:solidFill>
                        </a:rPr>
                        <m:t> </m:t>
                      </m:r>
                      <m:r>
                        <m:rPr>
                          <m:nor/>
                        </m:rPr>
                        <a:rPr lang="en-IN" sz="2800" b="0" i="1">
                          <a:solidFill>
                            <a:srgbClr val="00B050"/>
                          </a:solidFill>
                        </a:rPr>
                        <m:t>outcomes</m:t>
                      </m:r>
                      <m:r>
                        <a:rPr lang="en-IN" sz="2800" b="0" i="0">
                          <a:solidFill>
                            <a:srgbClr val="00B050"/>
                          </a:solidFill>
                          <a:latin typeface="Cambria Math" panose="02040503050406030204" pitchFamily="18" charset="0"/>
                        </a:rPr>
                        <m:t>=</m:t>
                      </m:r>
                      <m:sSup>
                        <m:sSupPr>
                          <m:ctrlPr>
                            <a:rPr lang="ar-AE" sz="2800" b="0" i="1">
                              <a:solidFill>
                                <a:srgbClr val="00B050"/>
                              </a:solidFill>
                              <a:latin typeface="Cambria Math" panose="02040503050406030204" pitchFamily="18" charset="0"/>
                            </a:rPr>
                          </m:ctrlPr>
                        </m:sSupPr>
                        <m:e>
                          <m:r>
                            <a:rPr lang="ar-AE" sz="2800" b="0" i="0">
                              <a:solidFill>
                                <a:srgbClr val="00B050"/>
                              </a:solidFill>
                              <a:latin typeface="Cambria Math" panose="02040503050406030204" pitchFamily="18" charset="0"/>
                            </a:rPr>
                            <m:t>2</m:t>
                          </m:r>
                        </m:e>
                        <m:sup>
                          <m:r>
                            <a:rPr lang="ar-AE" sz="2800" b="0" i="0">
                              <a:solidFill>
                                <a:srgbClr val="00B050"/>
                              </a:solidFill>
                              <a:latin typeface="Cambria Math" panose="02040503050406030204" pitchFamily="18" charset="0"/>
                            </a:rPr>
                            <m:t>4</m:t>
                          </m:r>
                        </m:sup>
                      </m:sSup>
                      <m:r>
                        <a:rPr lang="ar-AE" sz="2800" b="0" i="0">
                          <a:solidFill>
                            <a:srgbClr val="00B050"/>
                          </a:solidFill>
                          <a:latin typeface="Cambria Math" panose="02040503050406030204" pitchFamily="18" charset="0"/>
                        </a:rPr>
                        <m:t>=</m:t>
                      </m:r>
                      <m:r>
                        <a:rPr lang="ar-AE" sz="2800" b="0" i="0">
                          <a:solidFill>
                            <a:srgbClr val="00B050"/>
                          </a:solidFill>
                          <a:latin typeface="Cambria Math" panose="02040503050406030204" pitchFamily="18" charset="0"/>
                        </a:rPr>
                        <m:t>16</m:t>
                      </m:r>
                    </m:oMath>
                  </m:oMathPara>
                </a14:m>
                <a:endParaRPr lang="ar-AE" sz="2800" b="0" dirty="0">
                  <a:solidFill>
                    <a:srgbClr val="00B050"/>
                  </a:solidFill>
                </a:endParaRPr>
              </a:p>
            </p:txBody>
          </p:sp>
        </mc:Choice>
        <mc:Fallback xmlns="">
          <p:sp>
            <p:nvSpPr>
              <p:cNvPr id="5" name="TextBox 4">
                <a:extLst>
                  <a:ext uri="{FF2B5EF4-FFF2-40B4-BE49-F238E27FC236}">
                    <a16:creationId xmlns:a16="http://schemas.microsoft.com/office/drawing/2014/main" id="{0820B629-5B82-9136-CAA8-C813E5A53EB7}"/>
                  </a:ext>
                </a:extLst>
              </p:cNvPr>
              <p:cNvSpPr txBox="1">
                <a:spLocks noRot="1" noChangeAspect="1" noMove="1" noResize="1" noEditPoints="1" noAdjustHandles="1" noChangeArrowheads="1" noChangeShapeType="1" noTextEdit="1"/>
              </p:cNvSpPr>
              <p:nvPr/>
            </p:nvSpPr>
            <p:spPr>
              <a:xfrm>
                <a:off x="8790038" y="1930833"/>
                <a:ext cx="2821859" cy="1498167"/>
              </a:xfrm>
              <a:prstGeom prst="rect">
                <a:avLst/>
              </a:prstGeom>
              <a:blipFill>
                <a:blip r:embed="rId3"/>
                <a:stretch>
                  <a:fillRect l="-1944" t="-2439"/>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C2D696E5-C77A-0E0C-9A7B-0C98ABA8C13B}"/>
              </a:ext>
            </a:extLst>
          </p:cNvPr>
          <p:cNvPicPr>
            <a:picLocks noChangeAspect="1"/>
          </p:cNvPicPr>
          <p:nvPr/>
        </p:nvPicPr>
        <p:blipFill>
          <a:blip r:embed="rId4"/>
          <a:stretch>
            <a:fillRect/>
          </a:stretch>
        </p:blipFill>
        <p:spPr>
          <a:xfrm>
            <a:off x="357420" y="1255955"/>
            <a:ext cx="7990167" cy="2352577"/>
          </a:xfrm>
          <a:prstGeom prst="rect">
            <a:avLst/>
          </a:prstGeom>
        </p:spPr>
      </p:pic>
      <p:sp>
        <p:nvSpPr>
          <p:cNvPr id="8" name="TextBox 7">
            <a:extLst>
              <a:ext uri="{FF2B5EF4-FFF2-40B4-BE49-F238E27FC236}">
                <a16:creationId xmlns:a16="http://schemas.microsoft.com/office/drawing/2014/main" id="{93CEC3AF-34A2-7F40-979D-B6936110012F}"/>
              </a:ext>
            </a:extLst>
          </p:cNvPr>
          <p:cNvSpPr txBox="1"/>
          <p:nvPr/>
        </p:nvSpPr>
        <p:spPr>
          <a:xfrm>
            <a:off x="7671617" y="3986981"/>
            <a:ext cx="3940279" cy="1077218"/>
          </a:xfrm>
          <a:prstGeom prst="rect">
            <a:avLst/>
          </a:prstGeom>
          <a:noFill/>
        </p:spPr>
        <p:txBody>
          <a:bodyPr wrap="square" rtlCol="0">
            <a:spAutoFit/>
          </a:bodyPr>
          <a:lstStyle/>
          <a:p>
            <a:r>
              <a:rPr lang="en-IN" sz="3200" b="1" dirty="0">
                <a:solidFill>
                  <a:srgbClr val="FF0000"/>
                </a:solidFill>
              </a:rPr>
              <a:t>2. Find the probability  of </a:t>
            </a:r>
            <a:r>
              <a:rPr lang="en-IN" sz="3200" b="1" dirty="0" err="1">
                <a:solidFill>
                  <a:srgbClr val="FF0000"/>
                </a:solidFill>
              </a:rPr>
              <a:t>atleast</a:t>
            </a:r>
            <a:r>
              <a:rPr lang="en-IN" sz="3200" b="1" dirty="0">
                <a:solidFill>
                  <a:srgbClr val="FF0000"/>
                </a:solidFill>
              </a:rPr>
              <a:t> 1 tail ?</a:t>
            </a:r>
          </a:p>
        </p:txBody>
      </p:sp>
    </p:spTree>
    <p:extLst>
      <p:ext uri="{BB962C8B-B14F-4D97-AF65-F5344CB8AC3E}">
        <p14:creationId xmlns:p14="http://schemas.microsoft.com/office/powerpoint/2010/main" val="2290487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4A5D4-FC34-C3FB-A714-F7ADD36371FA}"/>
              </a:ext>
            </a:extLst>
          </p:cNvPr>
          <p:cNvSpPr>
            <a:spLocks noGrp="1"/>
          </p:cNvSpPr>
          <p:nvPr>
            <p:ph type="title"/>
          </p:nvPr>
        </p:nvSpPr>
        <p:spPr>
          <a:xfrm>
            <a:off x="2244213" y="129150"/>
            <a:ext cx="6280355" cy="608269"/>
          </a:xfrm>
        </p:spPr>
        <p:txBody>
          <a:bodyPr>
            <a:normAutofit fontScale="90000"/>
          </a:bodyPr>
          <a:lstStyle/>
          <a:p>
            <a:r>
              <a:rPr lang="en-IN" dirty="0"/>
              <a:t>DICE BASED PROBLEMS </a:t>
            </a:r>
          </a:p>
        </p:txBody>
      </p:sp>
      <p:pic>
        <p:nvPicPr>
          <p:cNvPr id="5" name="Content Placeholder 4">
            <a:extLst>
              <a:ext uri="{FF2B5EF4-FFF2-40B4-BE49-F238E27FC236}">
                <a16:creationId xmlns:a16="http://schemas.microsoft.com/office/drawing/2014/main" id="{4EE079FE-3DD5-65AE-7279-EF643EB47A32}"/>
              </a:ext>
            </a:extLst>
          </p:cNvPr>
          <p:cNvPicPr>
            <a:picLocks noGrp="1" noChangeAspect="1"/>
          </p:cNvPicPr>
          <p:nvPr>
            <p:ph idx="1"/>
          </p:nvPr>
        </p:nvPicPr>
        <p:blipFill>
          <a:blip r:embed="rId2"/>
          <a:stretch>
            <a:fillRect/>
          </a:stretch>
        </p:blipFill>
        <p:spPr>
          <a:xfrm>
            <a:off x="1" y="737419"/>
            <a:ext cx="12191999" cy="6176399"/>
          </a:xfrm>
          <a:prstGeom prst="rect">
            <a:avLst/>
          </a:prstGeom>
        </p:spPr>
      </p:pic>
    </p:spTree>
    <p:extLst>
      <p:ext uri="{BB962C8B-B14F-4D97-AF65-F5344CB8AC3E}">
        <p14:creationId xmlns:p14="http://schemas.microsoft.com/office/powerpoint/2010/main" val="2665868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9A2636-D0B3-5C85-E82E-51AA6B1BB41B}"/>
              </a:ext>
            </a:extLst>
          </p:cNvPr>
          <p:cNvSpPr>
            <a:spLocks noGrp="1"/>
          </p:cNvSpPr>
          <p:nvPr>
            <p:ph idx="1"/>
          </p:nvPr>
        </p:nvSpPr>
        <p:spPr>
          <a:xfrm>
            <a:off x="90948" y="144309"/>
            <a:ext cx="6005052" cy="3562452"/>
          </a:xfrm>
        </p:spPr>
        <p:txBody>
          <a:bodyPr/>
          <a:lstStyle/>
          <a:p>
            <a:pPr fontAlgn="base"/>
            <a:r>
              <a:rPr lang="en-US" dirty="0"/>
              <a:t>Rolling a die we get any number from 1 to 6. </a:t>
            </a:r>
          </a:p>
          <a:p>
            <a:pPr fontAlgn="base"/>
            <a:r>
              <a:rPr lang="en-US" dirty="0"/>
              <a:t>The outcome of any number in case of rolling a single die is 1/6. </a:t>
            </a:r>
          </a:p>
          <a:p>
            <a:pPr fontAlgn="base"/>
            <a:r>
              <a:rPr lang="en-US" dirty="0"/>
              <a:t>This is calculated using the formula,</a:t>
            </a:r>
          </a:p>
          <a:p>
            <a:pPr marL="0" indent="0" fontAlgn="base">
              <a:buNone/>
            </a:pPr>
            <a:r>
              <a:rPr lang="en-US" sz="2000" b="1" i="1" dirty="0">
                <a:solidFill>
                  <a:srgbClr val="FF0000"/>
                </a:solidFill>
              </a:rPr>
              <a:t>Probability = (Favorable Value)/(Total Values)</a:t>
            </a:r>
            <a:endParaRPr lang="en-US" sz="2000" i="1" dirty="0">
              <a:solidFill>
                <a:srgbClr val="FF0000"/>
              </a:solidFill>
            </a:endParaRPr>
          </a:p>
          <a:p>
            <a:endParaRPr lang="en-IN" dirty="0"/>
          </a:p>
        </p:txBody>
      </p:sp>
      <p:pic>
        <p:nvPicPr>
          <p:cNvPr id="5" name="Picture 4">
            <a:extLst>
              <a:ext uri="{FF2B5EF4-FFF2-40B4-BE49-F238E27FC236}">
                <a16:creationId xmlns:a16="http://schemas.microsoft.com/office/drawing/2014/main" id="{39FE6005-7143-B727-7E64-E185EA35A4F6}"/>
              </a:ext>
            </a:extLst>
          </p:cNvPr>
          <p:cNvPicPr>
            <a:picLocks noChangeAspect="1"/>
          </p:cNvPicPr>
          <p:nvPr/>
        </p:nvPicPr>
        <p:blipFill>
          <a:blip r:embed="rId2"/>
          <a:stretch>
            <a:fillRect/>
          </a:stretch>
        </p:blipFill>
        <p:spPr>
          <a:xfrm>
            <a:off x="5977654" y="1925535"/>
            <a:ext cx="6214346" cy="4852197"/>
          </a:xfrm>
          <a:prstGeom prst="rect">
            <a:avLst/>
          </a:prstGeom>
        </p:spPr>
      </p:pic>
    </p:spTree>
    <p:extLst>
      <p:ext uri="{BB962C8B-B14F-4D97-AF65-F5344CB8AC3E}">
        <p14:creationId xmlns:p14="http://schemas.microsoft.com/office/powerpoint/2010/main" val="610039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D491F-B93F-375A-B147-05FE2DDEECB6}"/>
              </a:ext>
            </a:extLst>
          </p:cNvPr>
          <p:cNvSpPr>
            <a:spLocks noGrp="1"/>
          </p:cNvSpPr>
          <p:nvPr>
            <p:ph type="title"/>
          </p:nvPr>
        </p:nvSpPr>
        <p:spPr/>
        <p:txBody>
          <a:bodyPr/>
          <a:lstStyle/>
          <a:p>
            <a:r>
              <a:rPr lang="en-IN" dirty="0"/>
              <a:t>Rolling two Dice</a:t>
            </a:r>
          </a:p>
        </p:txBody>
      </p:sp>
      <p:pic>
        <p:nvPicPr>
          <p:cNvPr id="5" name="Content Placeholder 4">
            <a:extLst>
              <a:ext uri="{FF2B5EF4-FFF2-40B4-BE49-F238E27FC236}">
                <a16:creationId xmlns:a16="http://schemas.microsoft.com/office/drawing/2014/main" id="{92378A46-F992-9DA3-668D-C3E840C75D21}"/>
              </a:ext>
            </a:extLst>
          </p:cNvPr>
          <p:cNvPicPr>
            <a:picLocks noGrp="1" noChangeAspect="1"/>
          </p:cNvPicPr>
          <p:nvPr>
            <p:ph idx="1"/>
          </p:nvPr>
        </p:nvPicPr>
        <p:blipFill>
          <a:blip r:embed="rId2"/>
          <a:stretch>
            <a:fillRect/>
          </a:stretch>
        </p:blipFill>
        <p:spPr>
          <a:xfrm>
            <a:off x="694571" y="1437484"/>
            <a:ext cx="5401429" cy="2905530"/>
          </a:xfrm>
          <a:prstGeom prst="rect">
            <a:avLst/>
          </a:prstGeom>
        </p:spPr>
      </p:pic>
      <p:graphicFrame>
        <p:nvGraphicFramePr>
          <p:cNvPr id="6" name="Table 5">
            <a:extLst>
              <a:ext uri="{FF2B5EF4-FFF2-40B4-BE49-F238E27FC236}">
                <a16:creationId xmlns:a16="http://schemas.microsoft.com/office/drawing/2014/main" id="{F6A0679F-F689-34B0-0B0C-BC941BFF4331}"/>
              </a:ext>
            </a:extLst>
          </p:cNvPr>
          <p:cNvGraphicFramePr>
            <a:graphicFrameLocks noGrp="1"/>
          </p:cNvGraphicFramePr>
          <p:nvPr>
            <p:extLst>
              <p:ext uri="{D42A27DB-BD31-4B8C-83A1-F6EECF244321}">
                <p14:modId xmlns:p14="http://schemas.microsoft.com/office/powerpoint/2010/main" val="1974906143"/>
              </p:ext>
            </p:extLst>
          </p:nvPr>
        </p:nvGraphicFramePr>
        <p:xfrm>
          <a:off x="6263147" y="4155921"/>
          <a:ext cx="5653550" cy="2510347"/>
        </p:xfrm>
        <a:graphic>
          <a:graphicData uri="http://schemas.openxmlformats.org/drawingml/2006/table">
            <a:tbl>
              <a:tblPr>
                <a:tableStyleId>{5C22544A-7EE6-4342-B048-85BDC9FD1C3A}</a:tableStyleId>
              </a:tblPr>
              <a:tblGrid>
                <a:gridCol w="807650">
                  <a:extLst>
                    <a:ext uri="{9D8B030D-6E8A-4147-A177-3AD203B41FA5}">
                      <a16:colId xmlns:a16="http://schemas.microsoft.com/office/drawing/2014/main" val="119905468"/>
                    </a:ext>
                  </a:extLst>
                </a:gridCol>
                <a:gridCol w="807650">
                  <a:extLst>
                    <a:ext uri="{9D8B030D-6E8A-4147-A177-3AD203B41FA5}">
                      <a16:colId xmlns:a16="http://schemas.microsoft.com/office/drawing/2014/main" val="2230504963"/>
                    </a:ext>
                  </a:extLst>
                </a:gridCol>
                <a:gridCol w="807650">
                  <a:extLst>
                    <a:ext uri="{9D8B030D-6E8A-4147-A177-3AD203B41FA5}">
                      <a16:colId xmlns:a16="http://schemas.microsoft.com/office/drawing/2014/main" val="3569853869"/>
                    </a:ext>
                  </a:extLst>
                </a:gridCol>
                <a:gridCol w="807650">
                  <a:extLst>
                    <a:ext uri="{9D8B030D-6E8A-4147-A177-3AD203B41FA5}">
                      <a16:colId xmlns:a16="http://schemas.microsoft.com/office/drawing/2014/main" val="561897411"/>
                    </a:ext>
                  </a:extLst>
                </a:gridCol>
                <a:gridCol w="807650">
                  <a:extLst>
                    <a:ext uri="{9D8B030D-6E8A-4147-A177-3AD203B41FA5}">
                      <a16:colId xmlns:a16="http://schemas.microsoft.com/office/drawing/2014/main" val="454498958"/>
                    </a:ext>
                  </a:extLst>
                </a:gridCol>
                <a:gridCol w="807650">
                  <a:extLst>
                    <a:ext uri="{9D8B030D-6E8A-4147-A177-3AD203B41FA5}">
                      <a16:colId xmlns:a16="http://schemas.microsoft.com/office/drawing/2014/main" val="2977316440"/>
                    </a:ext>
                  </a:extLst>
                </a:gridCol>
                <a:gridCol w="807650">
                  <a:extLst>
                    <a:ext uri="{9D8B030D-6E8A-4147-A177-3AD203B41FA5}">
                      <a16:colId xmlns:a16="http://schemas.microsoft.com/office/drawing/2014/main" val="2382480862"/>
                    </a:ext>
                  </a:extLst>
                </a:gridCol>
              </a:tblGrid>
              <a:tr h="358621">
                <a:tc>
                  <a:txBody>
                    <a:bodyPr/>
                    <a:lstStyle/>
                    <a:p>
                      <a:pPr algn="ctr" fontAlgn="ctr">
                        <a:buNone/>
                      </a:pP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2995635772"/>
                  </a:ext>
                </a:extLst>
              </a:tr>
              <a:tr h="358621">
                <a:tc>
                  <a:txBody>
                    <a:bodyPr/>
                    <a:lstStyle/>
                    <a:p>
                      <a:pPr algn="ctr" fontAlgn="ctr">
                        <a:buNone/>
                      </a:pPr>
                      <a:r>
                        <a:rPr lang="en-IN" sz="1100" u="none" strike="noStrike" dirty="0">
                          <a:effectLst/>
                          <a:highlight>
                            <a:srgbClr val="00FF00"/>
                          </a:highlight>
                        </a:rPr>
                        <a:t>1</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(1,1)</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(1,2)</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308780085"/>
                  </a:ext>
                </a:extLst>
              </a:tr>
              <a:tr h="358621">
                <a:tc>
                  <a:txBody>
                    <a:bodyPr/>
                    <a:lstStyle/>
                    <a:p>
                      <a:pPr algn="ctr" fontAlgn="ctr">
                        <a:buNone/>
                      </a:pPr>
                      <a:r>
                        <a:rPr lang="en-IN" sz="1100" u="none" strike="noStrike" dirty="0">
                          <a:effectLst/>
                          <a:highlight>
                            <a:srgbClr val="00FF00"/>
                          </a:highlight>
                        </a:rPr>
                        <a:t>2</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(2,1)</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(2,3)</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105422503"/>
                  </a:ext>
                </a:extLst>
              </a:tr>
              <a:tr h="358621">
                <a:tc>
                  <a:txBody>
                    <a:bodyPr/>
                    <a:lstStyle/>
                    <a:p>
                      <a:pPr algn="ctr" fontAlgn="ctr">
                        <a:buNone/>
                      </a:pPr>
                      <a:r>
                        <a:rPr lang="en-IN" sz="1100" u="none" strike="noStrike" dirty="0">
                          <a:effectLst/>
                          <a:highlight>
                            <a:srgbClr val="00FF00"/>
                          </a:highlight>
                        </a:rPr>
                        <a:t>3</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(3,1)</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3248345231"/>
                  </a:ext>
                </a:extLst>
              </a:tr>
              <a:tr h="358621">
                <a:tc>
                  <a:txBody>
                    <a:bodyPr/>
                    <a:lstStyle/>
                    <a:p>
                      <a:pPr algn="ctr" fontAlgn="ctr">
                        <a:buNone/>
                      </a:pPr>
                      <a:r>
                        <a:rPr lang="en-IN" sz="1100" u="none" strike="noStrike">
                          <a:effectLst/>
                          <a:highlight>
                            <a:srgbClr val="00FF00"/>
                          </a:highlight>
                        </a:rPr>
                        <a:t>4</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(4,1)</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1186921804"/>
                  </a:ext>
                </a:extLst>
              </a:tr>
              <a:tr h="358621">
                <a:tc>
                  <a:txBody>
                    <a:bodyPr/>
                    <a:lstStyle/>
                    <a:p>
                      <a:pPr algn="ctr" fontAlgn="ctr">
                        <a:buNone/>
                      </a:pPr>
                      <a:r>
                        <a:rPr lang="en-IN" sz="1100" u="none" strike="noStrike" dirty="0">
                          <a:effectLst/>
                          <a:highlight>
                            <a:srgbClr val="00FF00"/>
                          </a:highlight>
                        </a:rPr>
                        <a:t>5</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(5,1)</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4260880099"/>
                  </a:ext>
                </a:extLst>
              </a:tr>
              <a:tr h="358621">
                <a:tc>
                  <a:txBody>
                    <a:bodyPr/>
                    <a:lstStyle/>
                    <a:p>
                      <a:pPr algn="ctr" fontAlgn="ctr">
                        <a:buNone/>
                      </a:pPr>
                      <a:r>
                        <a:rPr lang="en-IN" sz="1100" u="none" strike="noStrike" dirty="0">
                          <a:effectLst/>
                          <a:highlight>
                            <a:srgbClr val="00FF00"/>
                          </a:highlight>
                        </a:rPr>
                        <a:t>6</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(6,1)</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(6,6)</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2427336032"/>
                  </a:ext>
                </a:extLst>
              </a:tr>
            </a:tbl>
          </a:graphicData>
        </a:graphic>
      </p:graphicFrame>
    </p:spTree>
    <p:extLst>
      <p:ext uri="{BB962C8B-B14F-4D97-AF65-F5344CB8AC3E}">
        <p14:creationId xmlns:p14="http://schemas.microsoft.com/office/powerpoint/2010/main" val="11063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95B0E7B-6001-8637-767C-B6D871E0B4F1}"/>
                  </a:ext>
                </a:extLst>
              </p:cNvPr>
              <p:cNvSpPr>
                <a:spLocks noGrp="1"/>
              </p:cNvSpPr>
              <p:nvPr>
                <p:ph type="title"/>
              </p:nvPr>
            </p:nvSpPr>
            <p:spPr/>
            <p:txBody>
              <a:bodyPr>
                <a:normAutofit fontScale="90000"/>
              </a:bodyPr>
              <a:lstStyle/>
              <a:p>
                <a:pPr/>
                <a:r>
                  <a:rPr lang="en-IN" b="1" dirty="0"/>
                  <a:t>General Formula (Dice)</a:t>
                </a:r>
                <a:br>
                  <a:rPr lang="en-IN" b="1" dirty="0"/>
                </a:br>
                <a:r>
                  <a:rPr lang="en-IN" b="1" dirty="0"/>
                  <a:t>For </a:t>
                </a:r>
                <a:r>
                  <a:rPr lang="en-IN" b="1" i="1" dirty="0"/>
                  <a:t>n</a:t>
                </a:r>
                <a:r>
                  <a:rPr lang="en-IN" b="1" dirty="0"/>
                  <a:t> dice:</a:t>
                </a:r>
                <a:br>
                  <a:rPr lang="en-IN" dirty="0"/>
                </a:br>
                <a14:m>
                  <m:oMathPara xmlns:m="http://schemas.openxmlformats.org/officeDocument/2006/math">
                    <m:oMathParaPr>
                      <m:jc m:val="centerGroup"/>
                    </m:oMathParaPr>
                    <m:oMath xmlns:m="http://schemas.openxmlformats.org/officeDocument/2006/math">
                      <m:r>
                        <m:rPr>
                          <m:nor/>
                        </m:rPr>
                        <a:rPr lang="en-IN"/>
                        <m:t>Total</m:t>
                      </m:r>
                      <m:r>
                        <m:rPr>
                          <m:nor/>
                        </m:rPr>
                        <a:rPr lang="en-IN" i="1"/>
                        <m:t> </m:t>
                      </m:r>
                      <m:r>
                        <m:rPr>
                          <m:nor/>
                        </m:rPr>
                        <a:rPr lang="en-IN" i="1"/>
                        <m:t>number</m:t>
                      </m:r>
                      <m:r>
                        <m:rPr>
                          <m:nor/>
                        </m:rPr>
                        <a:rPr lang="en-IN" i="1"/>
                        <m:t> </m:t>
                      </m:r>
                      <m:r>
                        <m:rPr>
                          <m:nor/>
                        </m:rPr>
                        <a:rPr lang="en-IN" i="1"/>
                        <m:t>of</m:t>
                      </m:r>
                      <m:r>
                        <m:rPr>
                          <m:nor/>
                        </m:rPr>
                        <a:rPr lang="en-IN" i="1"/>
                        <m:t> </m:t>
                      </m:r>
                      <m:r>
                        <m:rPr>
                          <m:nor/>
                        </m:rPr>
                        <a:rPr lang="en-IN" i="1"/>
                        <m:t>outcomes</m:t>
                      </m:r>
                      <m:r>
                        <a:rPr lang="en-IN">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6</m:t>
                          </m:r>
                        </m:e>
                        <m:sup>
                          <m:r>
                            <a:rPr lang="ar-AE" i="1">
                              <a:latin typeface="Cambria Math" panose="02040503050406030204" pitchFamily="18" charset="0"/>
                            </a:rPr>
                            <m:t>𝑛</m:t>
                          </m:r>
                        </m:sup>
                      </m:sSup>
                    </m:oMath>
                  </m:oMathPara>
                </a14:m>
                <a:br>
                  <a:rPr lang="ar-AE" dirty="0"/>
                </a:br>
                <a:r>
                  <a:rPr lang="en-IN" dirty="0"/>
                  <a:t> where </a:t>
                </a:r>
                <a:r>
                  <a:rPr lang="en-IN" b="1" dirty="0"/>
                  <a:t>6</a:t>
                </a:r>
                <a:r>
                  <a:rPr lang="en-IN" dirty="0"/>
                  <a:t> = outcomes on one die</a:t>
                </a:r>
                <a:r>
                  <a:rPr lang="en-IN" dirty="0">
                    <a:sym typeface="Wingdings" panose="05000000000000000000" pitchFamily="2" charset="2"/>
                  </a:rPr>
                  <a:t>{1,2,3,4,5,6}</a:t>
                </a:r>
                <a:br>
                  <a:rPr lang="en-IN" dirty="0"/>
                </a:br>
                <a:r>
                  <a:rPr lang="en-IN" dirty="0"/>
                  <a:t> </a:t>
                </a:r>
                <a:r>
                  <a:rPr lang="en-IN" b="1" dirty="0"/>
                  <a:t>n</a:t>
                </a:r>
                <a:r>
                  <a:rPr lang="en-IN" dirty="0"/>
                  <a:t> = number of dice</a:t>
                </a:r>
                <a:br>
                  <a:rPr lang="en-IN" dirty="0"/>
                </a:br>
                <a:endParaRPr lang="en-IN" dirty="0"/>
              </a:p>
            </p:txBody>
          </p:sp>
        </mc:Choice>
        <mc:Fallback xmlns="">
          <p:sp>
            <p:nvSpPr>
              <p:cNvPr id="2" name="Title 1">
                <a:extLst>
                  <a:ext uri="{FF2B5EF4-FFF2-40B4-BE49-F238E27FC236}">
                    <a16:creationId xmlns:a16="http://schemas.microsoft.com/office/drawing/2014/main" id="{695B0E7B-6001-8637-767C-B6D871E0B4F1}"/>
                  </a:ext>
                </a:extLst>
              </p:cNvPr>
              <p:cNvSpPr>
                <a:spLocks noGrp="1" noRot="1" noChangeAspect="1" noMove="1" noResize="1" noEditPoints="1" noAdjustHandles="1" noChangeArrowheads="1" noChangeShapeType="1" noTextEdit="1"/>
              </p:cNvSpPr>
              <p:nvPr>
                <p:ph type="title"/>
              </p:nvPr>
            </p:nvSpPr>
            <p:spPr>
              <a:blipFill>
                <a:blip r:embed="rId2"/>
                <a:stretch>
                  <a:fillRect l="-2087" t="-90783" b="-562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A6D19D-FF66-18C7-D969-C4B5A9B66B47}"/>
                  </a:ext>
                </a:extLst>
              </p:cNvPr>
              <p:cNvSpPr>
                <a:spLocks noGrp="1"/>
              </p:cNvSpPr>
              <p:nvPr>
                <p:ph idx="1"/>
              </p:nvPr>
            </p:nvSpPr>
            <p:spPr>
              <a:xfrm>
                <a:off x="926690" y="2291120"/>
                <a:ext cx="6152535" cy="4290040"/>
              </a:xfrm>
            </p:spPr>
            <p:txBody>
              <a:bodyPr/>
              <a:lstStyle/>
              <a:p>
                <a:r>
                  <a:rPr lang="en-IN" b="1" dirty="0"/>
                  <a:t>Total Number of Outcomes (Dice)</a:t>
                </a:r>
              </a:p>
              <a:p>
                <a:r>
                  <a:rPr lang="en-IN" b="1" dirty="0"/>
                  <a:t>For 1 die:</a:t>
                </a:r>
                <a:br>
                  <a:rPr lang="en-IN" dirty="0"/>
                </a:br>
                <a:r>
                  <a:rPr lang="en-IN" dirty="0"/>
                  <a:t>Total outcomes =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6</m:t>
                        </m:r>
                      </m:e>
                      <m:sup>
                        <m:r>
                          <a:rPr lang="ar-AE">
                            <a:latin typeface="Cambria Math" panose="02040503050406030204" pitchFamily="18" charset="0"/>
                          </a:rPr>
                          <m:t>1</m:t>
                        </m:r>
                      </m:sup>
                    </m:sSup>
                    <m:r>
                      <a:rPr lang="ar-AE">
                        <a:latin typeface="Cambria Math" panose="02040503050406030204" pitchFamily="18" charset="0"/>
                      </a:rPr>
                      <m:t>=</m:t>
                    </m:r>
                    <m:r>
                      <a:rPr lang="ar-AE">
                        <a:latin typeface="Cambria Math" panose="02040503050406030204" pitchFamily="18" charset="0"/>
                      </a:rPr>
                      <m:t>6</m:t>
                    </m:r>
                  </m:oMath>
                </a14:m>
                <a:endParaRPr lang="ar-AE" dirty="0"/>
              </a:p>
              <a:p>
                <a:r>
                  <a:rPr lang="en-IN" b="1" dirty="0"/>
                  <a:t>For 2 dice:</a:t>
                </a:r>
                <a:br>
                  <a:rPr lang="en-IN" dirty="0"/>
                </a:br>
                <a:r>
                  <a:rPr lang="en-IN" dirty="0"/>
                  <a:t>Total outcomes =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6</m:t>
                        </m:r>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36</m:t>
                    </m:r>
                  </m:oMath>
                </a14:m>
                <a:endParaRPr lang="ar-AE" dirty="0"/>
              </a:p>
              <a:p>
                <a:r>
                  <a:rPr lang="en-IN" b="1" dirty="0"/>
                  <a:t>For 3 dice:</a:t>
                </a:r>
                <a:br>
                  <a:rPr lang="en-IN" dirty="0"/>
                </a:br>
                <a:r>
                  <a:rPr lang="en-IN" dirty="0"/>
                  <a:t>Total outcomes =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6</m:t>
                        </m:r>
                      </m:e>
                      <m:sup>
                        <m:r>
                          <a:rPr lang="ar-AE">
                            <a:latin typeface="Cambria Math" panose="02040503050406030204" pitchFamily="18" charset="0"/>
                          </a:rPr>
                          <m:t>3</m:t>
                        </m:r>
                      </m:sup>
                    </m:sSup>
                    <m:r>
                      <a:rPr lang="ar-AE">
                        <a:latin typeface="Cambria Math" panose="02040503050406030204" pitchFamily="18" charset="0"/>
                      </a:rPr>
                      <m:t>=</m:t>
                    </m:r>
                    <m:r>
                      <a:rPr lang="ar-AE">
                        <a:latin typeface="Cambria Math" panose="02040503050406030204" pitchFamily="18" charset="0"/>
                      </a:rPr>
                      <m:t>216</m:t>
                    </m:r>
                  </m:oMath>
                </a14:m>
                <a:endParaRPr lang="ar-AE" dirty="0"/>
              </a:p>
              <a:p>
                <a:r>
                  <a:rPr lang="en-IN" b="1" dirty="0"/>
                  <a:t>For 4 dice:</a:t>
                </a:r>
                <a:br>
                  <a:rPr lang="en-IN" dirty="0"/>
                </a:br>
                <a:r>
                  <a:rPr lang="en-IN" dirty="0"/>
                  <a:t>Total outcomes =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6</m:t>
                        </m:r>
                      </m:e>
                      <m:sup>
                        <m:r>
                          <a:rPr lang="ar-AE">
                            <a:latin typeface="Cambria Math" panose="02040503050406030204" pitchFamily="18" charset="0"/>
                          </a:rPr>
                          <m:t>4</m:t>
                        </m:r>
                      </m:sup>
                    </m:sSup>
                    <m:r>
                      <a:rPr lang="ar-AE">
                        <a:latin typeface="Cambria Math" panose="02040503050406030204" pitchFamily="18" charset="0"/>
                      </a:rPr>
                      <m:t>=</m:t>
                    </m:r>
                    <m:r>
                      <a:rPr lang="ar-AE">
                        <a:latin typeface="Cambria Math" panose="02040503050406030204" pitchFamily="18" charset="0"/>
                      </a:rPr>
                      <m:t>1296</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47A6D19D-FF66-18C7-D969-C4B5A9B66B47}"/>
                  </a:ext>
                </a:extLst>
              </p:cNvPr>
              <p:cNvSpPr>
                <a:spLocks noGrp="1" noRot="1" noChangeAspect="1" noMove="1" noResize="1" noEditPoints="1" noAdjustHandles="1" noChangeArrowheads="1" noChangeShapeType="1" noTextEdit="1"/>
              </p:cNvSpPr>
              <p:nvPr>
                <p:ph idx="1"/>
              </p:nvPr>
            </p:nvSpPr>
            <p:spPr>
              <a:xfrm>
                <a:off x="926690" y="2291120"/>
                <a:ext cx="6152535" cy="4290040"/>
              </a:xfrm>
              <a:blipFill>
                <a:blip r:embed="rId3"/>
                <a:stretch>
                  <a:fillRect l="-1784" t="-2415"/>
                </a:stretch>
              </a:blipFill>
            </p:spPr>
            <p:txBody>
              <a:bodyPr/>
              <a:lstStyle/>
              <a:p>
                <a:r>
                  <a:rPr lang="en-IN">
                    <a:noFill/>
                  </a:rPr>
                  <a:t> </a:t>
                </a:r>
              </a:p>
            </p:txBody>
          </p:sp>
        </mc:Fallback>
      </mc:AlternateContent>
    </p:spTree>
    <p:extLst>
      <p:ext uri="{BB962C8B-B14F-4D97-AF65-F5344CB8AC3E}">
        <p14:creationId xmlns:p14="http://schemas.microsoft.com/office/powerpoint/2010/main" val="936273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F2F70-B956-E0E3-1326-0AFABDC21535}"/>
              </a:ext>
            </a:extLst>
          </p:cNvPr>
          <p:cNvSpPr>
            <a:spLocks noGrp="1"/>
          </p:cNvSpPr>
          <p:nvPr>
            <p:ph idx="1"/>
          </p:nvPr>
        </p:nvSpPr>
        <p:spPr>
          <a:xfrm>
            <a:off x="838204" y="2568395"/>
            <a:ext cx="10515600" cy="4351338"/>
          </a:xfrm>
        </p:spPr>
        <p:txBody>
          <a:bodyPr/>
          <a:lstStyle/>
          <a:p>
            <a:pPr marL="0" indent="0">
              <a:buNone/>
            </a:pPr>
            <a:r>
              <a:rPr lang="en-US" dirty="0"/>
              <a:t>1.In a single throw of two dice, find the probability of getting a sum of </a:t>
            </a:r>
            <a:r>
              <a:rPr lang="en-US" b="1" dirty="0"/>
              <a:t>3 or 5</a:t>
            </a:r>
            <a:r>
              <a:rPr lang="en-US" dirty="0"/>
              <a:t>.</a:t>
            </a:r>
          </a:p>
          <a:p>
            <a:pPr marL="0" indent="0">
              <a:buNone/>
            </a:pPr>
            <a:endParaRPr lang="en-IN" dirty="0"/>
          </a:p>
        </p:txBody>
      </p:sp>
      <p:graphicFrame>
        <p:nvGraphicFramePr>
          <p:cNvPr id="4" name="Table 3">
            <a:extLst>
              <a:ext uri="{FF2B5EF4-FFF2-40B4-BE49-F238E27FC236}">
                <a16:creationId xmlns:a16="http://schemas.microsoft.com/office/drawing/2014/main" id="{F730BD3E-21C9-266C-9891-26B712CA34B7}"/>
              </a:ext>
            </a:extLst>
          </p:cNvPr>
          <p:cNvGraphicFramePr>
            <a:graphicFrameLocks noGrp="1"/>
          </p:cNvGraphicFramePr>
          <p:nvPr>
            <p:extLst>
              <p:ext uri="{D42A27DB-BD31-4B8C-83A1-F6EECF244321}">
                <p14:modId xmlns:p14="http://schemas.microsoft.com/office/powerpoint/2010/main" val="2401199499"/>
              </p:ext>
            </p:extLst>
          </p:nvPr>
        </p:nvGraphicFramePr>
        <p:xfrm>
          <a:off x="838196" y="3736849"/>
          <a:ext cx="7057106" cy="2560320"/>
        </p:xfrm>
        <a:graphic>
          <a:graphicData uri="http://schemas.openxmlformats.org/drawingml/2006/table">
            <a:tbl>
              <a:tblPr/>
              <a:tblGrid>
                <a:gridCol w="1008158">
                  <a:extLst>
                    <a:ext uri="{9D8B030D-6E8A-4147-A177-3AD203B41FA5}">
                      <a16:colId xmlns:a16="http://schemas.microsoft.com/office/drawing/2014/main" val="2191418038"/>
                    </a:ext>
                  </a:extLst>
                </a:gridCol>
                <a:gridCol w="1008158">
                  <a:extLst>
                    <a:ext uri="{9D8B030D-6E8A-4147-A177-3AD203B41FA5}">
                      <a16:colId xmlns:a16="http://schemas.microsoft.com/office/drawing/2014/main" val="1547688742"/>
                    </a:ext>
                  </a:extLst>
                </a:gridCol>
                <a:gridCol w="1008158">
                  <a:extLst>
                    <a:ext uri="{9D8B030D-6E8A-4147-A177-3AD203B41FA5}">
                      <a16:colId xmlns:a16="http://schemas.microsoft.com/office/drawing/2014/main" val="2280845771"/>
                    </a:ext>
                  </a:extLst>
                </a:gridCol>
                <a:gridCol w="1008158">
                  <a:extLst>
                    <a:ext uri="{9D8B030D-6E8A-4147-A177-3AD203B41FA5}">
                      <a16:colId xmlns:a16="http://schemas.microsoft.com/office/drawing/2014/main" val="722348681"/>
                    </a:ext>
                  </a:extLst>
                </a:gridCol>
                <a:gridCol w="1008158">
                  <a:extLst>
                    <a:ext uri="{9D8B030D-6E8A-4147-A177-3AD203B41FA5}">
                      <a16:colId xmlns:a16="http://schemas.microsoft.com/office/drawing/2014/main" val="83848086"/>
                    </a:ext>
                  </a:extLst>
                </a:gridCol>
                <a:gridCol w="1008158">
                  <a:extLst>
                    <a:ext uri="{9D8B030D-6E8A-4147-A177-3AD203B41FA5}">
                      <a16:colId xmlns:a16="http://schemas.microsoft.com/office/drawing/2014/main" val="957695899"/>
                    </a:ext>
                  </a:extLst>
                </a:gridCol>
                <a:gridCol w="1008158">
                  <a:extLst>
                    <a:ext uri="{9D8B030D-6E8A-4147-A177-3AD203B41FA5}">
                      <a16:colId xmlns:a16="http://schemas.microsoft.com/office/drawing/2014/main" val="3726935533"/>
                    </a:ext>
                  </a:extLst>
                </a:gridCol>
              </a:tblGrid>
              <a:tr h="365114">
                <a:tc>
                  <a:txBody>
                    <a:bodyPr/>
                    <a:lstStyle/>
                    <a:p>
                      <a:pPr>
                        <a:buNone/>
                      </a:pPr>
                      <a:endParaRPr lang="en-IN" sz="1800"/>
                    </a:p>
                  </a:txBody>
                  <a:tcPr anchor="ctr">
                    <a:lnL>
                      <a:noFill/>
                    </a:lnL>
                    <a:lnR>
                      <a:noFill/>
                    </a:lnR>
                    <a:lnT>
                      <a:noFill/>
                    </a:lnT>
                    <a:lnB>
                      <a:noFill/>
                    </a:lnB>
                    <a:noFill/>
                  </a:tcPr>
                </a:tc>
                <a:tc>
                  <a:txBody>
                    <a:bodyPr/>
                    <a:lstStyle/>
                    <a:p>
                      <a:pPr>
                        <a:buNone/>
                      </a:pPr>
                      <a:r>
                        <a:rPr lang="en-IN" sz="1800" b="1"/>
                        <a:t>1</a:t>
                      </a:r>
                      <a:endParaRPr lang="en-IN" sz="1800"/>
                    </a:p>
                  </a:txBody>
                  <a:tcPr anchor="ctr">
                    <a:lnL>
                      <a:noFill/>
                    </a:lnL>
                    <a:lnR>
                      <a:noFill/>
                    </a:lnR>
                    <a:lnT>
                      <a:noFill/>
                    </a:lnT>
                    <a:lnB>
                      <a:noFill/>
                    </a:lnB>
                    <a:noFill/>
                  </a:tcPr>
                </a:tc>
                <a:tc>
                  <a:txBody>
                    <a:bodyPr/>
                    <a:lstStyle/>
                    <a:p>
                      <a:pPr>
                        <a:buNone/>
                      </a:pPr>
                      <a:r>
                        <a:rPr lang="en-IN" sz="1800" b="1"/>
                        <a:t>2</a:t>
                      </a:r>
                      <a:endParaRPr lang="en-IN" sz="1800"/>
                    </a:p>
                  </a:txBody>
                  <a:tcPr anchor="ctr">
                    <a:lnL>
                      <a:noFill/>
                    </a:lnL>
                    <a:lnR>
                      <a:noFill/>
                    </a:lnR>
                    <a:lnT>
                      <a:noFill/>
                    </a:lnT>
                    <a:lnB>
                      <a:noFill/>
                    </a:lnB>
                    <a:noFill/>
                  </a:tcPr>
                </a:tc>
                <a:tc>
                  <a:txBody>
                    <a:bodyPr/>
                    <a:lstStyle/>
                    <a:p>
                      <a:pPr>
                        <a:buNone/>
                      </a:pPr>
                      <a:r>
                        <a:rPr lang="en-IN" sz="1800" b="1" dirty="0"/>
                        <a:t>3</a:t>
                      </a:r>
                      <a:endParaRPr lang="en-IN" sz="1800" dirty="0"/>
                    </a:p>
                  </a:txBody>
                  <a:tcPr anchor="ctr">
                    <a:lnL>
                      <a:noFill/>
                    </a:lnL>
                    <a:lnR>
                      <a:noFill/>
                    </a:lnR>
                    <a:lnT>
                      <a:noFill/>
                    </a:lnT>
                    <a:lnB>
                      <a:noFill/>
                    </a:lnB>
                    <a:noFill/>
                  </a:tcPr>
                </a:tc>
                <a:tc>
                  <a:txBody>
                    <a:bodyPr/>
                    <a:lstStyle/>
                    <a:p>
                      <a:pPr>
                        <a:buNone/>
                      </a:pPr>
                      <a:r>
                        <a:rPr lang="en-IN" sz="1800" b="1"/>
                        <a:t>4</a:t>
                      </a:r>
                      <a:endParaRPr lang="en-IN" sz="1800"/>
                    </a:p>
                  </a:txBody>
                  <a:tcPr anchor="ctr">
                    <a:lnL>
                      <a:noFill/>
                    </a:lnL>
                    <a:lnR>
                      <a:noFill/>
                    </a:lnR>
                    <a:lnT>
                      <a:noFill/>
                    </a:lnT>
                    <a:lnB>
                      <a:noFill/>
                    </a:lnB>
                    <a:noFill/>
                  </a:tcPr>
                </a:tc>
                <a:tc>
                  <a:txBody>
                    <a:bodyPr/>
                    <a:lstStyle/>
                    <a:p>
                      <a:pPr>
                        <a:buNone/>
                      </a:pPr>
                      <a:r>
                        <a:rPr lang="en-IN" sz="1800" b="1"/>
                        <a:t>5</a:t>
                      </a:r>
                      <a:endParaRPr lang="en-IN" sz="1800"/>
                    </a:p>
                  </a:txBody>
                  <a:tcPr anchor="ctr">
                    <a:lnL>
                      <a:noFill/>
                    </a:lnL>
                    <a:lnR>
                      <a:noFill/>
                    </a:lnR>
                    <a:lnT>
                      <a:noFill/>
                    </a:lnT>
                    <a:lnB>
                      <a:noFill/>
                    </a:lnB>
                    <a:noFill/>
                  </a:tcPr>
                </a:tc>
                <a:tc>
                  <a:txBody>
                    <a:bodyPr/>
                    <a:lstStyle/>
                    <a:p>
                      <a:pPr>
                        <a:buNone/>
                      </a:pPr>
                      <a:r>
                        <a:rPr lang="en-IN" sz="1800" b="1"/>
                        <a:t>6</a:t>
                      </a:r>
                      <a:endParaRPr lang="en-IN" sz="1800"/>
                    </a:p>
                  </a:txBody>
                  <a:tcPr anchor="ctr">
                    <a:lnL>
                      <a:noFill/>
                    </a:lnL>
                    <a:lnR>
                      <a:noFill/>
                    </a:lnR>
                    <a:lnT>
                      <a:noFill/>
                    </a:lnT>
                    <a:lnB>
                      <a:noFill/>
                    </a:lnB>
                    <a:noFill/>
                  </a:tcPr>
                </a:tc>
                <a:extLst>
                  <a:ext uri="{0D108BD9-81ED-4DB2-BD59-A6C34878D82A}">
                    <a16:rowId xmlns:a16="http://schemas.microsoft.com/office/drawing/2014/main" val="4026631115"/>
                  </a:ext>
                </a:extLst>
              </a:tr>
              <a:tr h="365114">
                <a:tc>
                  <a:txBody>
                    <a:bodyPr/>
                    <a:lstStyle/>
                    <a:p>
                      <a:pPr>
                        <a:buNone/>
                      </a:pPr>
                      <a:r>
                        <a:rPr lang="en-IN" sz="1800" b="1"/>
                        <a:t>1</a:t>
                      </a:r>
                      <a:endParaRPr lang="en-IN" sz="1800"/>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tc>
                  <a:txBody>
                    <a:bodyPr/>
                    <a:lstStyle/>
                    <a:p>
                      <a:pPr>
                        <a:buNone/>
                      </a:pPr>
                      <a:r>
                        <a:rPr lang="en-IN" sz="1800"/>
                        <a:t>🔴(1,2)</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r>
                        <a:rPr lang="en-IN" sz="1800"/>
                        <a:t>🟢(1,4)</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val="751719195"/>
                  </a:ext>
                </a:extLst>
              </a:tr>
              <a:tr h="365114">
                <a:tc>
                  <a:txBody>
                    <a:bodyPr/>
                    <a:lstStyle/>
                    <a:p>
                      <a:pPr>
                        <a:buNone/>
                      </a:pPr>
                      <a:r>
                        <a:rPr lang="en-IN" sz="1800" b="1"/>
                        <a:t>2</a:t>
                      </a:r>
                      <a:endParaRPr lang="en-IN" sz="1800"/>
                    </a:p>
                  </a:txBody>
                  <a:tcPr anchor="ctr">
                    <a:lnL>
                      <a:noFill/>
                    </a:lnL>
                    <a:lnR>
                      <a:noFill/>
                    </a:lnR>
                    <a:lnT>
                      <a:noFill/>
                    </a:lnT>
                    <a:lnB>
                      <a:noFill/>
                    </a:lnB>
                    <a:noFill/>
                  </a:tcPr>
                </a:tc>
                <a:tc>
                  <a:txBody>
                    <a:bodyPr/>
                    <a:lstStyle/>
                    <a:p>
                      <a:pPr>
                        <a:buNone/>
                      </a:pPr>
                      <a:r>
                        <a:rPr lang="en-IN" sz="1800"/>
                        <a:t>🔴(2,1)</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r>
                        <a:rPr lang="en-IN" sz="1800"/>
                        <a:t>🟢(2,3)</a:t>
                      </a:r>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val="4016528304"/>
                  </a:ext>
                </a:extLst>
              </a:tr>
              <a:tr h="365114">
                <a:tc>
                  <a:txBody>
                    <a:bodyPr/>
                    <a:lstStyle/>
                    <a:p>
                      <a:pPr>
                        <a:buNone/>
                      </a:pPr>
                      <a:r>
                        <a:rPr lang="en-IN" sz="1800" b="1"/>
                        <a:t>3</a:t>
                      </a: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r>
                        <a:rPr lang="en-IN" sz="1800"/>
                        <a:t>🟢(3,2)</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val="4006988000"/>
                  </a:ext>
                </a:extLst>
              </a:tr>
              <a:tr h="365114">
                <a:tc>
                  <a:txBody>
                    <a:bodyPr/>
                    <a:lstStyle/>
                    <a:p>
                      <a:pPr>
                        <a:buNone/>
                      </a:pPr>
                      <a:r>
                        <a:rPr lang="en-IN" sz="1800" b="1"/>
                        <a:t>4</a:t>
                      </a:r>
                      <a:endParaRPr lang="en-IN" sz="1800"/>
                    </a:p>
                  </a:txBody>
                  <a:tcPr anchor="ctr">
                    <a:lnL>
                      <a:noFill/>
                    </a:lnL>
                    <a:lnR>
                      <a:noFill/>
                    </a:lnR>
                    <a:lnT>
                      <a:noFill/>
                    </a:lnT>
                    <a:lnB>
                      <a:noFill/>
                    </a:lnB>
                    <a:noFill/>
                  </a:tcPr>
                </a:tc>
                <a:tc>
                  <a:txBody>
                    <a:bodyPr/>
                    <a:lstStyle/>
                    <a:p>
                      <a:pPr>
                        <a:buNone/>
                      </a:pPr>
                      <a:r>
                        <a:rPr lang="en-IN" sz="1800"/>
                        <a:t>🟢(4,1)</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val="1301809792"/>
                  </a:ext>
                </a:extLst>
              </a:tr>
              <a:tr h="365114">
                <a:tc>
                  <a:txBody>
                    <a:bodyPr/>
                    <a:lstStyle/>
                    <a:p>
                      <a:pPr>
                        <a:buNone/>
                      </a:pPr>
                      <a:r>
                        <a:rPr lang="en-IN" sz="1800" b="1"/>
                        <a:t>5</a:t>
                      </a: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val="2664090378"/>
                  </a:ext>
                </a:extLst>
              </a:tr>
              <a:tr h="365114">
                <a:tc>
                  <a:txBody>
                    <a:bodyPr/>
                    <a:lstStyle/>
                    <a:p>
                      <a:pPr>
                        <a:buNone/>
                      </a:pPr>
                      <a:r>
                        <a:rPr lang="en-IN" sz="1800" b="1"/>
                        <a:t>6</a:t>
                      </a: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extLst>
                  <a:ext uri="{0D108BD9-81ED-4DB2-BD59-A6C34878D82A}">
                    <a16:rowId xmlns:a16="http://schemas.microsoft.com/office/drawing/2014/main" val="1549058029"/>
                  </a:ext>
                </a:extLst>
              </a:tr>
            </a:tbl>
          </a:graphicData>
        </a:graphic>
      </p:graphicFrame>
      <p:graphicFrame>
        <p:nvGraphicFramePr>
          <p:cNvPr id="6" name="Table 5">
            <a:extLst>
              <a:ext uri="{FF2B5EF4-FFF2-40B4-BE49-F238E27FC236}">
                <a16:creationId xmlns:a16="http://schemas.microsoft.com/office/drawing/2014/main" id="{78179D0D-25EA-ED79-0D53-76C021ABED3E}"/>
              </a:ext>
            </a:extLst>
          </p:cNvPr>
          <p:cNvGraphicFramePr>
            <a:graphicFrameLocks noGrp="1"/>
          </p:cNvGraphicFramePr>
          <p:nvPr>
            <p:extLst>
              <p:ext uri="{D42A27DB-BD31-4B8C-83A1-F6EECF244321}">
                <p14:modId xmlns:p14="http://schemas.microsoft.com/office/powerpoint/2010/main" val="1958250083"/>
              </p:ext>
            </p:extLst>
          </p:nvPr>
        </p:nvGraphicFramePr>
        <p:xfrm>
          <a:off x="0" y="0"/>
          <a:ext cx="4129545" cy="2113937"/>
        </p:xfrm>
        <a:graphic>
          <a:graphicData uri="http://schemas.openxmlformats.org/drawingml/2006/table">
            <a:tbl>
              <a:tblPr>
                <a:tableStyleId>{5C22544A-7EE6-4342-B048-85BDC9FD1C3A}</a:tableStyleId>
              </a:tblPr>
              <a:tblGrid>
                <a:gridCol w="589935">
                  <a:extLst>
                    <a:ext uri="{9D8B030D-6E8A-4147-A177-3AD203B41FA5}">
                      <a16:colId xmlns:a16="http://schemas.microsoft.com/office/drawing/2014/main" val="119905468"/>
                    </a:ext>
                  </a:extLst>
                </a:gridCol>
                <a:gridCol w="589935">
                  <a:extLst>
                    <a:ext uri="{9D8B030D-6E8A-4147-A177-3AD203B41FA5}">
                      <a16:colId xmlns:a16="http://schemas.microsoft.com/office/drawing/2014/main" val="2230504963"/>
                    </a:ext>
                  </a:extLst>
                </a:gridCol>
                <a:gridCol w="589935">
                  <a:extLst>
                    <a:ext uri="{9D8B030D-6E8A-4147-A177-3AD203B41FA5}">
                      <a16:colId xmlns:a16="http://schemas.microsoft.com/office/drawing/2014/main" val="3569853869"/>
                    </a:ext>
                  </a:extLst>
                </a:gridCol>
                <a:gridCol w="589935">
                  <a:extLst>
                    <a:ext uri="{9D8B030D-6E8A-4147-A177-3AD203B41FA5}">
                      <a16:colId xmlns:a16="http://schemas.microsoft.com/office/drawing/2014/main" val="561897411"/>
                    </a:ext>
                  </a:extLst>
                </a:gridCol>
                <a:gridCol w="589935">
                  <a:extLst>
                    <a:ext uri="{9D8B030D-6E8A-4147-A177-3AD203B41FA5}">
                      <a16:colId xmlns:a16="http://schemas.microsoft.com/office/drawing/2014/main" val="454498958"/>
                    </a:ext>
                  </a:extLst>
                </a:gridCol>
                <a:gridCol w="589935">
                  <a:extLst>
                    <a:ext uri="{9D8B030D-6E8A-4147-A177-3AD203B41FA5}">
                      <a16:colId xmlns:a16="http://schemas.microsoft.com/office/drawing/2014/main" val="2977316440"/>
                    </a:ext>
                  </a:extLst>
                </a:gridCol>
                <a:gridCol w="589935">
                  <a:extLst>
                    <a:ext uri="{9D8B030D-6E8A-4147-A177-3AD203B41FA5}">
                      <a16:colId xmlns:a16="http://schemas.microsoft.com/office/drawing/2014/main" val="2382480862"/>
                    </a:ext>
                  </a:extLst>
                </a:gridCol>
              </a:tblGrid>
              <a:tr h="301991">
                <a:tc>
                  <a:txBody>
                    <a:bodyPr/>
                    <a:lstStyle/>
                    <a:p>
                      <a:pPr algn="ctr" fontAlgn="ctr">
                        <a:buNone/>
                      </a:pP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2995635772"/>
                  </a:ext>
                </a:extLst>
              </a:tr>
              <a:tr h="301991">
                <a:tc>
                  <a:txBody>
                    <a:bodyPr/>
                    <a:lstStyle/>
                    <a:p>
                      <a:pPr algn="ctr" fontAlgn="ctr">
                        <a:buNone/>
                      </a:pPr>
                      <a:r>
                        <a:rPr lang="en-IN" sz="1100" u="none" strike="noStrike" dirty="0">
                          <a:effectLst/>
                          <a:highlight>
                            <a:srgbClr val="00FF00"/>
                          </a:highlight>
                        </a:rPr>
                        <a:t>1</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(1,1)</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(1,2)</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(1,6)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308780085"/>
                  </a:ext>
                </a:extLst>
              </a:tr>
              <a:tr h="301991">
                <a:tc>
                  <a:txBody>
                    <a:bodyPr/>
                    <a:lstStyle/>
                    <a:p>
                      <a:pPr algn="ctr" fontAlgn="ctr">
                        <a:buNone/>
                      </a:pPr>
                      <a:r>
                        <a:rPr lang="en-IN" sz="1100" u="none" strike="noStrike" dirty="0">
                          <a:effectLst/>
                          <a:highlight>
                            <a:srgbClr val="00FF00"/>
                          </a:highlight>
                        </a:rPr>
                        <a:t>2</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(2,1)</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(2,3)</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(2,6)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105422503"/>
                  </a:ext>
                </a:extLst>
              </a:tr>
              <a:tr h="301991">
                <a:tc>
                  <a:txBody>
                    <a:bodyPr/>
                    <a:lstStyle/>
                    <a:p>
                      <a:pPr algn="ctr" fontAlgn="ctr">
                        <a:buNone/>
                      </a:pPr>
                      <a:r>
                        <a:rPr lang="en-IN" sz="1100" u="none" strike="noStrike" dirty="0">
                          <a:effectLst/>
                          <a:highlight>
                            <a:srgbClr val="00FF00"/>
                          </a:highlight>
                        </a:rPr>
                        <a:t>3</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(3,1)</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(3,6)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3248345231"/>
                  </a:ext>
                </a:extLst>
              </a:tr>
              <a:tr h="301991">
                <a:tc>
                  <a:txBody>
                    <a:bodyPr/>
                    <a:lstStyle/>
                    <a:p>
                      <a:pPr algn="ctr" fontAlgn="ctr">
                        <a:buNone/>
                      </a:pPr>
                      <a:r>
                        <a:rPr lang="en-IN" sz="1100" u="none" strike="noStrike">
                          <a:effectLst/>
                          <a:highlight>
                            <a:srgbClr val="00FF00"/>
                          </a:highlight>
                        </a:rPr>
                        <a:t>4</a:t>
                      </a:r>
                      <a:endParaRPr lang="en-IN" sz="1100" b="1"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(4,1)</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(4,6)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1186921804"/>
                  </a:ext>
                </a:extLst>
              </a:tr>
              <a:tr h="301991">
                <a:tc>
                  <a:txBody>
                    <a:bodyPr/>
                    <a:lstStyle/>
                    <a:p>
                      <a:pPr algn="ctr" fontAlgn="ctr">
                        <a:buNone/>
                      </a:pPr>
                      <a:r>
                        <a:rPr lang="en-IN" sz="1100" u="none" strike="noStrike" dirty="0">
                          <a:effectLst/>
                          <a:highlight>
                            <a:srgbClr val="00FF00"/>
                          </a:highlight>
                        </a:rPr>
                        <a:t>5</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(5,1)</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(5,6)</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4260880099"/>
                  </a:ext>
                </a:extLst>
              </a:tr>
              <a:tr h="301991">
                <a:tc>
                  <a:txBody>
                    <a:bodyPr/>
                    <a:lstStyle/>
                    <a:p>
                      <a:pPr algn="ctr" fontAlgn="ctr">
                        <a:buNone/>
                      </a:pPr>
                      <a:r>
                        <a:rPr lang="en-IN" sz="1100" u="none" strike="noStrike" dirty="0">
                          <a:effectLst/>
                          <a:highlight>
                            <a:srgbClr val="00FF00"/>
                          </a:highlight>
                        </a:rPr>
                        <a:t>6</a:t>
                      </a:r>
                      <a:endParaRPr lang="en-IN" sz="1100" b="1" i="0" u="none" strike="noStrike" dirty="0">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(6,1)</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(6,2)</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(6,3)</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(6,4)</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a:effectLst/>
                          <a:highlight>
                            <a:srgbClr val="00FF00"/>
                          </a:highlight>
                        </a:rPr>
                        <a:t>(6,5)</a:t>
                      </a:r>
                      <a:endParaRPr lang="en-IN" sz="1100" b="0" i="0" u="none" strike="noStrike">
                        <a:solidFill>
                          <a:srgbClr val="000000"/>
                        </a:solidFill>
                        <a:effectLst/>
                        <a:highlight>
                          <a:srgbClr val="00FF00"/>
                        </a:highlight>
                        <a:latin typeface="Calibri" panose="020F0502020204030204" pitchFamily="34" charset="0"/>
                      </a:endParaRPr>
                    </a:p>
                  </a:txBody>
                  <a:tcPr marL="7620" marR="7620" marT="7620" marB="0" anchor="ctr"/>
                </a:tc>
                <a:tc>
                  <a:txBody>
                    <a:bodyPr/>
                    <a:lstStyle/>
                    <a:p>
                      <a:pPr algn="ctr" fontAlgn="ctr">
                        <a:buNone/>
                      </a:pPr>
                      <a:r>
                        <a:rPr lang="en-IN" sz="1100" u="none" strike="noStrike" dirty="0">
                          <a:effectLst/>
                          <a:highlight>
                            <a:srgbClr val="00FF00"/>
                          </a:highlight>
                        </a:rPr>
                        <a:t>(6,6)</a:t>
                      </a:r>
                      <a:endParaRPr lang="en-IN" sz="1100" b="0" i="0" u="none" strike="noStrike" dirty="0">
                        <a:solidFill>
                          <a:srgbClr val="000000"/>
                        </a:solidFill>
                        <a:effectLst/>
                        <a:highlight>
                          <a:srgbClr val="00FF00"/>
                        </a:highlight>
                        <a:latin typeface="Calibri" panose="020F0502020204030204" pitchFamily="34" charset="0"/>
                      </a:endParaRPr>
                    </a:p>
                  </a:txBody>
                  <a:tcPr marL="7620" marR="7620" marT="7620" marB="0" anchor="ctr"/>
                </a:tc>
                <a:extLst>
                  <a:ext uri="{0D108BD9-81ED-4DB2-BD59-A6C34878D82A}">
                    <a16:rowId xmlns:a16="http://schemas.microsoft.com/office/drawing/2014/main" val="2427336032"/>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981CA7D-C960-0646-95B6-909496666106}"/>
                  </a:ext>
                </a:extLst>
              </p:cNvPr>
              <p:cNvSpPr txBox="1"/>
              <p:nvPr/>
            </p:nvSpPr>
            <p:spPr>
              <a:xfrm>
                <a:off x="5734665" y="5681633"/>
                <a:ext cx="6100916" cy="895951"/>
              </a:xfrm>
              <a:prstGeom prst="rect">
                <a:avLst/>
              </a:prstGeom>
              <a:noFill/>
            </p:spPr>
            <p:txBody>
              <a:bodyPr wrap="square">
                <a:spAutoFit/>
              </a:bodyPr>
              <a:lstStyle/>
              <a:p>
                <a:pPr>
                  <a:buNone/>
                </a:pPr>
                <a:r>
                  <a:rPr lang="en-IN" b="1" dirty="0"/>
                  <a:t>Probability</a:t>
                </a:r>
                <a:endParaRPr lang="en-IN" dirty="0"/>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sum</m:t>
                          </m:r>
                          <m:r>
                            <m:rPr>
                              <m:nor/>
                            </m:rPr>
                            <a:rPr lang="en-IN" b="0" i="1">
                              <a:latin typeface="Cambria Math" panose="02040503050406030204" pitchFamily="18" charset="0"/>
                            </a:rPr>
                            <m:t> = </m:t>
                          </m:r>
                          <m:r>
                            <m:rPr>
                              <m:nor/>
                            </m:rPr>
                            <a:rPr lang="en-IN" b="0" i="1">
                              <a:latin typeface="Cambria Math" panose="02040503050406030204" pitchFamily="18" charset="0"/>
                            </a:rPr>
                            <m:t>3 </m:t>
                          </m:r>
                          <m:r>
                            <m:rPr>
                              <m:nor/>
                            </m:rPr>
                            <a:rPr lang="en-IN" b="0" i="1">
                              <a:latin typeface="Cambria Math" panose="02040503050406030204" pitchFamily="18" charset="0"/>
                            </a:rPr>
                            <m:t>or</m:t>
                          </m:r>
                          <m:r>
                            <m:rPr>
                              <m:nor/>
                            </m:rPr>
                            <a:rPr lang="en-IN" b="0" i="1">
                              <a:latin typeface="Cambria Math" panose="02040503050406030204" pitchFamily="18" charset="0"/>
                            </a:rPr>
                            <m:t> </m:t>
                          </m:r>
                          <m:r>
                            <m:rPr>
                              <m:nor/>
                            </m:rPr>
                            <a:rPr lang="en-IN" b="0" i="1">
                              <a:latin typeface="Cambria Math" panose="02040503050406030204" pitchFamily="18" charset="0"/>
                            </a:rPr>
                            <m:t>5</m:t>
                          </m:r>
                        </m:e>
                      </m:d>
                      <m:r>
                        <a:rPr lang="ar-AE" b="0" i="0">
                          <a:latin typeface="Cambria Math" panose="02040503050406030204" pitchFamily="18" charset="0"/>
                        </a:rPr>
                        <m:t>=</m:t>
                      </m:r>
                      <m:f>
                        <m:fPr>
                          <m:ctrlPr>
                            <a:rPr lang="ar-AE" b="0" i="1">
                              <a:latin typeface="Cambria Math" panose="02040503050406030204" pitchFamily="18" charset="0"/>
                            </a:rPr>
                          </m:ctrlPr>
                        </m:fPr>
                        <m:num>
                          <m:r>
                            <m:rPr>
                              <m:nor/>
                            </m:rPr>
                            <a:rPr lang="en-IN" b="0" i="1">
                              <a:latin typeface="Cambria Math" panose="02040503050406030204" pitchFamily="18" charset="0"/>
                            </a:rPr>
                            <m:t>favorable</m:t>
                          </m:r>
                          <m:r>
                            <m:rPr>
                              <m:nor/>
                            </m:rPr>
                            <a:rPr lang="en-IN" b="0" i="1">
                              <a:latin typeface="Cambria Math" panose="02040503050406030204" pitchFamily="18" charset="0"/>
                            </a:rPr>
                            <m:t> </m:t>
                          </m:r>
                          <m:r>
                            <m:rPr>
                              <m:nor/>
                            </m:rPr>
                            <a:rPr lang="en-IN" b="0" i="1">
                              <a:latin typeface="Cambria Math" panose="02040503050406030204" pitchFamily="18" charset="0"/>
                            </a:rPr>
                            <m:t>outcomes</m:t>
                          </m:r>
                        </m:num>
                        <m:den>
                          <m:r>
                            <m:rPr>
                              <m:nor/>
                            </m:rPr>
                            <a:rPr lang="en-IN" b="0" i="1">
                              <a:latin typeface="Cambria Math" panose="02040503050406030204" pitchFamily="18" charset="0"/>
                            </a:rPr>
                            <m:t>total</m:t>
                          </m:r>
                          <m:r>
                            <m:rPr>
                              <m:nor/>
                            </m:rPr>
                            <a:rPr lang="en-IN" b="0" i="1">
                              <a:latin typeface="Cambria Math" panose="02040503050406030204" pitchFamily="18" charset="0"/>
                            </a:rPr>
                            <m:t> </m:t>
                          </m:r>
                          <m:r>
                            <m:rPr>
                              <m:nor/>
                            </m:rPr>
                            <a:rPr lang="en-IN" b="0" i="1">
                              <a:latin typeface="Cambria Math" panose="02040503050406030204" pitchFamily="18" charset="0"/>
                            </a:rPr>
                            <m:t>outcomes</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6</m:t>
                          </m:r>
                        </m:num>
                        <m:den>
                          <m:r>
                            <a:rPr lang="ar-AE" b="0" i="0">
                              <a:latin typeface="Cambria Math" panose="02040503050406030204" pitchFamily="18" charset="0"/>
                            </a:rPr>
                            <m:t>36</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1</m:t>
                          </m:r>
                        </m:num>
                        <m:den>
                          <m:r>
                            <a:rPr lang="ar-AE" b="0" i="0">
                              <a:latin typeface="Cambria Math" panose="02040503050406030204" pitchFamily="18" charset="0"/>
                            </a:rPr>
                            <m:t>6</m:t>
                          </m:r>
                        </m:den>
                      </m:f>
                    </m:oMath>
                  </m:oMathPara>
                </a14:m>
                <a:endParaRPr lang="ar-AE" b="0" dirty="0"/>
              </a:p>
            </p:txBody>
          </p:sp>
        </mc:Choice>
        <mc:Fallback xmlns="">
          <p:sp>
            <p:nvSpPr>
              <p:cNvPr id="8" name="TextBox 7">
                <a:extLst>
                  <a:ext uri="{FF2B5EF4-FFF2-40B4-BE49-F238E27FC236}">
                    <a16:creationId xmlns:a16="http://schemas.microsoft.com/office/drawing/2014/main" id="{3981CA7D-C960-0646-95B6-909496666106}"/>
                  </a:ext>
                </a:extLst>
              </p:cNvPr>
              <p:cNvSpPr txBox="1">
                <a:spLocks noRot="1" noChangeAspect="1" noMove="1" noResize="1" noEditPoints="1" noAdjustHandles="1" noChangeArrowheads="1" noChangeShapeType="1" noTextEdit="1"/>
              </p:cNvSpPr>
              <p:nvPr/>
            </p:nvSpPr>
            <p:spPr>
              <a:xfrm>
                <a:off x="5734665" y="5681633"/>
                <a:ext cx="6100916" cy="895951"/>
              </a:xfrm>
              <a:prstGeom prst="rect">
                <a:avLst/>
              </a:prstGeom>
              <a:blipFill>
                <a:blip r:embed="rId2"/>
                <a:stretch>
                  <a:fillRect l="-899" t="-3401"/>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851E18F2-329E-325A-43A9-A4FDFC44F9C9}"/>
              </a:ext>
            </a:extLst>
          </p:cNvPr>
          <p:cNvSpPr txBox="1"/>
          <p:nvPr/>
        </p:nvSpPr>
        <p:spPr>
          <a:xfrm>
            <a:off x="4967747" y="579685"/>
            <a:ext cx="6533539" cy="923330"/>
          </a:xfrm>
          <a:prstGeom prst="rect">
            <a:avLst/>
          </a:prstGeom>
          <a:noFill/>
        </p:spPr>
        <p:txBody>
          <a:bodyPr wrap="square" rtlCol="0">
            <a:spAutoFit/>
          </a:bodyPr>
          <a:lstStyle/>
          <a:p>
            <a:r>
              <a:rPr lang="en-IN" dirty="0"/>
              <a:t>2. Probability of getting doublet ?</a:t>
            </a:r>
          </a:p>
          <a:p>
            <a:r>
              <a:rPr lang="en-IN" dirty="0"/>
              <a:t>3. Probability of getting total of 11 ?</a:t>
            </a:r>
          </a:p>
          <a:p>
            <a:r>
              <a:rPr lang="en-IN" dirty="0"/>
              <a:t>4. Probability of getting total of 12 ?</a:t>
            </a:r>
          </a:p>
        </p:txBody>
      </p:sp>
    </p:spTree>
    <p:extLst>
      <p:ext uri="{BB962C8B-B14F-4D97-AF65-F5344CB8AC3E}">
        <p14:creationId xmlns:p14="http://schemas.microsoft.com/office/powerpoint/2010/main" val="2631924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F882D-0C29-6BF3-DAB0-2C20500E9C0C}"/>
              </a:ext>
            </a:extLst>
          </p:cNvPr>
          <p:cNvSpPr>
            <a:spLocks noGrp="1"/>
          </p:cNvSpPr>
          <p:nvPr>
            <p:ph type="title"/>
          </p:nvPr>
        </p:nvSpPr>
        <p:spPr/>
        <p:txBody>
          <a:bodyPr/>
          <a:lstStyle/>
          <a:p>
            <a:r>
              <a:rPr lang="en-US" dirty="0"/>
              <a:t>3. In a single throw of 3 dices , probability of getting a total of 5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2FF02C-87BD-DEB2-9624-67880619EF11}"/>
                  </a:ext>
                </a:extLst>
              </p:cNvPr>
              <p:cNvSpPr>
                <a:spLocks noGrp="1"/>
              </p:cNvSpPr>
              <p:nvPr>
                <p:ph idx="1"/>
              </p:nvPr>
            </p:nvSpPr>
            <p:spPr/>
            <p:txBody>
              <a:bodyPr>
                <a:normAutofit fontScale="92500" lnSpcReduction="10000"/>
              </a:bodyPr>
              <a:lstStyle/>
              <a:p>
                <a:pPr marL="0" indent="0">
                  <a:buNone/>
                </a:pPr>
                <a:r>
                  <a:rPr lang="en-US" b="1" dirty="0"/>
                  <a:t>Total outcomes</a:t>
                </a:r>
              </a:p>
              <a:p>
                <a:pPr marL="0" indent="0">
                  <a:buNone/>
                </a:pPr>
                <a:r>
                  <a:rPr lang="en-US" dirty="0"/>
                  <a:t>For </a:t>
                </a:r>
                <a:r>
                  <a:rPr lang="en-US" b="1" dirty="0"/>
                  <a:t>3 dice</a:t>
                </a:r>
                <a:r>
                  <a:rPr lang="en-US" dirty="0"/>
                  <a:t>, each die has 6 faces.</a:t>
                </a:r>
              </a:p>
              <a:p>
                <a:pPr marL="0" indent="0">
                  <a:buNone/>
                </a:pPr>
                <a14:m>
                  <m:oMathPara xmlns:m="http://schemas.openxmlformats.org/officeDocument/2006/math">
                    <m:oMathParaPr>
                      <m:jc m:val="centerGroup"/>
                    </m:oMathParaPr>
                    <m:oMath xmlns:m="http://schemas.openxmlformats.org/officeDocument/2006/math">
                      <m:r>
                        <m:rPr>
                          <m:nor/>
                        </m:rPr>
                        <a:rPr lang="en-US" b="0"/>
                        <m:t>Total</m:t>
                      </m:r>
                      <m:r>
                        <m:rPr>
                          <m:nor/>
                        </m:rPr>
                        <a:rPr lang="en-US" b="0" i="1"/>
                        <m:t> </m:t>
                      </m:r>
                      <m:r>
                        <m:rPr>
                          <m:nor/>
                        </m:rPr>
                        <a:rPr lang="en-US" b="0" i="1"/>
                        <m:t>outcomes</m:t>
                      </m:r>
                      <m:r>
                        <a:rPr lang="en-US">
                          <a:latin typeface="Cambria Math" panose="02040503050406030204" pitchFamily="18" charset="0"/>
                        </a:rPr>
                        <m:t>=</m:t>
                      </m:r>
                      <m:r>
                        <a:rPr lang="en-US">
                          <a:latin typeface="Cambria Math" panose="02040503050406030204" pitchFamily="18" charset="0"/>
                        </a:rPr>
                        <m:t>6</m:t>
                      </m:r>
                      <m:r>
                        <a:rPr lang="en-US">
                          <a:latin typeface="Cambria Math" panose="02040503050406030204" pitchFamily="18" charset="0"/>
                        </a:rPr>
                        <m:t>×</m:t>
                      </m:r>
                      <m:r>
                        <a:rPr lang="en-US">
                          <a:latin typeface="Cambria Math" panose="02040503050406030204" pitchFamily="18" charset="0"/>
                        </a:rPr>
                        <m:t>6</m:t>
                      </m:r>
                      <m:r>
                        <a:rPr lang="en-US">
                          <a:latin typeface="Cambria Math" panose="02040503050406030204" pitchFamily="18" charset="0"/>
                        </a:rPr>
                        <m:t>×</m:t>
                      </m:r>
                      <m:r>
                        <a:rPr lang="en-US">
                          <a:latin typeface="Cambria Math" panose="02040503050406030204" pitchFamily="18" charset="0"/>
                        </a:rPr>
                        <m:t>6</m:t>
                      </m:r>
                      <m:r>
                        <a:rPr lang="en-US">
                          <a:latin typeface="Cambria Math" panose="02040503050406030204" pitchFamily="18" charset="0"/>
                        </a:rPr>
                        <m:t>=</m:t>
                      </m:r>
                      <m:r>
                        <a:rPr lang="en-US">
                          <a:latin typeface="Cambria Math" panose="02040503050406030204" pitchFamily="18" charset="0"/>
                        </a:rPr>
                        <m:t>216</m:t>
                      </m:r>
                    </m:oMath>
                  </m:oMathPara>
                </a14:m>
                <a:endParaRPr lang="en-US" b="0" dirty="0"/>
              </a:p>
              <a:p>
                <a:pPr marL="0" indent="0">
                  <a:buNone/>
                </a:pPr>
                <a:r>
                  <a:rPr lang="en-US" b="1" dirty="0"/>
                  <a:t>Favorable outcomes:</a:t>
                </a:r>
                <a:endParaRPr lang="en-US" dirty="0"/>
              </a:p>
              <a:p>
                <a:r>
                  <a:rPr lang="en-US" dirty="0"/>
                  <a:t>(1,1,3), (1,3,1), (3,1,1) → 3 outcomes</a:t>
                </a:r>
              </a:p>
              <a:p>
                <a:r>
                  <a:rPr lang="en-US" dirty="0"/>
                  <a:t>(1,2,2), (2,1,2), (2,2,1) → 3 outcomes</a:t>
                </a:r>
              </a:p>
              <a:p>
                <a:pPr marL="0" indent="0">
                  <a:buNone/>
                </a:pPr>
                <a:r>
                  <a:rPr lang="en-IN" dirty="0"/>
                  <a:t>Total </a:t>
                </a:r>
                <a:r>
                  <a:rPr lang="en-IN" dirty="0" err="1"/>
                  <a:t>favorable</a:t>
                </a:r>
                <a:r>
                  <a:rPr lang="en-IN" dirty="0"/>
                  <a:t> outcomes = 6</a:t>
                </a:r>
                <a:endParaRPr lang="en-US" dirty="0"/>
              </a:p>
              <a:p>
                <a:pPr marL="0" indent="0">
                  <a:buNone/>
                </a:pPr>
                <a:r>
                  <a:rPr lang="en-IN" b="1" dirty="0"/>
                  <a:t>Probability</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i="1"/>
                            <m:t>sum</m:t>
                          </m:r>
                          <m:r>
                            <m:rPr>
                              <m:nor/>
                            </m:rPr>
                            <a:rPr lang="en-IN" i="1"/>
                            <m:t> = </m:t>
                          </m:r>
                          <m:r>
                            <m:rPr>
                              <m:nor/>
                            </m:rPr>
                            <a:rPr lang="en-IN" i="1"/>
                            <m:t>5</m:t>
                          </m:r>
                        </m:e>
                      </m:d>
                      <m:r>
                        <a:rPr lang="ar-AE">
                          <a:latin typeface="Cambria Math" panose="02040503050406030204" pitchFamily="18" charset="0"/>
                        </a:rPr>
                        <m:t>=</m:t>
                      </m:r>
                      <m:f>
                        <m:fPr>
                          <m:ctrlPr>
                            <a:rPr lang="ar-AE" i="1">
                              <a:latin typeface="Cambria Math" panose="02040503050406030204" pitchFamily="18" charset="0"/>
                            </a:rPr>
                          </m:ctrlPr>
                        </m:fPr>
                        <m:num>
                          <m:r>
                            <m:rPr>
                              <m:nor/>
                            </m:rPr>
                            <a:rPr lang="en-IN" i="1"/>
                            <m:t>favorable</m:t>
                          </m:r>
                          <m:r>
                            <m:rPr>
                              <m:nor/>
                            </m:rPr>
                            <a:rPr lang="en-IN" i="1"/>
                            <m:t> </m:t>
                          </m:r>
                          <m:r>
                            <m:rPr>
                              <m:nor/>
                            </m:rPr>
                            <a:rPr lang="en-IN" i="1"/>
                            <m:t>outcomes</m:t>
                          </m:r>
                        </m:num>
                        <m:den>
                          <m:r>
                            <m:rPr>
                              <m:nor/>
                            </m:rPr>
                            <a:rPr lang="en-IN" i="1"/>
                            <m:t>total</m:t>
                          </m:r>
                          <m:r>
                            <m:rPr>
                              <m:nor/>
                            </m:rPr>
                            <a:rPr lang="en-IN" i="1"/>
                            <m:t> </m:t>
                          </m:r>
                          <m:r>
                            <m:rPr>
                              <m:nor/>
                            </m:rPr>
                            <a:rPr lang="en-IN" i="1"/>
                            <m:t>outcomes</m:t>
                          </m:r>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6</m:t>
                          </m:r>
                        </m:num>
                        <m:den>
                          <m:r>
                            <a:rPr lang="ar-AE">
                              <a:latin typeface="Cambria Math" panose="02040503050406030204" pitchFamily="18" charset="0"/>
                            </a:rPr>
                            <m:t>216</m:t>
                          </m:r>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36</m:t>
                          </m:r>
                        </m:den>
                      </m:f>
                    </m:oMath>
                  </m:oMathPara>
                </a14:m>
                <a:endParaRPr lang="ar-AE" b="0" dirty="0"/>
              </a:p>
              <a:p>
                <a:endParaRPr lang="en-IN" dirty="0"/>
              </a:p>
            </p:txBody>
          </p:sp>
        </mc:Choice>
        <mc:Fallback xmlns="">
          <p:sp>
            <p:nvSpPr>
              <p:cNvPr id="3" name="Content Placeholder 2">
                <a:extLst>
                  <a:ext uri="{FF2B5EF4-FFF2-40B4-BE49-F238E27FC236}">
                    <a16:creationId xmlns:a16="http://schemas.microsoft.com/office/drawing/2014/main" id="{F92FF02C-87BD-DEB2-9624-67880619EF11}"/>
                  </a:ext>
                </a:extLst>
              </p:cNvPr>
              <p:cNvSpPr>
                <a:spLocks noGrp="1" noRot="1" noChangeAspect="1" noMove="1" noResize="1" noEditPoints="1" noAdjustHandles="1" noChangeArrowheads="1" noChangeShapeType="1" noTextEdit="1"/>
              </p:cNvSpPr>
              <p:nvPr>
                <p:ph idx="1"/>
              </p:nvPr>
            </p:nvSpPr>
            <p:spPr>
              <a:blipFill>
                <a:blip r:embed="rId2"/>
                <a:stretch>
                  <a:fillRect l="-1043" t="-2801"/>
                </a:stretch>
              </a:blipFill>
            </p:spPr>
            <p:txBody>
              <a:bodyPr/>
              <a:lstStyle/>
              <a:p>
                <a:r>
                  <a:rPr lang="en-IN">
                    <a:noFill/>
                  </a:rPr>
                  <a:t> </a:t>
                </a:r>
              </a:p>
            </p:txBody>
          </p:sp>
        </mc:Fallback>
      </mc:AlternateContent>
    </p:spTree>
    <p:extLst>
      <p:ext uri="{BB962C8B-B14F-4D97-AF65-F5344CB8AC3E}">
        <p14:creationId xmlns:p14="http://schemas.microsoft.com/office/powerpoint/2010/main" val="3566866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EDA1-49A9-8F87-FDD4-3CC2781246B8}"/>
              </a:ext>
            </a:extLst>
          </p:cNvPr>
          <p:cNvSpPr>
            <a:spLocks noGrp="1"/>
          </p:cNvSpPr>
          <p:nvPr>
            <p:ph type="title"/>
          </p:nvPr>
        </p:nvSpPr>
        <p:spPr>
          <a:xfrm>
            <a:off x="189271" y="197976"/>
            <a:ext cx="4559710" cy="643431"/>
          </a:xfrm>
        </p:spPr>
        <p:txBody>
          <a:bodyPr>
            <a:normAutofit fontScale="90000"/>
          </a:bodyPr>
          <a:lstStyle/>
          <a:p>
            <a:r>
              <a:rPr lang="en-IN" dirty="0"/>
              <a:t>Problems based on playing CARDS </a:t>
            </a:r>
          </a:p>
        </p:txBody>
      </p:sp>
      <p:pic>
        <p:nvPicPr>
          <p:cNvPr id="5" name="Content Placeholder 4">
            <a:extLst>
              <a:ext uri="{FF2B5EF4-FFF2-40B4-BE49-F238E27FC236}">
                <a16:creationId xmlns:a16="http://schemas.microsoft.com/office/drawing/2014/main" id="{EDB50AA3-669A-8A3A-2780-65BB03307386}"/>
              </a:ext>
            </a:extLst>
          </p:cNvPr>
          <p:cNvPicPr>
            <a:picLocks noGrp="1" noChangeAspect="1"/>
          </p:cNvPicPr>
          <p:nvPr>
            <p:ph idx="1"/>
          </p:nvPr>
        </p:nvPicPr>
        <p:blipFill>
          <a:blip r:embed="rId2"/>
          <a:stretch>
            <a:fillRect/>
          </a:stretch>
        </p:blipFill>
        <p:spPr>
          <a:xfrm>
            <a:off x="1" y="1524689"/>
            <a:ext cx="5348748" cy="3508903"/>
          </a:xfrm>
          <a:prstGeom prst="rect">
            <a:avLst/>
          </a:prstGeom>
        </p:spPr>
      </p:pic>
      <p:pic>
        <p:nvPicPr>
          <p:cNvPr id="7" name="Picture 6">
            <a:extLst>
              <a:ext uri="{FF2B5EF4-FFF2-40B4-BE49-F238E27FC236}">
                <a16:creationId xmlns:a16="http://schemas.microsoft.com/office/drawing/2014/main" id="{59D070EB-0574-AE6B-E28B-47F5FBB33073}"/>
              </a:ext>
            </a:extLst>
          </p:cNvPr>
          <p:cNvPicPr>
            <a:picLocks noChangeAspect="1"/>
          </p:cNvPicPr>
          <p:nvPr/>
        </p:nvPicPr>
        <p:blipFill>
          <a:blip r:embed="rId3"/>
          <a:stretch>
            <a:fillRect/>
          </a:stretch>
        </p:blipFill>
        <p:spPr>
          <a:xfrm>
            <a:off x="6496511" y="47827"/>
            <a:ext cx="5506218" cy="4429743"/>
          </a:xfrm>
          <a:prstGeom prst="rect">
            <a:avLst/>
          </a:prstGeom>
        </p:spPr>
      </p:pic>
      <p:pic>
        <p:nvPicPr>
          <p:cNvPr id="9" name="Picture 8">
            <a:extLst>
              <a:ext uri="{FF2B5EF4-FFF2-40B4-BE49-F238E27FC236}">
                <a16:creationId xmlns:a16="http://schemas.microsoft.com/office/drawing/2014/main" id="{FA7668D9-9BA6-A2B3-BF99-3973EB1C6E7C}"/>
              </a:ext>
            </a:extLst>
          </p:cNvPr>
          <p:cNvPicPr>
            <a:picLocks noChangeAspect="1"/>
          </p:cNvPicPr>
          <p:nvPr/>
        </p:nvPicPr>
        <p:blipFill>
          <a:blip r:embed="rId4"/>
          <a:stretch>
            <a:fillRect/>
          </a:stretch>
        </p:blipFill>
        <p:spPr>
          <a:xfrm>
            <a:off x="3900586" y="4763843"/>
            <a:ext cx="5191850" cy="1981477"/>
          </a:xfrm>
          <a:prstGeom prst="rect">
            <a:avLst/>
          </a:prstGeom>
        </p:spPr>
      </p:pic>
    </p:spTree>
    <p:extLst>
      <p:ext uri="{BB962C8B-B14F-4D97-AF65-F5344CB8AC3E}">
        <p14:creationId xmlns:p14="http://schemas.microsoft.com/office/powerpoint/2010/main" val="105418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22E34EF-A3AD-B663-9634-62CE635CD90F}"/>
                  </a:ext>
                </a:extLst>
              </p:cNvPr>
              <p:cNvSpPr>
                <a:spLocks noGrp="1"/>
              </p:cNvSpPr>
              <p:nvPr>
                <p:ph type="title"/>
              </p:nvPr>
            </p:nvSpPr>
            <p:spPr/>
            <p:txBody>
              <a:bodyPr>
                <a:normAutofit fontScale="90000"/>
              </a:bodyPr>
              <a:lstStyle/>
              <a:p>
                <a:pPr/>
                <a:r>
                  <a:rPr lang="en-IN" b="1" dirty="0"/>
                  <a:t>General Probability Formula</a:t>
                </a:r>
                <a:br>
                  <a:rPr lang="en-IN" b="1" dirty="0"/>
                </a:b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i="1"/>
                            <m:t>Event</m:t>
                          </m:r>
                        </m:e>
                      </m:d>
                      <m:r>
                        <a:rPr lang="ar-AE">
                          <a:latin typeface="Cambria Math" panose="02040503050406030204" pitchFamily="18" charset="0"/>
                        </a:rPr>
                        <m:t>=</m:t>
                      </m:r>
                      <m:f>
                        <m:fPr>
                          <m:ctrlPr>
                            <a:rPr lang="ar-AE" i="1">
                              <a:latin typeface="Cambria Math" panose="02040503050406030204" pitchFamily="18" charset="0"/>
                            </a:rPr>
                          </m:ctrlPr>
                        </m:fPr>
                        <m:num>
                          <m:r>
                            <m:rPr>
                              <m:nor/>
                            </m:rPr>
                            <a:rPr lang="en-IN" i="1"/>
                            <m:t>Number</m:t>
                          </m:r>
                          <m:r>
                            <m:rPr>
                              <m:nor/>
                            </m:rPr>
                            <a:rPr lang="en-IN" i="1"/>
                            <m:t> </m:t>
                          </m:r>
                          <m:r>
                            <m:rPr>
                              <m:nor/>
                            </m:rPr>
                            <a:rPr lang="en-IN" i="1"/>
                            <m:t>of</m:t>
                          </m:r>
                          <m:r>
                            <m:rPr>
                              <m:nor/>
                            </m:rPr>
                            <a:rPr lang="en-IN" i="1"/>
                            <m:t> </m:t>
                          </m:r>
                          <m:r>
                            <m:rPr>
                              <m:nor/>
                            </m:rPr>
                            <a:rPr lang="en-IN" i="1"/>
                            <m:t>favorable</m:t>
                          </m:r>
                          <m:r>
                            <m:rPr>
                              <m:nor/>
                            </m:rPr>
                            <a:rPr lang="en-IN" i="1"/>
                            <m:t> </m:t>
                          </m:r>
                          <m:r>
                            <m:rPr>
                              <m:nor/>
                            </m:rPr>
                            <a:rPr lang="en-IN" i="1"/>
                            <m:t>outcomes</m:t>
                          </m:r>
                        </m:num>
                        <m:den>
                          <m:r>
                            <m:rPr>
                              <m:nor/>
                            </m:rPr>
                            <a:rPr lang="en-IN" i="1"/>
                            <m:t>Total</m:t>
                          </m:r>
                          <m:r>
                            <m:rPr>
                              <m:nor/>
                            </m:rPr>
                            <a:rPr lang="en-IN" i="1"/>
                            <m:t> </m:t>
                          </m:r>
                          <m:r>
                            <m:rPr>
                              <m:nor/>
                            </m:rPr>
                            <a:rPr lang="en-IN" i="1"/>
                            <m:t>number</m:t>
                          </m:r>
                          <m:r>
                            <m:rPr>
                              <m:nor/>
                            </m:rPr>
                            <a:rPr lang="en-IN" i="1"/>
                            <m:t> </m:t>
                          </m:r>
                          <m:r>
                            <m:rPr>
                              <m:nor/>
                            </m:rPr>
                            <a:rPr lang="en-IN" i="1"/>
                            <m:t>of</m:t>
                          </m:r>
                          <m:r>
                            <m:rPr>
                              <m:nor/>
                            </m:rPr>
                            <a:rPr lang="en-IN" i="1"/>
                            <m:t> </m:t>
                          </m:r>
                          <m:r>
                            <m:rPr>
                              <m:nor/>
                            </m:rPr>
                            <a:rPr lang="en-IN" i="1"/>
                            <m:t>outcomes</m:t>
                          </m:r>
                        </m:den>
                      </m:f>
                    </m:oMath>
                  </m:oMathPara>
                </a14:m>
                <a:br>
                  <a:rPr lang="ar-AE" dirty="0"/>
                </a:br>
                <a:endParaRPr lang="en-IN" dirty="0"/>
              </a:p>
            </p:txBody>
          </p:sp>
        </mc:Choice>
        <mc:Fallback xmlns="">
          <p:sp>
            <p:nvSpPr>
              <p:cNvPr id="2" name="Title 1">
                <a:extLst>
                  <a:ext uri="{FF2B5EF4-FFF2-40B4-BE49-F238E27FC236}">
                    <a16:creationId xmlns:a16="http://schemas.microsoft.com/office/drawing/2014/main" id="{822E34EF-A3AD-B663-9634-62CE635CD90F}"/>
                  </a:ext>
                </a:extLst>
              </p:cNvPr>
              <p:cNvSpPr>
                <a:spLocks noGrp="1" noRot="1" noChangeAspect="1" noMove="1" noResize="1" noEditPoints="1" noAdjustHandles="1" noChangeArrowheads="1" noChangeShapeType="1" noTextEdit="1"/>
              </p:cNvSpPr>
              <p:nvPr>
                <p:ph type="title"/>
              </p:nvPr>
            </p:nvSpPr>
            <p:spPr>
              <a:blipFill>
                <a:blip r:embed="rId2"/>
                <a:stretch>
                  <a:fillRect l="-2087" t="-29032" b="-1566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2ED7E3-B876-5FCF-BE57-3FE0D57E265F}"/>
                  </a:ext>
                </a:extLst>
              </p:cNvPr>
              <p:cNvSpPr>
                <a:spLocks noGrp="1"/>
              </p:cNvSpPr>
              <p:nvPr>
                <p:ph idx="1"/>
              </p:nvPr>
            </p:nvSpPr>
            <p:spPr/>
            <p:txBody>
              <a:bodyPr/>
              <a:lstStyle/>
              <a:p>
                <a:pPr marL="0" indent="0">
                  <a:buNone/>
                </a:pPr>
                <a:r>
                  <a:rPr lang="en-US" b="1" dirty="0"/>
                  <a:t>1.A single card is drawn at random from a standard deck of 52 cards. What is the probability that the card drawn is black?</a:t>
                </a:r>
              </a:p>
              <a:p>
                <a:pPr marL="0" indent="0">
                  <a:buNone/>
                </a:pPr>
                <a:r>
                  <a:rPr lang="en-US" b="1" dirty="0"/>
                  <a:t>Total cards</a:t>
                </a:r>
              </a:p>
              <a:p>
                <a:pPr marL="0" indent="0">
                  <a:buNone/>
                </a:pPr>
                <a:r>
                  <a:rPr lang="en-US" dirty="0"/>
                  <a:t>A standard deck has </a:t>
                </a:r>
                <a:r>
                  <a:rPr lang="en-US" b="1" dirty="0"/>
                  <a:t>52 cards</a:t>
                </a:r>
                <a:r>
                  <a:rPr lang="en-US" dirty="0"/>
                  <a:t>.</a:t>
                </a:r>
              </a:p>
              <a:p>
                <a:pPr marL="0" indent="0">
                  <a:buNone/>
                </a:pPr>
                <a:r>
                  <a:rPr lang="en-US" b="1" dirty="0"/>
                  <a:t>Black cards</a:t>
                </a:r>
                <a:r>
                  <a:rPr lang="en-US" dirty="0"/>
                  <a:t> = Clubs ♣ + Spades ♠ = 13 + 13 = 26 cards</a:t>
                </a:r>
              </a:p>
              <a:p>
                <a:pPr marL="0" indent="0">
                  <a:buNone/>
                </a:pPr>
                <a14:m>
                  <m:oMathPara xmlns:m="http://schemas.openxmlformats.org/officeDocument/2006/math">
                    <m:oMathParaPr>
                      <m:jc m:val="centerGroup"/>
                    </m:oMathParaPr>
                    <m:oMath xmlns:m="http://schemas.openxmlformats.org/officeDocument/2006/math">
                      <m:r>
                        <m:rPr>
                          <m:nor/>
                        </m:rPr>
                        <a:rPr lang="en-US" b="0"/>
                        <m:t>Total</m:t>
                      </m:r>
                      <m:r>
                        <m:rPr>
                          <m:nor/>
                        </m:rPr>
                        <a:rPr lang="en-US" b="0" i="1"/>
                        <m:t> </m:t>
                      </m:r>
                      <m:r>
                        <m:rPr>
                          <m:nor/>
                        </m:rPr>
                        <a:rPr lang="en-US" b="0" i="1"/>
                        <m:t>outcomes</m:t>
                      </m:r>
                      <m:r>
                        <a:rPr lang="en-US">
                          <a:latin typeface="Cambria Math" panose="02040503050406030204" pitchFamily="18" charset="0"/>
                        </a:rPr>
                        <m:t>=</m:t>
                      </m:r>
                      <m:r>
                        <a:rPr lang="en-US">
                          <a:latin typeface="Cambria Math" panose="02040503050406030204" pitchFamily="18" charset="0"/>
                        </a:rPr>
                        <m:t>52</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r>
                        <m:rPr>
                          <m:nor/>
                        </m:rPr>
                        <a:rPr lang="en-US" b="0"/>
                        <m:t>Favorable</m:t>
                      </m:r>
                      <m:r>
                        <m:rPr>
                          <m:nor/>
                        </m:rPr>
                        <a:rPr lang="en-US" b="0" i="1"/>
                        <m:t> </m:t>
                      </m:r>
                      <m:r>
                        <m:rPr>
                          <m:nor/>
                        </m:rPr>
                        <a:rPr lang="en-US" b="0" i="1"/>
                        <m:t>outcomes</m:t>
                      </m:r>
                      <m:r>
                        <a:rPr lang="en-US">
                          <a:latin typeface="Cambria Math" panose="02040503050406030204" pitchFamily="18" charset="0"/>
                        </a:rPr>
                        <m:t>=</m:t>
                      </m:r>
                      <m:r>
                        <a:rPr lang="en-US">
                          <a:latin typeface="Cambria Math" panose="02040503050406030204" pitchFamily="18" charset="0"/>
                        </a:rPr>
                        <m:t>26</m:t>
                      </m:r>
                    </m:oMath>
                  </m:oMathPara>
                </a14:m>
                <a:endParaRPr lang="en-US" b="0" dirty="0"/>
              </a:p>
              <a:p>
                <a:pPr marL="0" indent="0">
                  <a:buNone/>
                </a:pPr>
                <a:r>
                  <a:rPr lang="en-US" dirty="0"/>
                  <a:t>P(Black card)=26/52​=1/2</a:t>
                </a:r>
                <a:endParaRPr lang="en-IN" dirty="0"/>
              </a:p>
            </p:txBody>
          </p:sp>
        </mc:Choice>
        <mc:Fallback xmlns="">
          <p:sp>
            <p:nvSpPr>
              <p:cNvPr id="3" name="Content Placeholder 2">
                <a:extLst>
                  <a:ext uri="{FF2B5EF4-FFF2-40B4-BE49-F238E27FC236}">
                    <a16:creationId xmlns:a16="http://schemas.microsoft.com/office/drawing/2014/main" id="{E52ED7E3-B876-5FCF-BE57-3FE0D57E265F}"/>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33273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59BAE35-8CE4-FDA7-AEFE-47FC885FC164}"/>
              </a:ext>
            </a:extLst>
          </p:cNvPr>
          <p:cNvGraphicFramePr>
            <a:graphicFrameLocks noGrp="1"/>
          </p:cNvGraphicFramePr>
          <p:nvPr>
            <p:extLst>
              <p:ext uri="{D42A27DB-BD31-4B8C-83A1-F6EECF244321}">
                <p14:modId xmlns:p14="http://schemas.microsoft.com/office/powerpoint/2010/main" val="3045039371"/>
              </p:ext>
            </p:extLst>
          </p:nvPr>
        </p:nvGraphicFramePr>
        <p:xfrm>
          <a:off x="550606" y="707922"/>
          <a:ext cx="10579509" cy="5579754"/>
        </p:xfrm>
        <a:graphic>
          <a:graphicData uri="http://schemas.openxmlformats.org/drawingml/2006/table">
            <a:tbl>
              <a:tblPr>
                <a:tableStyleId>{5C22544A-7EE6-4342-B048-85BDC9FD1C3A}</a:tableStyleId>
              </a:tblPr>
              <a:tblGrid>
                <a:gridCol w="972828">
                  <a:extLst>
                    <a:ext uri="{9D8B030D-6E8A-4147-A177-3AD203B41FA5}">
                      <a16:colId xmlns:a16="http://schemas.microsoft.com/office/drawing/2014/main" val="4198999142"/>
                    </a:ext>
                  </a:extLst>
                </a:gridCol>
                <a:gridCol w="4418263">
                  <a:extLst>
                    <a:ext uri="{9D8B030D-6E8A-4147-A177-3AD203B41FA5}">
                      <a16:colId xmlns:a16="http://schemas.microsoft.com/office/drawing/2014/main" val="2017684433"/>
                    </a:ext>
                  </a:extLst>
                </a:gridCol>
                <a:gridCol w="4215590">
                  <a:extLst>
                    <a:ext uri="{9D8B030D-6E8A-4147-A177-3AD203B41FA5}">
                      <a16:colId xmlns:a16="http://schemas.microsoft.com/office/drawing/2014/main" val="1714508737"/>
                    </a:ext>
                  </a:extLst>
                </a:gridCol>
                <a:gridCol w="972828">
                  <a:extLst>
                    <a:ext uri="{9D8B030D-6E8A-4147-A177-3AD203B41FA5}">
                      <a16:colId xmlns:a16="http://schemas.microsoft.com/office/drawing/2014/main" val="1884078335"/>
                    </a:ext>
                  </a:extLst>
                </a:gridCol>
              </a:tblGrid>
              <a:tr h="398553">
                <a:tc>
                  <a:txBody>
                    <a:bodyPr/>
                    <a:lstStyle/>
                    <a:p>
                      <a:pPr algn="ctr" fontAlgn="ctr">
                        <a:buNone/>
                      </a:pPr>
                      <a:r>
                        <a:rPr lang="en-IN" sz="1800" b="1" u="none" strike="noStrike">
                          <a:effectLst/>
                        </a:rPr>
                        <a:t>S.No</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IN" sz="1800" b="1" u="none" strike="noStrike">
                          <a:effectLst/>
                        </a:rPr>
                        <a:t>Question</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IN" sz="1800" b="1" u="none" strike="noStrike">
                          <a:effectLst/>
                        </a:rPr>
                        <a:t>Explanation</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IN" sz="1800" b="1" u="none" strike="noStrike">
                          <a:solidFill>
                            <a:srgbClr val="00B050"/>
                          </a:solidFill>
                          <a:effectLst/>
                        </a:rPr>
                        <a:t>Answer</a:t>
                      </a:r>
                      <a:endParaRPr lang="en-IN" sz="1800" b="1" i="0" u="none" strike="noStrike">
                        <a:solidFill>
                          <a:srgbClr val="00B05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09857561"/>
                  </a:ext>
                </a:extLst>
              </a:tr>
              <a:tr h="1195661">
                <a:tc>
                  <a:txBody>
                    <a:bodyPr/>
                    <a:lstStyle/>
                    <a:p>
                      <a:pPr algn="r" fontAlgn="ctr">
                        <a:buNone/>
                      </a:pPr>
                      <a:r>
                        <a:rPr lang="en-IN" sz="1800" b="1" u="none" strike="noStrike">
                          <a:effectLst/>
                        </a:rPr>
                        <a:t>1</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dirty="0">
                          <a:solidFill>
                            <a:srgbClr val="FF0000"/>
                          </a:solidFill>
                          <a:effectLst/>
                        </a:rPr>
                        <a:t>A single card is drawn from a standard deck. What is the probability of picking a black card?</a:t>
                      </a:r>
                      <a:endParaRPr lang="en-US" sz="1800" b="1" i="0" u="none" strike="noStrike" dirty="0">
                        <a:solidFill>
                          <a:srgbClr val="FF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effectLst/>
                        </a:rPr>
                        <a:t>There are 26 black cards (Clubs + Spades) out of 52 total cards. Probability = favorable/total = 26/52</a:t>
                      </a:r>
                      <a:endParaRPr lang="en-US"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buNone/>
                      </a:pPr>
                      <a:r>
                        <a:rPr lang="en-IN" sz="1800" b="1" u="none" strike="noStrike" dirty="0">
                          <a:solidFill>
                            <a:srgbClr val="00B050"/>
                          </a:solidFill>
                          <a:effectLst/>
                        </a:rPr>
                        <a:t>1/2 </a:t>
                      </a:r>
                      <a:endParaRPr lang="en-IN" sz="1800" b="1" i="0" u="none" strike="noStrike" dirty="0">
                        <a:solidFill>
                          <a:srgbClr val="00B05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16649382"/>
                  </a:ext>
                </a:extLst>
              </a:tr>
              <a:tr h="797108">
                <a:tc>
                  <a:txBody>
                    <a:bodyPr/>
                    <a:lstStyle/>
                    <a:p>
                      <a:pPr algn="r" fontAlgn="ctr">
                        <a:buNone/>
                      </a:pPr>
                      <a:r>
                        <a:rPr lang="en-IN" sz="1800" b="1" u="none" strike="noStrike">
                          <a:effectLst/>
                        </a:rPr>
                        <a:t>2</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solidFill>
                            <a:srgbClr val="FF0000"/>
                          </a:solidFill>
                          <a:effectLst/>
                        </a:rPr>
                        <a:t>A single card is drawn. Probability of drawing a red card?</a:t>
                      </a:r>
                      <a:endParaRPr lang="en-US" sz="1800" b="1" i="0" u="none" strike="noStrike">
                        <a:solidFill>
                          <a:srgbClr val="FF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effectLst/>
                        </a:rPr>
                        <a:t>Red cards = Hearts + Diamonds = 26. Probability = 26/52</a:t>
                      </a:r>
                      <a:endParaRPr lang="en-US"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buNone/>
                      </a:pPr>
                      <a:r>
                        <a:rPr lang="en-IN" sz="1800" b="1" u="none" strike="noStrike" dirty="0">
                          <a:solidFill>
                            <a:srgbClr val="00B050"/>
                          </a:solidFill>
                          <a:effectLst/>
                        </a:rPr>
                        <a:t>1/2 </a:t>
                      </a:r>
                      <a:endParaRPr lang="en-IN" sz="1800" b="1" i="0" u="none" strike="noStrike" dirty="0">
                        <a:solidFill>
                          <a:srgbClr val="00B05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94323317"/>
                  </a:ext>
                </a:extLst>
              </a:tr>
              <a:tr h="797108">
                <a:tc>
                  <a:txBody>
                    <a:bodyPr/>
                    <a:lstStyle/>
                    <a:p>
                      <a:pPr algn="r" fontAlgn="ctr">
                        <a:buNone/>
                      </a:pPr>
                      <a:r>
                        <a:rPr lang="en-IN" sz="1800" b="1" u="none" strike="noStrike">
                          <a:effectLst/>
                        </a:rPr>
                        <a:t>3</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solidFill>
                            <a:srgbClr val="FF0000"/>
                          </a:solidFill>
                          <a:effectLst/>
                        </a:rPr>
                        <a:t>A single card is drawn. Probability of drawing a King?</a:t>
                      </a:r>
                      <a:endParaRPr lang="en-US" sz="1800" b="1" i="0" u="none" strike="noStrike">
                        <a:solidFill>
                          <a:srgbClr val="FF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effectLst/>
                        </a:rPr>
                        <a:t>There are 4 Kings in the deck. Probability = 4/52</a:t>
                      </a:r>
                      <a:endParaRPr lang="en-US"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buNone/>
                      </a:pPr>
                      <a:r>
                        <a:rPr lang="en-IN" sz="1800" b="1" u="none" strike="noStrike" dirty="0">
                          <a:solidFill>
                            <a:srgbClr val="00B050"/>
                          </a:solidFill>
                          <a:effectLst/>
                        </a:rPr>
                        <a:t>1/13</a:t>
                      </a:r>
                      <a:endParaRPr lang="en-IN" sz="1800" b="1" i="0" u="none" strike="noStrike" dirty="0">
                        <a:solidFill>
                          <a:srgbClr val="00B05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81000703"/>
                  </a:ext>
                </a:extLst>
              </a:tr>
              <a:tr h="797108">
                <a:tc>
                  <a:txBody>
                    <a:bodyPr/>
                    <a:lstStyle/>
                    <a:p>
                      <a:pPr algn="r" fontAlgn="ctr">
                        <a:buNone/>
                      </a:pPr>
                      <a:r>
                        <a:rPr lang="en-IN" sz="1800" b="1" u="none" strike="noStrike">
                          <a:effectLst/>
                        </a:rPr>
                        <a:t>4</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solidFill>
                            <a:srgbClr val="FF0000"/>
                          </a:solidFill>
                          <a:effectLst/>
                        </a:rPr>
                        <a:t>A single card is drawn. Probability of drawing a Heart?</a:t>
                      </a:r>
                      <a:endParaRPr lang="en-US" sz="1800" b="1" i="0" u="none" strike="noStrike">
                        <a:solidFill>
                          <a:srgbClr val="FF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effectLst/>
                        </a:rPr>
                        <a:t>There are 13 Hearts in the deck. Probability = 13/52</a:t>
                      </a:r>
                      <a:endParaRPr lang="en-US"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buNone/>
                      </a:pPr>
                      <a:r>
                        <a:rPr lang="en-IN" sz="1800" b="1" u="none" strike="noStrike" dirty="0">
                          <a:solidFill>
                            <a:srgbClr val="00B050"/>
                          </a:solidFill>
                          <a:effectLst/>
                        </a:rPr>
                        <a:t> 1/4</a:t>
                      </a:r>
                      <a:endParaRPr lang="en-IN" sz="1800" b="1" i="0" u="none" strike="noStrike" dirty="0">
                        <a:solidFill>
                          <a:srgbClr val="00B05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99737401"/>
                  </a:ext>
                </a:extLst>
              </a:tr>
              <a:tr h="797108">
                <a:tc>
                  <a:txBody>
                    <a:bodyPr/>
                    <a:lstStyle/>
                    <a:p>
                      <a:pPr algn="r" fontAlgn="ctr">
                        <a:buNone/>
                      </a:pPr>
                      <a:r>
                        <a:rPr lang="en-IN" sz="1800" b="1" u="none" strike="noStrike">
                          <a:effectLst/>
                        </a:rPr>
                        <a:t>5</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dirty="0">
                          <a:solidFill>
                            <a:srgbClr val="FF0000"/>
                          </a:solidFill>
                          <a:effectLst/>
                        </a:rPr>
                        <a:t>A single card is drawn. Probability of drawing a number card (2–10)?</a:t>
                      </a:r>
                      <a:endParaRPr lang="en-US" sz="1800" b="1" i="0" u="none" strike="noStrike" dirty="0">
                        <a:solidFill>
                          <a:srgbClr val="FF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a:effectLst/>
                        </a:rPr>
                        <a:t>Number cards per suit = 9. Total = 9×4 = 36. Probability = 36/52</a:t>
                      </a:r>
                      <a:endParaRPr lang="en-US"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buNone/>
                      </a:pPr>
                      <a:r>
                        <a:rPr lang="en-IN" sz="1800" b="1" u="none" strike="noStrike" dirty="0">
                          <a:solidFill>
                            <a:srgbClr val="00B050"/>
                          </a:solidFill>
                          <a:effectLst/>
                        </a:rPr>
                        <a:t>9/13 </a:t>
                      </a:r>
                      <a:endParaRPr lang="en-IN" sz="1800" b="1" i="0" u="none" strike="noStrike" dirty="0">
                        <a:solidFill>
                          <a:srgbClr val="00B05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70814096"/>
                  </a:ext>
                </a:extLst>
              </a:tr>
              <a:tr h="797108">
                <a:tc>
                  <a:txBody>
                    <a:bodyPr/>
                    <a:lstStyle/>
                    <a:p>
                      <a:pPr algn="r" fontAlgn="ctr">
                        <a:buNone/>
                      </a:pPr>
                      <a:r>
                        <a:rPr lang="en-IN" sz="1800" b="1" u="none" strike="noStrike">
                          <a:effectLst/>
                        </a:rPr>
                        <a:t>6</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1800" b="1" u="none" strike="noStrike" dirty="0">
                          <a:solidFill>
                            <a:srgbClr val="FF0000"/>
                          </a:solidFill>
                          <a:effectLst/>
                        </a:rPr>
                        <a:t>A single card is drawn. Probability of drawing a face card (J, Q, K)?</a:t>
                      </a:r>
                      <a:endParaRPr lang="en-US" sz="1800" b="1" i="0" u="none" strike="noStrike" dirty="0">
                        <a:solidFill>
                          <a:srgbClr val="FF0000"/>
                        </a:solidFill>
                        <a:effectLst/>
                        <a:latin typeface="Calibri" panose="020F0502020204030204" pitchFamily="34" charset="0"/>
                      </a:endParaRPr>
                    </a:p>
                  </a:txBody>
                  <a:tcPr marL="7620" marR="7620" marT="7620" marB="0" anchor="ctr"/>
                </a:tc>
                <a:tc>
                  <a:txBody>
                    <a:bodyPr/>
                    <a:lstStyle/>
                    <a:p>
                      <a:pPr algn="l" fontAlgn="ctr">
                        <a:buNone/>
                      </a:pPr>
                      <a:r>
                        <a:rPr lang="en-IN" sz="1800" b="1" u="none" strike="noStrike">
                          <a:effectLst/>
                        </a:rPr>
                        <a:t>3 face cards per suit × 4 suits = 12. Probability = 12/52</a:t>
                      </a:r>
                      <a:endParaRPr lang="en-IN" sz="18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buNone/>
                      </a:pPr>
                      <a:r>
                        <a:rPr lang="en-IN" sz="1800" b="1" u="none" strike="noStrike" dirty="0">
                          <a:solidFill>
                            <a:srgbClr val="00B050"/>
                          </a:solidFill>
                          <a:effectLst/>
                        </a:rPr>
                        <a:t>3/13 </a:t>
                      </a:r>
                      <a:endParaRPr lang="en-IN" sz="1800" b="1" i="0" u="none" strike="noStrike" dirty="0">
                        <a:solidFill>
                          <a:srgbClr val="00B05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80523047"/>
                  </a:ext>
                </a:extLst>
              </a:tr>
            </a:tbl>
          </a:graphicData>
        </a:graphic>
      </p:graphicFrame>
    </p:spTree>
    <p:extLst>
      <p:ext uri="{BB962C8B-B14F-4D97-AF65-F5344CB8AC3E}">
        <p14:creationId xmlns:p14="http://schemas.microsoft.com/office/powerpoint/2010/main" val="2622190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77FCE-A859-8A76-6211-EB785A0A5791}"/>
              </a:ext>
            </a:extLst>
          </p:cNvPr>
          <p:cNvSpPr>
            <a:spLocks noGrp="1"/>
          </p:cNvSpPr>
          <p:nvPr>
            <p:ph type="title"/>
          </p:nvPr>
        </p:nvSpPr>
        <p:spPr/>
        <p:txBody>
          <a:bodyPr>
            <a:noAutofit/>
          </a:bodyPr>
          <a:lstStyle/>
          <a:p>
            <a:r>
              <a:rPr lang="en-US" sz="2800" dirty="0"/>
              <a:t>3.A card is drawn at random from a well-shuffled standard deck of 52 playing cards. What is the probability that the card drawn is </a:t>
            </a:r>
            <a:r>
              <a:rPr lang="en-US" sz="2800" b="1" dirty="0"/>
              <a:t>either a red card or a king</a:t>
            </a:r>
            <a:r>
              <a:rPr lang="en-US" sz="2800" dirty="0"/>
              <a:t>?</a:t>
            </a:r>
            <a:endParaRPr lang="en-IN"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4DDB0B-D07C-8400-23D4-E8F60AA00C6B}"/>
                  </a:ext>
                </a:extLst>
              </p:cNvPr>
              <p:cNvSpPr>
                <a:spLocks noGrp="1"/>
              </p:cNvSpPr>
              <p:nvPr>
                <p:ph idx="1"/>
              </p:nvPr>
            </p:nvSpPr>
            <p:spPr>
              <a:xfrm>
                <a:off x="838200" y="1825625"/>
                <a:ext cx="5572027" cy="4667250"/>
              </a:xfrm>
            </p:spPr>
            <p:txBody>
              <a:bodyPr>
                <a:normAutofit fontScale="92500" lnSpcReduction="20000"/>
              </a:bodyPr>
              <a:lstStyle/>
              <a:p>
                <a:pPr marL="0" indent="0">
                  <a:buNone/>
                </a:pPr>
                <a:r>
                  <a:rPr lang="en-US" b="1" dirty="0"/>
                  <a:t>Step 1: Total number of outcomes</a:t>
                </a:r>
              </a:p>
              <a:p>
                <a:pPr marL="0" indent="0">
                  <a:buNone/>
                </a:pPr>
                <a:r>
                  <a:rPr lang="en-US" dirty="0"/>
                  <a:t>Total cards in a deck = </a:t>
                </a:r>
                <a:r>
                  <a:rPr lang="en-US" b="1" dirty="0"/>
                  <a:t>52</a:t>
                </a:r>
                <a:endParaRPr lang="en-US" dirty="0"/>
              </a:p>
              <a:p>
                <a:pPr marL="0" indent="0">
                  <a:buNone/>
                </a:pPr>
                <a14:m>
                  <m:oMathPara xmlns:m="http://schemas.openxmlformats.org/officeDocument/2006/math">
                    <m:oMathParaPr>
                      <m:jc m:val="centerGroup"/>
                    </m:oMathParaPr>
                    <m:oMath xmlns:m="http://schemas.openxmlformats.org/officeDocument/2006/math">
                      <m:r>
                        <m:rPr>
                          <m:nor/>
                        </m:rPr>
                        <a:rPr lang="en-US" b="1" smtClean="0">
                          <a:solidFill>
                            <a:srgbClr val="00B050"/>
                          </a:solidFill>
                        </a:rPr>
                        <m:t>Total</m:t>
                      </m:r>
                      <m:r>
                        <m:rPr>
                          <m:nor/>
                        </m:rPr>
                        <a:rPr lang="en-US" b="1" i="1" smtClean="0">
                          <a:solidFill>
                            <a:srgbClr val="00B050"/>
                          </a:solidFill>
                        </a:rPr>
                        <m:t> </m:t>
                      </m:r>
                      <m:r>
                        <m:rPr>
                          <m:nor/>
                        </m:rPr>
                        <a:rPr lang="en-US" b="1" i="1" smtClean="0">
                          <a:solidFill>
                            <a:srgbClr val="00B050"/>
                          </a:solidFill>
                        </a:rPr>
                        <m:t>outcomes</m:t>
                      </m:r>
                      <m:r>
                        <a:rPr lang="en-US" b="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𝟓𝟐</m:t>
                      </m:r>
                    </m:oMath>
                  </m:oMathPara>
                </a14:m>
                <a:endParaRPr lang="en-US" b="1" dirty="0">
                  <a:solidFill>
                    <a:srgbClr val="00B050"/>
                  </a:solidFill>
                </a:endParaRPr>
              </a:p>
              <a:p>
                <a:pPr marL="0" indent="0">
                  <a:buNone/>
                </a:pPr>
                <a:r>
                  <a:rPr lang="en-US" b="1" dirty="0"/>
                  <a:t>Step 2: Identify the events</a:t>
                </a:r>
              </a:p>
              <a:p>
                <a:pPr marL="0" indent="0">
                  <a:buNone/>
                </a:pPr>
                <a:r>
                  <a:rPr lang="en-US" dirty="0"/>
                  <a:t>Number of </a:t>
                </a:r>
                <a:r>
                  <a:rPr lang="en-US" b="1" dirty="0"/>
                  <a:t>red cards</a:t>
                </a:r>
                <a:r>
                  <a:rPr lang="en-US" dirty="0"/>
                  <a:t> = </a:t>
                </a:r>
                <a:r>
                  <a:rPr lang="en-US" b="1" dirty="0"/>
                  <a:t>26</a:t>
                </a:r>
                <a:br>
                  <a:rPr lang="en-US" dirty="0"/>
                </a:br>
                <a:r>
                  <a:rPr lang="en-US" dirty="0"/>
                  <a:t>(Hearts + Diamonds)</a:t>
                </a:r>
              </a:p>
              <a:p>
                <a:pPr marL="0" indent="0">
                  <a:buNone/>
                </a:pPr>
                <a:r>
                  <a:rPr lang="en-US" dirty="0"/>
                  <a:t>Number of </a:t>
                </a:r>
                <a:r>
                  <a:rPr lang="en-US" b="1" dirty="0"/>
                  <a:t>kings</a:t>
                </a:r>
                <a:r>
                  <a:rPr lang="en-US" dirty="0"/>
                  <a:t> = </a:t>
                </a:r>
                <a:r>
                  <a:rPr lang="en-US" b="1" dirty="0"/>
                  <a:t>4</a:t>
                </a:r>
                <a:endParaRPr lang="en-US" dirty="0"/>
              </a:p>
              <a:p>
                <a:pPr marL="0" indent="0">
                  <a:buNone/>
                </a:pPr>
                <a:r>
                  <a:rPr lang="en-US" b="1" dirty="0"/>
                  <a:t>Step 3: Common cards (overlap)</a:t>
                </a:r>
              </a:p>
              <a:p>
                <a:pPr marL="0" indent="0">
                  <a:buNone/>
                </a:pPr>
                <a:r>
                  <a:rPr lang="en-US" dirty="0"/>
                  <a:t>Some cards are counted </a:t>
                </a:r>
                <a:r>
                  <a:rPr lang="en-US" b="1" dirty="0"/>
                  <a:t>twice</a:t>
                </a:r>
                <a:r>
                  <a:rPr lang="en-US" dirty="0"/>
                  <a:t>, so we must subtract them.</a:t>
                </a:r>
              </a:p>
              <a:p>
                <a:pPr marL="0" indent="0">
                  <a:buNone/>
                </a:pPr>
                <a:r>
                  <a:rPr lang="en-US" b="1" dirty="0"/>
                  <a:t>Red kings</a:t>
                </a:r>
                <a:r>
                  <a:rPr lang="en-US" dirty="0"/>
                  <a:t> = </a:t>
                </a:r>
                <a:r>
                  <a:rPr lang="en-US" b="1" dirty="0"/>
                  <a:t>2</a:t>
                </a:r>
                <a:br>
                  <a:rPr lang="en-US" dirty="0"/>
                </a:br>
                <a:r>
                  <a:rPr lang="en-US" dirty="0"/>
                  <a:t>(King of Hearts, King of Diamonds)</a:t>
                </a:r>
              </a:p>
              <a:p>
                <a:pPr marL="0" indent="0">
                  <a:buNone/>
                </a:pPr>
                <a:endParaRPr lang="en-US" b="0" dirty="0"/>
              </a:p>
              <a:p>
                <a:endParaRPr lang="en-IN" dirty="0"/>
              </a:p>
            </p:txBody>
          </p:sp>
        </mc:Choice>
        <mc:Fallback xmlns="">
          <p:sp>
            <p:nvSpPr>
              <p:cNvPr id="3" name="Content Placeholder 2">
                <a:extLst>
                  <a:ext uri="{FF2B5EF4-FFF2-40B4-BE49-F238E27FC236}">
                    <a16:creationId xmlns:a16="http://schemas.microsoft.com/office/drawing/2014/main" id="{BF4DDB0B-D07C-8400-23D4-E8F60AA00C6B}"/>
                  </a:ext>
                </a:extLst>
              </p:cNvPr>
              <p:cNvSpPr>
                <a:spLocks noGrp="1" noRot="1" noChangeAspect="1" noMove="1" noResize="1" noEditPoints="1" noAdjustHandles="1" noChangeArrowheads="1" noChangeShapeType="1" noTextEdit="1"/>
              </p:cNvSpPr>
              <p:nvPr>
                <p:ph idx="1"/>
              </p:nvPr>
            </p:nvSpPr>
            <p:spPr>
              <a:xfrm>
                <a:off x="838200" y="1825625"/>
                <a:ext cx="5572027" cy="4667250"/>
              </a:xfrm>
              <a:blipFill>
                <a:blip r:embed="rId2"/>
                <a:stretch>
                  <a:fillRect l="-1969" t="-32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871B0CC-E1C4-2B21-876F-709630A18AF9}"/>
                  </a:ext>
                </a:extLst>
              </p:cNvPr>
              <p:cNvSpPr txBox="1"/>
              <p:nvPr/>
            </p:nvSpPr>
            <p:spPr>
              <a:xfrm>
                <a:off x="6097572" y="2114756"/>
                <a:ext cx="6094428" cy="1323439"/>
              </a:xfrm>
              <a:prstGeom prst="rect">
                <a:avLst/>
              </a:prstGeom>
              <a:noFill/>
            </p:spPr>
            <p:txBody>
              <a:bodyPr wrap="square">
                <a:spAutoFit/>
              </a:bodyPr>
              <a:lstStyle/>
              <a:p>
                <a:pPr>
                  <a:buNone/>
                </a:pPr>
                <a:r>
                  <a:rPr lang="en-IN" sz="2000" b="1" dirty="0">
                    <a:solidFill>
                      <a:srgbClr val="FF0000"/>
                    </a:solidFill>
                  </a:rPr>
                  <a:t>Step 4: Use “EITHER … OR” rule</a:t>
                </a:r>
              </a:p>
              <a:p>
                <a:pPr>
                  <a:buNone/>
                </a:pPr>
                <a:r>
                  <a:rPr lang="en-IN" sz="2000" b="1" dirty="0">
                    <a:solidFill>
                      <a:srgbClr val="FF0000"/>
                    </a:solidFill>
                  </a:rPr>
                  <a:t>Either ⟶ ADD probabilities</a:t>
                </a:r>
                <a:br>
                  <a:rPr lang="en-IN" sz="2000" b="1" dirty="0">
                    <a:solidFill>
                      <a:srgbClr val="FF0000"/>
                    </a:solidFill>
                  </a:rPr>
                </a:br>
                <a:r>
                  <a:rPr lang="en-IN" sz="2000" b="1" dirty="0">
                    <a:solidFill>
                      <a:srgbClr val="FF0000"/>
                    </a:solidFill>
                  </a:rPr>
                  <a:t>But ⟶ Subtract the common part</a:t>
                </a:r>
              </a:p>
              <a:p>
                <a:pPr>
                  <a:buNone/>
                </a:pPr>
                <a14:m>
                  <m:oMathPara xmlns:m="http://schemas.openxmlformats.org/officeDocument/2006/math">
                    <m:oMathParaPr>
                      <m:jc m:val="centerGroup"/>
                    </m:oMathParaPr>
                    <m:oMath xmlns:m="http://schemas.openxmlformats.org/officeDocument/2006/math">
                      <m:r>
                        <a:rPr lang="en-IN" sz="2000" b="1" i="1" smtClean="0">
                          <a:solidFill>
                            <a:srgbClr val="FF0000"/>
                          </a:solidFill>
                          <a:latin typeface="Cambria Math" panose="02040503050406030204" pitchFamily="18" charset="0"/>
                        </a:rPr>
                        <m:t>𝑷</m:t>
                      </m:r>
                      <m:d>
                        <m:dPr>
                          <m:ctrlPr>
                            <a:rPr lang="ar-AE" sz="2000" b="1" i="1">
                              <a:solidFill>
                                <a:srgbClr val="FF0000"/>
                              </a:solidFill>
                              <a:latin typeface="Cambria Math" panose="02040503050406030204" pitchFamily="18" charset="0"/>
                            </a:rPr>
                          </m:ctrlPr>
                        </m:dPr>
                        <m:e>
                          <m:r>
                            <a:rPr lang="ar-AE" sz="2000" b="1" i="1" smtClean="0">
                              <a:solidFill>
                                <a:srgbClr val="FF0000"/>
                              </a:solidFill>
                              <a:latin typeface="Cambria Math" panose="02040503050406030204" pitchFamily="18" charset="0"/>
                            </a:rPr>
                            <m:t>𝑨</m:t>
                          </m:r>
                          <m:r>
                            <m:rPr>
                              <m:nor/>
                            </m:rPr>
                            <a:rPr lang="ar-AE" sz="2000" b="1" i="1">
                              <a:solidFill>
                                <a:srgbClr val="FF0000"/>
                              </a:solidFill>
                              <a:latin typeface="Cambria Math" panose="02040503050406030204" pitchFamily="18" charset="0"/>
                            </a:rPr>
                            <m:t> </m:t>
                          </m:r>
                          <m:r>
                            <m:rPr>
                              <m:nor/>
                            </m:rPr>
                            <a:rPr lang="en-IN" sz="2000" b="1" i="1">
                              <a:solidFill>
                                <a:srgbClr val="FF0000"/>
                              </a:solidFill>
                              <a:latin typeface="Cambria Math" panose="02040503050406030204" pitchFamily="18" charset="0"/>
                            </a:rPr>
                            <m:t>or</m:t>
                          </m:r>
                          <m:r>
                            <m:rPr>
                              <m:nor/>
                            </m:rPr>
                            <a:rPr lang="en-IN" sz="2000" b="1" i="1">
                              <a:solidFill>
                                <a:srgbClr val="FF0000"/>
                              </a:solidFill>
                              <a:latin typeface="Cambria Math" panose="02040503050406030204" pitchFamily="18" charset="0"/>
                            </a:rPr>
                            <m:t> </m:t>
                          </m:r>
                          <m:r>
                            <a:rPr lang="en-IN" sz="2000" b="1" i="1" smtClean="0">
                              <a:solidFill>
                                <a:srgbClr val="FF0000"/>
                              </a:solidFill>
                              <a:latin typeface="Cambria Math" panose="02040503050406030204" pitchFamily="18" charset="0"/>
                            </a:rPr>
                            <m:t>𝑩</m:t>
                          </m:r>
                        </m:e>
                      </m:d>
                      <m:r>
                        <a:rPr lang="ar-AE" sz="2000" b="1" i="0" smtClean="0">
                          <a:solidFill>
                            <a:srgbClr val="FF0000"/>
                          </a:solidFill>
                          <a:latin typeface="Cambria Math" panose="02040503050406030204" pitchFamily="18" charset="0"/>
                        </a:rPr>
                        <m:t>=</m:t>
                      </m:r>
                      <m:r>
                        <a:rPr lang="ar-AE" sz="2000" b="1" i="1" smtClean="0">
                          <a:solidFill>
                            <a:srgbClr val="FF0000"/>
                          </a:solidFill>
                          <a:latin typeface="Cambria Math" panose="02040503050406030204" pitchFamily="18" charset="0"/>
                        </a:rPr>
                        <m:t>𝑷</m:t>
                      </m:r>
                      <m:d>
                        <m:dPr>
                          <m:ctrlPr>
                            <a:rPr lang="ar-AE" sz="2000" b="1" i="1">
                              <a:solidFill>
                                <a:srgbClr val="FF0000"/>
                              </a:solidFill>
                              <a:latin typeface="Cambria Math" panose="02040503050406030204" pitchFamily="18" charset="0"/>
                            </a:rPr>
                          </m:ctrlPr>
                        </m:dPr>
                        <m:e>
                          <m:r>
                            <a:rPr lang="ar-AE" sz="2000" b="1" i="1" smtClean="0">
                              <a:solidFill>
                                <a:srgbClr val="FF0000"/>
                              </a:solidFill>
                              <a:latin typeface="Cambria Math" panose="02040503050406030204" pitchFamily="18" charset="0"/>
                            </a:rPr>
                            <m:t>𝑨</m:t>
                          </m:r>
                        </m:e>
                      </m:d>
                      <m:r>
                        <a:rPr lang="ar-AE" sz="2000" b="1" i="0" smtClean="0">
                          <a:solidFill>
                            <a:srgbClr val="FF0000"/>
                          </a:solidFill>
                          <a:latin typeface="Cambria Math" panose="02040503050406030204" pitchFamily="18" charset="0"/>
                        </a:rPr>
                        <m:t>+</m:t>
                      </m:r>
                      <m:r>
                        <a:rPr lang="ar-AE" sz="2000" b="1" i="1" smtClean="0">
                          <a:solidFill>
                            <a:srgbClr val="FF0000"/>
                          </a:solidFill>
                          <a:latin typeface="Cambria Math" panose="02040503050406030204" pitchFamily="18" charset="0"/>
                        </a:rPr>
                        <m:t>𝑷</m:t>
                      </m:r>
                      <m:d>
                        <m:dPr>
                          <m:ctrlPr>
                            <a:rPr lang="ar-AE" sz="2000" b="1" i="1">
                              <a:solidFill>
                                <a:srgbClr val="FF0000"/>
                              </a:solidFill>
                              <a:latin typeface="Cambria Math" panose="02040503050406030204" pitchFamily="18" charset="0"/>
                            </a:rPr>
                          </m:ctrlPr>
                        </m:dPr>
                        <m:e>
                          <m:r>
                            <a:rPr lang="ar-AE" sz="2000" b="1" i="1" smtClean="0">
                              <a:solidFill>
                                <a:srgbClr val="FF0000"/>
                              </a:solidFill>
                              <a:latin typeface="Cambria Math" panose="02040503050406030204" pitchFamily="18" charset="0"/>
                            </a:rPr>
                            <m:t>𝑩</m:t>
                          </m:r>
                        </m:e>
                      </m:d>
                      <m:r>
                        <a:rPr lang="ar-AE" sz="2000" b="1" i="0" smtClean="0">
                          <a:solidFill>
                            <a:srgbClr val="FF0000"/>
                          </a:solidFill>
                          <a:latin typeface="Cambria Math" panose="02040503050406030204" pitchFamily="18" charset="0"/>
                        </a:rPr>
                        <m:t>−</m:t>
                      </m:r>
                      <m:r>
                        <a:rPr lang="ar-AE" sz="2000" b="1" i="1" smtClean="0">
                          <a:solidFill>
                            <a:srgbClr val="FF0000"/>
                          </a:solidFill>
                          <a:latin typeface="Cambria Math" panose="02040503050406030204" pitchFamily="18" charset="0"/>
                        </a:rPr>
                        <m:t>𝑷</m:t>
                      </m:r>
                      <m:d>
                        <m:dPr>
                          <m:ctrlPr>
                            <a:rPr lang="ar-AE" sz="2000" b="1" i="1">
                              <a:solidFill>
                                <a:srgbClr val="FF0000"/>
                              </a:solidFill>
                              <a:latin typeface="Cambria Math" panose="02040503050406030204" pitchFamily="18" charset="0"/>
                            </a:rPr>
                          </m:ctrlPr>
                        </m:dPr>
                        <m:e>
                          <m:r>
                            <a:rPr lang="ar-AE" sz="2000" b="1" i="1" smtClean="0">
                              <a:solidFill>
                                <a:srgbClr val="FF0000"/>
                              </a:solidFill>
                              <a:latin typeface="Cambria Math" panose="02040503050406030204" pitchFamily="18" charset="0"/>
                            </a:rPr>
                            <m:t>𝑨</m:t>
                          </m:r>
                          <m:r>
                            <a:rPr lang="ar-AE" sz="2000" b="1" i="0" smtClean="0">
                              <a:solidFill>
                                <a:srgbClr val="FF0000"/>
                              </a:solidFill>
                              <a:latin typeface="Cambria Math" panose="02040503050406030204" pitchFamily="18" charset="0"/>
                            </a:rPr>
                            <m:t>∩</m:t>
                          </m:r>
                          <m:r>
                            <a:rPr lang="ar-AE" sz="2000" b="1" i="1" smtClean="0">
                              <a:solidFill>
                                <a:srgbClr val="FF0000"/>
                              </a:solidFill>
                              <a:latin typeface="Cambria Math" panose="02040503050406030204" pitchFamily="18" charset="0"/>
                            </a:rPr>
                            <m:t>𝑩</m:t>
                          </m:r>
                        </m:e>
                      </m:d>
                    </m:oMath>
                  </m:oMathPara>
                </a14:m>
                <a:endParaRPr lang="ar-AE" sz="2000" b="1" dirty="0">
                  <a:solidFill>
                    <a:srgbClr val="FF0000"/>
                  </a:solidFill>
                </a:endParaRPr>
              </a:p>
            </p:txBody>
          </p:sp>
        </mc:Choice>
        <mc:Fallback xmlns="">
          <p:sp>
            <p:nvSpPr>
              <p:cNvPr id="6" name="TextBox 5">
                <a:extLst>
                  <a:ext uri="{FF2B5EF4-FFF2-40B4-BE49-F238E27FC236}">
                    <a16:creationId xmlns:a16="http://schemas.microsoft.com/office/drawing/2014/main" id="{F871B0CC-E1C4-2B21-876F-709630A18AF9}"/>
                  </a:ext>
                </a:extLst>
              </p:cNvPr>
              <p:cNvSpPr txBox="1">
                <a:spLocks noRot="1" noChangeAspect="1" noMove="1" noResize="1" noEditPoints="1" noAdjustHandles="1" noChangeArrowheads="1" noChangeShapeType="1" noTextEdit="1"/>
              </p:cNvSpPr>
              <p:nvPr/>
            </p:nvSpPr>
            <p:spPr>
              <a:xfrm>
                <a:off x="6097572" y="2114756"/>
                <a:ext cx="6094428" cy="1323439"/>
              </a:xfrm>
              <a:prstGeom prst="rect">
                <a:avLst/>
              </a:prstGeom>
              <a:blipFill>
                <a:blip r:embed="rId3"/>
                <a:stretch>
                  <a:fillRect l="-1000" t="-27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13727FC-C874-F4F1-9C87-4ABF64271184}"/>
                  </a:ext>
                </a:extLst>
              </p:cNvPr>
              <p:cNvSpPr txBox="1"/>
              <p:nvPr/>
            </p:nvSpPr>
            <p:spPr>
              <a:xfrm>
                <a:off x="6097572" y="3630842"/>
                <a:ext cx="6094428" cy="889795"/>
              </a:xfrm>
              <a:prstGeom prst="rect">
                <a:avLst/>
              </a:prstGeom>
              <a:noFill/>
            </p:spPr>
            <p:txBody>
              <a:bodyPr wrap="square">
                <a:spAutoFit/>
              </a:bodyPr>
              <a:lstStyle/>
              <a:p>
                <a:pPr>
                  <a:buNone/>
                </a:pPr>
                <a:r>
                  <a:rPr lang="en-IN" dirty="0"/>
                  <a:t>P(Red card or King) </a:t>
                </a: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26</m:t>
                          </m:r>
                        </m:num>
                        <m:den>
                          <m:r>
                            <a:rPr lang="ar-AE" i="0">
                              <a:latin typeface="Cambria Math" panose="02040503050406030204" pitchFamily="18" charset="0"/>
                            </a:rPr>
                            <m:t>52</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4</m:t>
                          </m:r>
                        </m:num>
                        <m:den>
                          <m:r>
                            <a:rPr lang="ar-AE" i="0">
                              <a:latin typeface="Cambria Math" panose="02040503050406030204" pitchFamily="18" charset="0"/>
                            </a:rPr>
                            <m:t>52</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52</m:t>
                          </m:r>
                        </m:den>
                      </m:f>
                    </m:oMath>
                  </m:oMathPara>
                </a14:m>
                <a:endParaRPr lang="ar-AE" dirty="0"/>
              </a:p>
            </p:txBody>
          </p:sp>
        </mc:Choice>
        <mc:Fallback xmlns="">
          <p:sp>
            <p:nvSpPr>
              <p:cNvPr id="8" name="TextBox 7">
                <a:extLst>
                  <a:ext uri="{FF2B5EF4-FFF2-40B4-BE49-F238E27FC236}">
                    <a16:creationId xmlns:a16="http://schemas.microsoft.com/office/drawing/2014/main" id="{413727FC-C874-F4F1-9C87-4ABF64271184}"/>
                  </a:ext>
                </a:extLst>
              </p:cNvPr>
              <p:cNvSpPr txBox="1">
                <a:spLocks noRot="1" noChangeAspect="1" noMove="1" noResize="1" noEditPoints="1" noAdjustHandles="1" noChangeArrowheads="1" noChangeShapeType="1" noTextEdit="1"/>
              </p:cNvSpPr>
              <p:nvPr/>
            </p:nvSpPr>
            <p:spPr>
              <a:xfrm>
                <a:off x="6097572" y="3630842"/>
                <a:ext cx="6094428" cy="889795"/>
              </a:xfrm>
              <a:prstGeom prst="rect">
                <a:avLst/>
              </a:prstGeom>
              <a:blipFill>
                <a:blip r:embed="rId4"/>
                <a:stretch>
                  <a:fillRect l="-800" t="-411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AFF62F-553A-60EF-8829-18B21968D341}"/>
                  </a:ext>
                </a:extLst>
              </p:cNvPr>
              <p:cNvSpPr txBox="1"/>
              <p:nvPr/>
            </p:nvSpPr>
            <p:spPr>
              <a:xfrm>
                <a:off x="6253900" y="4699014"/>
                <a:ext cx="5350496" cy="1928798"/>
              </a:xfrm>
              <a:prstGeom prst="rect">
                <a:avLst/>
              </a:prstGeom>
              <a:noFill/>
            </p:spPr>
            <p:txBody>
              <a:bodyPr wrap="square">
                <a:spAutoFit/>
              </a:bodyPr>
              <a:lstStyle/>
              <a:p>
                <a:pPr>
                  <a:buNone/>
                </a:pPr>
                <a:r>
                  <a:rPr lang="en-IN" b="1" dirty="0"/>
                  <a:t>Final calculation</a:t>
                </a: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26</m:t>
                          </m:r>
                          <m:r>
                            <a:rPr lang="ar-AE" i="0">
                              <a:latin typeface="Cambria Math" panose="02040503050406030204" pitchFamily="18" charset="0"/>
                            </a:rPr>
                            <m:t>+</m:t>
                          </m:r>
                          <m:r>
                            <a:rPr lang="ar-AE" i="0">
                              <a:latin typeface="Cambria Math" panose="02040503050406030204" pitchFamily="18" charset="0"/>
                            </a:rPr>
                            <m:t>4</m:t>
                          </m:r>
                          <m:r>
                            <a:rPr lang="ar-AE" i="0">
                              <a:latin typeface="Cambria Math" panose="02040503050406030204" pitchFamily="18" charset="0"/>
                            </a:rPr>
                            <m:t>−</m:t>
                          </m:r>
                          <m:r>
                            <a:rPr lang="ar-AE" i="0">
                              <a:latin typeface="Cambria Math" panose="02040503050406030204" pitchFamily="18" charset="0"/>
                            </a:rPr>
                            <m:t>2</m:t>
                          </m:r>
                        </m:num>
                        <m:den>
                          <m:r>
                            <a:rPr lang="ar-AE" i="0">
                              <a:latin typeface="Cambria Math" panose="02040503050406030204" pitchFamily="18" charset="0"/>
                            </a:rPr>
                            <m:t>52</m:t>
                          </m:r>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28</m:t>
                          </m:r>
                        </m:num>
                        <m:den>
                          <m:r>
                            <a:rPr lang="ar-AE" i="0">
                              <a:latin typeface="Cambria Math" panose="02040503050406030204" pitchFamily="18" charset="0"/>
                            </a:rPr>
                            <m:t>52</m:t>
                          </m:r>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7</m:t>
                          </m:r>
                        </m:num>
                        <m:den>
                          <m:r>
                            <a:rPr lang="ar-AE" i="0">
                              <a:latin typeface="Cambria Math" panose="02040503050406030204" pitchFamily="18" charset="0"/>
                            </a:rPr>
                            <m:t>13</m:t>
                          </m:r>
                        </m:den>
                      </m:f>
                    </m:oMath>
                  </m:oMathPara>
                </a14:m>
                <a:endParaRPr lang="ar-AE" dirty="0"/>
              </a:p>
            </p:txBody>
          </p:sp>
        </mc:Choice>
        <mc:Fallback xmlns="">
          <p:sp>
            <p:nvSpPr>
              <p:cNvPr id="10" name="TextBox 9">
                <a:extLst>
                  <a:ext uri="{FF2B5EF4-FFF2-40B4-BE49-F238E27FC236}">
                    <a16:creationId xmlns:a16="http://schemas.microsoft.com/office/drawing/2014/main" id="{EBAFF62F-553A-60EF-8829-18B21968D341}"/>
                  </a:ext>
                </a:extLst>
              </p:cNvPr>
              <p:cNvSpPr txBox="1">
                <a:spLocks noRot="1" noChangeAspect="1" noMove="1" noResize="1" noEditPoints="1" noAdjustHandles="1" noChangeArrowheads="1" noChangeShapeType="1" noTextEdit="1"/>
              </p:cNvSpPr>
              <p:nvPr/>
            </p:nvSpPr>
            <p:spPr>
              <a:xfrm>
                <a:off x="6253900" y="4699014"/>
                <a:ext cx="5350496" cy="1928798"/>
              </a:xfrm>
              <a:prstGeom prst="rect">
                <a:avLst/>
              </a:prstGeom>
              <a:blipFill>
                <a:blip r:embed="rId5"/>
                <a:stretch>
                  <a:fillRect l="-1025" t="-1899"/>
                </a:stretch>
              </a:blipFill>
            </p:spPr>
            <p:txBody>
              <a:bodyPr/>
              <a:lstStyle/>
              <a:p>
                <a:r>
                  <a:rPr lang="en-IN">
                    <a:noFill/>
                  </a:rPr>
                  <a:t> </a:t>
                </a:r>
              </a:p>
            </p:txBody>
          </p:sp>
        </mc:Fallback>
      </mc:AlternateContent>
    </p:spTree>
    <p:extLst>
      <p:ext uri="{BB962C8B-B14F-4D97-AF65-F5344CB8AC3E}">
        <p14:creationId xmlns:p14="http://schemas.microsoft.com/office/powerpoint/2010/main" val="136917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
                                            <p:txEl>
                                              <p:pRg st="0" end="0"/>
                                            </p:txEl>
                                          </p:spTgt>
                                        </p:tgtEl>
                                        <p:attrNameLst>
                                          <p:attrName>style.visibility</p:attrName>
                                        </p:attrNameLst>
                                      </p:cBhvr>
                                      <p:to>
                                        <p:strVal val="visible"/>
                                      </p:to>
                                    </p:set>
                                    <p:anim calcmode="lin" valueType="num">
                                      <p:cBhvr additive="base">
                                        <p:cTn id="4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8">
                                            <p:txEl>
                                              <p:pRg st="0" end="0"/>
                                            </p:txEl>
                                          </p:spTgt>
                                        </p:tgtEl>
                                        <p:attrNameLst>
                                          <p:attrName>style.visibility</p:attrName>
                                        </p:attrNameLst>
                                      </p:cBhvr>
                                      <p:to>
                                        <p:strVal val="visible"/>
                                      </p:to>
                                    </p:set>
                                    <p:anim calcmode="lin" valueType="num">
                                      <p:cBhvr additive="base">
                                        <p:cTn id="59"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8">
                                            <p:txEl>
                                              <p:pRg st="0" end="0"/>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8">
                                            <p:txEl>
                                              <p:pRg st="1" end="1"/>
                                            </p:txEl>
                                          </p:spTgt>
                                        </p:tgtEl>
                                        <p:attrNameLst>
                                          <p:attrName>style.visibility</p:attrName>
                                        </p:attrNameLst>
                                      </p:cBhvr>
                                      <p:to>
                                        <p:strVal val="visible"/>
                                      </p:to>
                                    </p:set>
                                    <p:anim calcmode="lin" valueType="num">
                                      <p:cBhvr additive="base">
                                        <p:cTn id="6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0">
                                            <p:txEl>
                                              <p:pRg st="0" end="0"/>
                                            </p:txEl>
                                          </p:spTgt>
                                        </p:tgtEl>
                                        <p:attrNameLst>
                                          <p:attrName>style.visibility</p:attrName>
                                        </p:attrNameLst>
                                      </p:cBhvr>
                                      <p:to>
                                        <p:strVal val="visible"/>
                                      </p:to>
                                    </p:set>
                                    <p:anim calcmode="lin" valueType="num">
                                      <p:cBhvr additive="base">
                                        <p:cTn id="6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0">
                                            <p:txEl>
                                              <p:pRg st="1" end="1"/>
                                            </p:txEl>
                                          </p:spTgt>
                                        </p:tgtEl>
                                        <p:attrNameLst>
                                          <p:attrName>style.visibility</p:attrName>
                                        </p:attrNameLst>
                                      </p:cBhvr>
                                      <p:to>
                                        <p:strVal val="visible"/>
                                      </p:to>
                                    </p:set>
                                    <p:anim calcmode="lin" valueType="num">
                                      <p:cBhvr additive="base">
                                        <p:cTn id="7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0">
                                            <p:txEl>
                                              <p:pRg st="2" end="2"/>
                                            </p:txEl>
                                          </p:spTgt>
                                        </p:tgtEl>
                                        <p:attrNameLst>
                                          <p:attrName>style.visibility</p:attrName>
                                        </p:attrNameLst>
                                      </p:cBhvr>
                                      <p:to>
                                        <p:strVal val="visible"/>
                                      </p:to>
                                    </p:set>
                                    <p:anim calcmode="lin" valueType="num">
                                      <p:cBhvr additive="base">
                                        <p:cTn id="77"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0">
                                            <p:txEl>
                                              <p:pRg st="3" end="3"/>
                                            </p:txEl>
                                          </p:spTgt>
                                        </p:tgtEl>
                                        <p:attrNameLst>
                                          <p:attrName>style.visibility</p:attrName>
                                        </p:attrNameLst>
                                      </p:cBhvr>
                                      <p:to>
                                        <p:strVal val="visible"/>
                                      </p:to>
                                    </p:set>
                                    <p:anim calcmode="lin" valueType="num">
                                      <p:cBhvr additive="base">
                                        <p:cTn id="8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1303A-6AB9-926C-7313-EC6E58B802D7}"/>
              </a:ext>
            </a:extLst>
          </p:cNvPr>
          <p:cNvSpPr>
            <a:spLocks noGrp="1"/>
          </p:cNvSpPr>
          <p:nvPr>
            <p:ph type="title"/>
          </p:nvPr>
        </p:nvSpPr>
        <p:spPr/>
        <p:txBody>
          <a:bodyPr>
            <a:normAutofit/>
          </a:bodyPr>
          <a:lstStyle/>
          <a:p>
            <a:r>
              <a:rPr lang="en-US" sz="2800" dirty="0"/>
              <a:t>4.A card is drawn at random from a well-shuffled deck of 52 playing cards.</a:t>
            </a:r>
            <a:br>
              <a:rPr lang="en-US" sz="2800" dirty="0"/>
            </a:br>
            <a:r>
              <a:rPr lang="en-US" sz="2800" dirty="0"/>
              <a:t>What is the probability that the card drawn is </a:t>
            </a:r>
            <a:r>
              <a:rPr lang="en-US" sz="2800" b="1" dirty="0"/>
              <a:t>either a heart or a king</a:t>
            </a:r>
            <a:r>
              <a:rPr lang="en-US" sz="2800" dirty="0"/>
              <a:t>?</a:t>
            </a:r>
            <a:endParaRPr lang="en-IN"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B00338-9432-0634-FBE0-AC5B8F6E4D25}"/>
                  </a:ext>
                </a:extLst>
              </p:cNvPr>
              <p:cNvSpPr>
                <a:spLocks noGrp="1"/>
              </p:cNvSpPr>
              <p:nvPr>
                <p:ph idx="1"/>
              </p:nvPr>
            </p:nvSpPr>
            <p:spPr/>
            <p:txBody>
              <a:bodyPr>
                <a:normAutofit fontScale="92500" lnSpcReduction="20000"/>
              </a:bodyPr>
              <a:lstStyle/>
              <a:p>
                <a:pPr marL="0" indent="0">
                  <a:buNone/>
                </a:pPr>
                <a:r>
                  <a:rPr lang="en-IN" b="1" dirty="0"/>
                  <a:t>Step 1: Total number of outcomes- 52</a:t>
                </a:r>
              </a:p>
              <a:p>
                <a:pPr marL="0" indent="0">
                  <a:buNone/>
                </a:pPr>
                <a:r>
                  <a:rPr lang="en-IN" b="1" dirty="0"/>
                  <a:t>Step 2: Required counts</a:t>
                </a:r>
              </a:p>
              <a:p>
                <a:pPr marL="0" indent="0">
                  <a:buNone/>
                </a:pPr>
                <a:r>
                  <a:rPr lang="en-IN" dirty="0"/>
                  <a:t>Number of heart cards = </a:t>
                </a:r>
                <a:r>
                  <a:rPr lang="en-IN" b="1" dirty="0"/>
                  <a:t>13</a:t>
                </a:r>
                <a:endParaRPr lang="en-IN" dirty="0"/>
              </a:p>
              <a:p>
                <a:pPr marL="0" indent="0">
                  <a:buNone/>
                </a:pPr>
                <a:r>
                  <a:rPr lang="en-IN" dirty="0"/>
                  <a:t>Number of kings = </a:t>
                </a:r>
                <a:r>
                  <a:rPr lang="en-IN" b="1" dirty="0"/>
                  <a:t>4</a:t>
                </a:r>
                <a:endParaRPr lang="en-IN" dirty="0"/>
              </a:p>
              <a:p>
                <a:pPr marL="0" indent="0">
                  <a:buNone/>
                </a:pPr>
                <a:r>
                  <a:rPr lang="en-IN" dirty="0"/>
                  <a:t>Common card (King of Hearts) = </a:t>
                </a:r>
                <a:r>
                  <a:rPr lang="en-IN" b="1" dirty="0"/>
                  <a:t>1</a:t>
                </a:r>
                <a:endParaRPr lang="en-IN" dirty="0"/>
              </a:p>
              <a:p>
                <a:pPr marL="0" indent="0">
                  <a:buNone/>
                </a:pPr>
                <a:r>
                  <a:rPr lang="en-IN" b="1" dirty="0"/>
                  <a:t>Step 3: “Either / Or” rule → ADD (subtract common)</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i="1"/>
                            <m:t>Heart</m:t>
                          </m:r>
                          <m:r>
                            <m:rPr>
                              <m:nor/>
                            </m:rPr>
                            <a:rPr lang="en-IN" i="1"/>
                            <m:t> </m:t>
                          </m:r>
                          <m:r>
                            <m:rPr>
                              <m:nor/>
                            </m:rPr>
                            <a:rPr lang="en-IN" i="1"/>
                            <m:t>or</m:t>
                          </m:r>
                          <m:r>
                            <m:rPr>
                              <m:nor/>
                            </m:rPr>
                            <a:rPr lang="en-IN" i="1"/>
                            <m:t> </m:t>
                          </m:r>
                          <m:r>
                            <m:rPr>
                              <m:nor/>
                            </m:rPr>
                            <a:rPr lang="en-IN" i="1"/>
                            <m:t>King</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13</m:t>
                          </m:r>
                        </m:num>
                        <m:den>
                          <m:r>
                            <a:rPr lang="ar-AE">
                              <a:latin typeface="Cambria Math" panose="02040503050406030204" pitchFamily="18" charset="0"/>
                            </a:rPr>
                            <m:t>52</m:t>
                          </m:r>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4</m:t>
                          </m:r>
                        </m:num>
                        <m:den>
                          <m:r>
                            <a:rPr lang="ar-AE">
                              <a:latin typeface="Cambria Math" panose="02040503050406030204" pitchFamily="18" charset="0"/>
                            </a:rPr>
                            <m:t>52</m:t>
                          </m:r>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52</m:t>
                          </m:r>
                        </m:den>
                      </m:f>
                    </m:oMath>
                  </m:oMathPara>
                </a14:m>
                <a:endParaRPr lang="en-US" b="0" dirty="0"/>
              </a:p>
              <a:p>
                <a:pPr marL="0" indent="0">
                  <a:buNone/>
                </a:pPr>
                <a:r>
                  <a:rPr lang="en-IN" b="1" dirty="0"/>
                  <a:t>Final Answer</a:t>
                </a:r>
              </a:p>
              <a:p>
                <a:pPr marL="0" indent="0">
                  <a:buNone/>
                </a:pPr>
                <a14:m>
                  <m:oMathPara xmlns:m="http://schemas.openxmlformats.org/officeDocument/2006/math">
                    <m:oMathParaPr>
                      <m:jc m:val="centerGroup"/>
                    </m:oMathParaPr>
                    <m:oMath xmlns:m="http://schemas.openxmlformats.org/officeDocument/2006/math">
                      <m:borderBox>
                        <m:borderBoxPr>
                          <m:ctrlPr>
                            <a:rPr lang="ar-AE" i="1">
                              <a:latin typeface="Cambria Math" panose="02040503050406030204" pitchFamily="18" charset="0"/>
                            </a:rPr>
                          </m:ctrlPr>
                        </m:borderBoxPr>
                        <m:e>
                          <m:f>
                            <m:fPr>
                              <m:ctrlPr>
                                <a:rPr lang="ar-AE" i="1">
                                  <a:latin typeface="Cambria Math" panose="02040503050406030204" pitchFamily="18" charset="0"/>
                                </a:rPr>
                              </m:ctrlPr>
                            </m:fPr>
                            <m:num>
                              <m:r>
                                <a:rPr lang="ar-AE">
                                  <a:latin typeface="Cambria Math" panose="02040503050406030204" pitchFamily="18" charset="0"/>
                                </a:rPr>
                                <m:t>4</m:t>
                              </m:r>
                            </m:num>
                            <m:den>
                              <m:r>
                                <a:rPr lang="ar-AE">
                                  <a:latin typeface="Cambria Math" panose="02040503050406030204" pitchFamily="18" charset="0"/>
                                </a:rPr>
                                <m:t>13</m:t>
                              </m:r>
                            </m:den>
                          </m:f>
                        </m:e>
                      </m:borderBox>
                    </m:oMath>
                  </m:oMathPara>
                </a14:m>
                <a:endParaRPr lang="ar-AE" dirty="0"/>
              </a:p>
              <a:p>
                <a:pPr marL="0" indent="0">
                  <a:buNone/>
                </a:pPr>
                <a:endParaRPr lang="ar-AE" b="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21B00338-9432-0634-FBE0-AC5B8F6E4D25}"/>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n-IN">
                    <a:noFill/>
                  </a:rPr>
                  <a:t> </a:t>
                </a:r>
              </a:p>
            </p:txBody>
          </p:sp>
        </mc:Fallback>
      </mc:AlternateContent>
    </p:spTree>
    <p:extLst>
      <p:ext uri="{BB962C8B-B14F-4D97-AF65-F5344CB8AC3E}">
        <p14:creationId xmlns:p14="http://schemas.microsoft.com/office/powerpoint/2010/main" val="295543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82B3F-998E-B9F0-6938-CAA83AA7DA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F3C4A8-FE9B-6B4E-78AF-66797500548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848A3AF-ED3D-F815-FA76-90242B4FFE20}"/>
              </a:ext>
            </a:extLst>
          </p:cNvPr>
          <p:cNvPicPr>
            <a:picLocks noChangeAspect="1"/>
          </p:cNvPicPr>
          <p:nvPr/>
        </p:nvPicPr>
        <p:blipFill>
          <a:blip r:embed="rId2"/>
          <a:stretch>
            <a:fillRect/>
          </a:stretch>
        </p:blipFill>
        <p:spPr>
          <a:xfrm>
            <a:off x="0" y="-1"/>
            <a:ext cx="6372916" cy="6858001"/>
          </a:xfrm>
          <a:prstGeom prst="rect">
            <a:avLst/>
          </a:prstGeom>
        </p:spPr>
      </p:pic>
      <p:pic>
        <p:nvPicPr>
          <p:cNvPr id="7" name="Picture 6">
            <a:extLst>
              <a:ext uri="{FF2B5EF4-FFF2-40B4-BE49-F238E27FC236}">
                <a16:creationId xmlns:a16="http://schemas.microsoft.com/office/drawing/2014/main" id="{2E5702F6-850E-FEF3-7765-96E62630ABAF}"/>
              </a:ext>
            </a:extLst>
          </p:cNvPr>
          <p:cNvPicPr>
            <a:picLocks noChangeAspect="1"/>
          </p:cNvPicPr>
          <p:nvPr/>
        </p:nvPicPr>
        <p:blipFill>
          <a:blip r:embed="rId3"/>
          <a:stretch>
            <a:fillRect/>
          </a:stretch>
        </p:blipFill>
        <p:spPr>
          <a:xfrm>
            <a:off x="6372916" y="0"/>
            <a:ext cx="5791710" cy="6728837"/>
          </a:xfrm>
          <a:prstGeom prst="rect">
            <a:avLst/>
          </a:prstGeom>
        </p:spPr>
      </p:pic>
    </p:spTree>
    <p:extLst>
      <p:ext uri="{BB962C8B-B14F-4D97-AF65-F5344CB8AC3E}">
        <p14:creationId xmlns:p14="http://schemas.microsoft.com/office/powerpoint/2010/main" val="705254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84FEDF-456E-B8B6-32B3-18D6EA51EC6A}"/>
              </a:ext>
            </a:extLst>
          </p:cNvPr>
          <p:cNvSpPr txBox="1"/>
          <p:nvPr/>
        </p:nvSpPr>
        <p:spPr>
          <a:xfrm>
            <a:off x="0" y="122796"/>
            <a:ext cx="12047456" cy="1446550"/>
          </a:xfrm>
          <a:prstGeom prst="rect">
            <a:avLst/>
          </a:prstGeom>
          <a:noFill/>
        </p:spPr>
        <p:txBody>
          <a:bodyPr wrap="square">
            <a:spAutoFit/>
          </a:bodyPr>
          <a:lstStyle/>
          <a:p>
            <a:r>
              <a:rPr lang="en-US" sz="2800" dirty="0"/>
              <a:t>A bag contains </a:t>
            </a:r>
            <a:r>
              <a:rPr lang="en-US" sz="2800" b="1" dirty="0"/>
              <a:t>6 red balls</a:t>
            </a:r>
            <a:r>
              <a:rPr lang="en-US" sz="2800" dirty="0"/>
              <a:t> and </a:t>
            </a:r>
            <a:r>
              <a:rPr lang="en-US" sz="2800" b="1" dirty="0"/>
              <a:t>4 yellow balls</a:t>
            </a:r>
            <a:r>
              <a:rPr lang="en-US" sz="2800" dirty="0"/>
              <a:t>. If </a:t>
            </a:r>
            <a:r>
              <a:rPr lang="en-US" sz="2800" b="1" dirty="0"/>
              <a:t>4 balls are drawn at random</a:t>
            </a:r>
            <a:r>
              <a:rPr lang="en-US" sz="2800" dirty="0"/>
              <a:t> from the bag at the same time, what is the </a:t>
            </a:r>
            <a:r>
              <a:rPr lang="en-US" sz="2800" b="1" dirty="0"/>
              <a:t>probability that exactly 3 of the balls are red </a:t>
            </a:r>
            <a:r>
              <a:rPr lang="en-US" sz="3200" b="1" dirty="0">
                <a:solidFill>
                  <a:srgbClr val="FF0000"/>
                </a:solidFill>
              </a:rPr>
              <a:t>and</a:t>
            </a:r>
            <a:r>
              <a:rPr lang="en-US" sz="2800" b="1" dirty="0">
                <a:solidFill>
                  <a:srgbClr val="FF0000"/>
                </a:solidFill>
              </a:rPr>
              <a:t> </a:t>
            </a:r>
            <a:r>
              <a:rPr lang="en-US" sz="2800" b="1" dirty="0"/>
              <a:t>1 is yellow</a:t>
            </a:r>
            <a:r>
              <a:rPr lang="en-US" sz="2800" dirty="0"/>
              <a:t>?</a:t>
            </a:r>
            <a:endParaRPr lang="en-IN" sz="28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9CA2F2-9527-0F1F-7255-A25292D693CD}"/>
                  </a:ext>
                </a:extLst>
              </p:cNvPr>
              <p:cNvSpPr txBox="1"/>
              <p:nvPr/>
            </p:nvSpPr>
            <p:spPr>
              <a:xfrm>
                <a:off x="230957" y="1806967"/>
                <a:ext cx="6155702" cy="2557367"/>
              </a:xfrm>
              <a:prstGeom prst="rect">
                <a:avLst/>
              </a:prstGeom>
              <a:noFill/>
            </p:spPr>
            <p:txBody>
              <a:bodyPr wrap="square">
                <a:spAutoFit/>
              </a:bodyPr>
              <a:lstStyle/>
              <a:p>
                <a:pPr>
                  <a:buNone/>
                </a:pPr>
                <a:r>
                  <a:rPr lang="en-IN" b="1" dirty="0"/>
                  <a:t>Step 1: Write probability formula</a:t>
                </a:r>
              </a:p>
              <a:p>
                <a:pPr>
                  <a:buNone/>
                </a:pPr>
                <a14:m>
                  <m:oMathPara xmlns:m="http://schemas.openxmlformats.org/officeDocument/2006/math">
                    <m:oMathParaPr>
                      <m:jc m:val="centerGroup"/>
                    </m:oMathParaPr>
                    <m:oMath xmlns:m="http://schemas.openxmlformats.org/officeDocument/2006/math">
                      <m:r>
                        <m:rPr>
                          <m:nor/>
                        </m:rPr>
                        <a:rPr lang="en-IN" b="0"/>
                        <m:t>Probability</m:t>
                      </m:r>
                      <m:r>
                        <a:rPr lang="en-IN" b="0" i="0">
                          <a:latin typeface="Cambria Math" panose="02040503050406030204" pitchFamily="18" charset="0"/>
                        </a:rPr>
                        <m:t>=</m:t>
                      </m:r>
                      <m:f>
                        <m:fPr>
                          <m:ctrlPr>
                            <a:rPr lang="ar-AE" b="0" i="1">
                              <a:latin typeface="Cambria Math" panose="02040503050406030204" pitchFamily="18" charset="0"/>
                            </a:rPr>
                          </m:ctrlPr>
                        </m:fPr>
                        <m:num>
                          <m:r>
                            <m:rPr>
                              <m:nor/>
                            </m:rPr>
                            <a:rPr lang="en-IN" b="0" i="1">
                              <a:latin typeface="Cambria Math" panose="02040503050406030204" pitchFamily="18" charset="0"/>
                            </a:rPr>
                            <m:t>Selected</m:t>
                          </m:r>
                          <m:r>
                            <m:rPr>
                              <m:nor/>
                            </m:rPr>
                            <a:rPr lang="en-IN" b="0" i="1">
                              <a:latin typeface="Cambria Math" panose="02040503050406030204" pitchFamily="18" charset="0"/>
                            </a:rPr>
                            <m:t> </m:t>
                          </m:r>
                          <m:r>
                            <m:rPr>
                              <m:nor/>
                            </m:rPr>
                            <a:rPr lang="en-IN" b="0" i="1">
                              <a:latin typeface="Cambria Math" panose="02040503050406030204" pitchFamily="18" charset="0"/>
                            </a:rPr>
                            <m:t>Outcomes</m:t>
                          </m:r>
                        </m:num>
                        <m:den>
                          <m:r>
                            <m:rPr>
                              <m:nor/>
                            </m:rPr>
                            <a:rPr lang="en-IN" b="0" i="1">
                              <a:latin typeface="Cambria Math" panose="02040503050406030204" pitchFamily="18" charset="0"/>
                            </a:rPr>
                            <m:t>Possible</m:t>
                          </m:r>
                          <m:r>
                            <m:rPr>
                              <m:nor/>
                            </m:rPr>
                            <a:rPr lang="en-IN" b="0" i="1">
                              <a:latin typeface="Cambria Math" panose="02040503050406030204" pitchFamily="18" charset="0"/>
                            </a:rPr>
                            <m:t> </m:t>
                          </m:r>
                          <m:r>
                            <m:rPr>
                              <m:nor/>
                            </m:rPr>
                            <a:rPr lang="en-IN" b="0" i="1">
                              <a:latin typeface="Cambria Math" panose="02040503050406030204" pitchFamily="18" charset="0"/>
                            </a:rPr>
                            <m:t>Outcomes</m:t>
                          </m:r>
                        </m:den>
                      </m:f>
                    </m:oMath>
                  </m:oMathPara>
                </a14:m>
                <a:endParaRPr lang="ar-AE" b="0" dirty="0"/>
              </a:p>
              <a:p>
                <a:pPr>
                  <a:buNone/>
                </a:pPr>
                <a:br>
                  <a:rPr lang="ar-AE" dirty="0"/>
                </a:br>
                <a:endParaRPr lang="ar-AE" dirty="0"/>
              </a:p>
              <a:p>
                <a:pPr>
                  <a:buNone/>
                </a:pPr>
                <a:r>
                  <a:rPr lang="en-IN" b="1" dirty="0"/>
                  <a:t>Step 2: Selected Outcomes (S.O.O)</a:t>
                </a:r>
              </a:p>
              <a:p>
                <a:pPr>
                  <a:buFont typeface="Arial" panose="020B0604020202020204" pitchFamily="34" charset="0"/>
                  <a:buChar char="•"/>
                </a:pPr>
                <a:r>
                  <a:rPr lang="en-IN" dirty="0"/>
                  <a:t>Selecting </a:t>
                </a:r>
                <a:r>
                  <a:rPr lang="en-IN" b="1" dirty="0"/>
                  <a:t>3 red balls out of 6</a:t>
                </a:r>
                <a:r>
                  <a:rPr lang="en-IN" dirty="0"/>
                  <a:t> → 6</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3</m:t>
                        </m:r>
                      </m:sub>
                    </m:sSub>
                  </m:oMath>
                </a14:m>
                <a:endParaRPr lang="ar-AE" dirty="0"/>
              </a:p>
              <a:p>
                <a:pPr>
                  <a:buFont typeface="Arial" panose="020B0604020202020204" pitchFamily="34" charset="0"/>
                  <a:buChar char="•"/>
                </a:pPr>
                <a:r>
                  <a:rPr lang="en-IN" dirty="0"/>
                  <a:t>Selecting </a:t>
                </a:r>
                <a:r>
                  <a:rPr lang="en-IN" b="1" dirty="0"/>
                  <a:t>1 yellow ball out of 4</a:t>
                </a:r>
                <a:r>
                  <a:rPr lang="en-IN" dirty="0"/>
                  <a:t> → 4</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1</m:t>
                        </m:r>
                      </m:sub>
                    </m:sSub>
                  </m:oMath>
                </a14:m>
                <a:endParaRPr lang="ar-AE" dirty="0"/>
              </a:p>
              <a:p>
                <a:pPr>
                  <a:buNone/>
                </a:pPr>
                <a14:m>
                  <m:oMathPara xmlns:m="http://schemas.openxmlformats.org/officeDocument/2006/math">
                    <m:oMathParaPr>
                      <m:jc m:val="centerGroup"/>
                    </m:oMathParaPr>
                    <m:oMath xmlns:m="http://schemas.openxmlformats.org/officeDocument/2006/math">
                      <m:r>
                        <m:rPr>
                          <m:nor/>
                        </m:rPr>
                        <a:rPr lang="en-IN" b="0"/>
                        <m:t>S</m:t>
                      </m:r>
                      <m:r>
                        <m:rPr>
                          <m:nor/>
                        </m:rPr>
                        <a:rPr lang="en-IN" b="0"/>
                        <m:t>.</m:t>
                      </m:r>
                      <m:r>
                        <m:rPr>
                          <m:nor/>
                        </m:rPr>
                        <a:rPr lang="en-IN" b="0"/>
                        <m:t>O</m:t>
                      </m:r>
                      <m:r>
                        <m:rPr>
                          <m:nor/>
                        </m:rPr>
                        <a:rPr lang="en-IN" b="0"/>
                        <m:t>.</m:t>
                      </m:r>
                      <m:r>
                        <m:rPr>
                          <m:nor/>
                        </m:rPr>
                        <a:rPr lang="en-IN" b="0"/>
                        <m:t>O</m:t>
                      </m:r>
                      <m:r>
                        <a:rPr lang="en-IN" b="0" i="0">
                          <a:latin typeface="Cambria Math" panose="02040503050406030204" pitchFamily="18" charset="0"/>
                        </a:rPr>
                        <m:t>=</m:t>
                      </m:r>
                      <m:r>
                        <a:rPr lang="en-US" b="0" i="1" smtClean="0">
                          <a:latin typeface="Cambria Math" panose="02040503050406030204" pitchFamily="18" charset="0"/>
                        </a:rPr>
                        <m:t>6</m:t>
                      </m:r>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3</m:t>
                          </m:r>
                        </m:sub>
                      </m:sSub>
                      <m:r>
                        <a:rPr lang="ar-AE" b="0" i="0">
                          <a:latin typeface="Cambria Math" panose="02040503050406030204" pitchFamily="18" charset="0"/>
                        </a:rPr>
                        <m:t>×</m:t>
                      </m:r>
                      <m:r>
                        <a:rPr lang="en-US" b="0" i="1" smtClean="0">
                          <a:latin typeface="Cambria Math" panose="02040503050406030204" pitchFamily="18" charset="0"/>
                        </a:rPr>
                        <m:t>4</m:t>
                      </m:r>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1</m:t>
                          </m:r>
                        </m:sub>
                      </m:sSub>
                    </m:oMath>
                  </m:oMathPara>
                </a14:m>
                <a:endParaRPr lang="ar-AE" b="0" dirty="0"/>
              </a:p>
            </p:txBody>
          </p:sp>
        </mc:Choice>
        <mc:Fallback xmlns="">
          <p:sp>
            <p:nvSpPr>
              <p:cNvPr id="7" name="TextBox 6">
                <a:extLst>
                  <a:ext uri="{FF2B5EF4-FFF2-40B4-BE49-F238E27FC236}">
                    <a16:creationId xmlns:a16="http://schemas.microsoft.com/office/drawing/2014/main" id="{7D9CA2F2-9527-0F1F-7255-A25292D693CD}"/>
                  </a:ext>
                </a:extLst>
              </p:cNvPr>
              <p:cNvSpPr txBox="1">
                <a:spLocks noRot="1" noChangeAspect="1" noMove="1" noResize="1" noEditPoints="1" noAdjustHandles="1" noChangeArrowheads="1" noChangeShapeType="1" noTextEdit="1"/>
              </p:cNvSpPr>
              <p:nvPr/>
            </p:nvSpPr>
            <p:spPr>
              <a:xfrm>
                <a:off x="230957" y="1806967"/>
                <a:ext cx="6155702" cy="2557367"/>
              </a:xfrm>
              <a:prstGeom prst="rect">
                <a:avLst/>
              </a:prstGeom>
              <a:blipFill>
                <a:blip r:embed="rId2"/>
                <a:stretch>
                  <a:fillRect l="-891" t="-11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7B81E1-95AD-3B45-DFD2-230D8FCC4DFE}"/>
                  </a:ext>
                </a:extLst>
              </p:cNvPr>
              <p:cNvSpPr txBox="1"/>
              <p:nvPr/>
            </p:nvSpPr>
            <p:spPr>
              <a:xfrm>
                <a:off x="108409" y="4918734"/>
                <a:ext cx="6155702" cy="965649"/>
              </a:xfrm>
              <a:prstGeom prst="rect">
                <a:avLst/>
              </a:prstGeom>
              <a:noFill/>
            </p:spPr>
            <p:txBody>
              <a:bodyPr wrap="square">
                <a:spAutoFit/>
              </a:bodyPr>
              <a:lstStyle/>
              <a:p>
                <a:pPr>
                  <a:buNone/>
                </a:pPr>
                <a:r>
                  <a:rPr lang="en-IN" b="1" dirty="0"/>
                  <a:t>Step 3: Possible Outcomes</a:t>
                </a:r>
              </a:p>
              <a:p>
                <a:pPr>
                  <a:buFont typeface="Arial" panose="020B0604020202020204" pitchFamily="34" charset="0"/>
                  <a:buChar char="•"/>
                </a:pPr>
                <a:r>
                  <a:rPr lang="en-IN" dirty="0"/>
                  <a:t>Selecting </a:t>
                </a:r>
                <a:r>
                  <a:rPr lang="en-IN" b="1" dirty="0"/>
                  <a:t>4 balls out of 10</a:t>
                </a:r>
                <a:endParaRPr lang="en-IN" dirty="0"/>
              </a:p>
              <a:p>
                <a:pPr>
                  <a:buNone/>
                </a:pPr>
                <a14:m>
                  <m:oMathPara xmlns:m="http://schemas.openxmlformats.org/officeDocument/2006/math">
                    <m:oMathParaPr>
                      <m:jc m:val="centerGroup"/>
                    </m:oMathParaPr>
                    <m:oMath xmlns:m="http://schemas.openxmlformats.org/officeDocument/2006/math">
                      <m:r>
                        <m:rPr>
                          <m:nor/>
                        </m:rPr>
                        <a:rPr lang="en-IN" b="0"/>
                        <m:t>Possible</m:t>
                      </m:r>
                      <m:r>
                        <m:rPr>
                          <m:nor/>
                        </m:rPr>
                        <a:rPr lang="en-IN" b="0" i="1"/>
                        <m:t> </m:t>
                      </m:r>
                      <m:r>
                        <m:rPr>
                          <m:nor/>
                        </m:rPr>
                        <a:rPr lang="en-IN" b="0" i="1"/>
                        <m:t>outcomes</m:t>
                      </m:r>
                      <m:r>
                        <a:rPr lang="en-IN" b="0" i="0">
                          <a:latin typeface="Cambria Math" panose="02040503050406030204" pitchFamily="18" charset="0"/>
                        </a:rPr>
                        <m:t>=</m:t>
                      </m:r>
                      <m:sSup>
                        <m:sSupPr>
                          <m:ctrlPr>
                            <a:rPr lang="ar-AE" b="0" i="1">
                              <a:latin typeface="Cambria Math" panose="02040503050406030204" pitchFamily="18" charset="0"/>
                            </a:rPr>
                          </m:ctrlPr>
                        </m:sSupPr>
                        <m:e/>
                        <m:sup>
                          <m:r>
                            <a:rPr lang="ar-AE" b="0" i="0">
                              <a:latin typeface="Cambria Math" panose="02040503050406030204" pitchFamily="18" charset="0"/>
                            </a:rPr>
                            <m:t>10</m:t>
                          </m:r>
                        </m:sup>
                      </m:sSup>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4</m:t>
                          </m:r>
                        </m:sub>
                      </m:sSub>
                    </m:oMath>
                  </m:oMathPara>
                </a14:m>
                <a:endParaRPr lang="ar-AE" b="0" dirty="0"/>
              </a:p>
            </p:txBody>
          </p:sp>
        </mc:Choice>
        <mc:Fallback xmlns="">
          <p:sp>
            <p:nvSpPr>
              <p:cNvPr id="11" name="TextBox 10">
                <a:extLst>
                  <a:ext uri="{FF2B5EF4-FFF2-40B4-BE49-F238E27FC236}">
                    <a16:creationId xmlns:a16="http://schemas.microsoft.com/office/drawing/2014/main" id="{937B81E1-95AD-3B45-DFD2-230D8FCC4DFE}"/>
                  </a:ext>
                </a:extLst>
              </p:cNvPr>
              <p:cNvSpPr txBox="1">
                <a:spLocks noRot="1" noChangeAspect="1" noMove="1" noResize="1" noEditPoints="1" noAdjustHandles="1" noChangeArrowheads="1" noChangeShapeType="1" noTextEdit="1"/>
              </p:cNvSpPr>
              <p:nvPr/>
            </p:nvSpPr>
            <p:spPr>
              <a:xfrm>
                <a:off x="108409" y="4918734"/>
                <a:ext cx="6155702" cy="965649"/>
              </a:xfrm>
              <a:prstGeom prst="rect">
                <a:avLst/>
              </a:prstGeom>
              <a:blipFill>
                <a:blip r:embed="rId3"/>
                <a:stretch>
                  <a:fillRect l="-891" t="-37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3B2C4A3-E183-FF70-4A02-424BBA5617AC}"/>
                  </a:ext>
                </a:extLst>
              </p:cNvPr>
              <p:cNvSpPr txBox="1"/>
              <p:nvPr/>
            </p:nvSpPr>
            <p:spPr>
              <a:xfrm>
                <a:off x="5670224" y="1504812"/>
                <a:ext cx="6155702" cy="3259867"/>
              </a:xfrm>
              <a:prstGeom prst="rect">
                <a:avLst/>
              </a:prstGeom>
              <a:noFill/>
            </p:spPr>
            <p:txBody>
              <a:bodyPr wrap="square">
                <a:spAutoFit/>
              </a:bodyPr>
              <a:lstStyle/>
              <a:p>
                <a:pPr>
                  <a:buNone/>
                </a:pPr>
                <a:r>
                  <a:rPr lang="en-IN" b="1" dirty="0"/>
                  <a:t>Step 4: Substitute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r>
                        <a:rPr lang="en-IN" i="0">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sup>
                              <m:r>
                                <a:rPr lang="ar-AE" i="0">
                                  <a:latin typeface="Cambria Math" panose="02040503050406030204" pitchFamily="18" charset="0"/>
                                </a:rPr>
                                <m:t>6</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3</m:t>
                              </m:r>
                            </m:sub>
                          </m:sSub>
                          <m:r>
                            <a:rPr lang="ar-AE" i="0">
                              <a:latin typeface="Cambria Math" panose="02040503050406030204" pitchFamily="18" charset="0"/>
                            </a:rPr>
                            <m:t>×</m:t>
                          </m:r>
                          <m:sSup>
                            <m:sSupPr>
                              <m:ctrlPr>
                                <a:rPr lang="ar-AE" i="1">
                                  <a:latin typeface="Cambria Math" panose="02040503050406030204" pitchFamily="18" charset="0"/>
                                </a:rPr>
                              </m:ctrlPr>
                            </m:sSupPr>
                            <m:e/>
                            <m:sup>
                              <m:r>
                                <a:rPr lang="ar-AE" i="0">
                                  <a:latin typeface="Cambria Math" panose="02040503050406030204" pitchFamily="18" charset="0"/>
                                </a:rPr>
                                <m:t>4</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1</m:t>
                              </m:r>
                            </m:sub>
                          </m:sSub>
                        </m:num>
                        <m:den>
                          <m:sSup>
                            <m:sSupPr>
                              <m:ctrlPr>
                                <a:rPr lang="ar-AE" i="1">
                                  <a:latin typeface="Cambria Math" panose="02040503050406030204" pitchFamily="18" charset="0"/>
                                </a:rPr>
                              </m:ctrlPr>
                            </m:sSupPr>
                            <m:e/>
                            <m:sup>
                              <m:r>
                                <a:rPr lang="ar-AE" i="0">
                                  <a:latin typeface="Cambria Math" panose="02040503050406030204" pitchFamily="18" charset="0"/>
                                </a:rPr>
                                <m:t>10</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4</m:t>
                              </m:r>
                            </m:sub>
                          </m:sSub>
                        </m:den>
                      </m:f>
                    </m:oMath>
                  </m:oMathPara>
                </a14:m>
                <a:endParaRPr lang="ar-AE" dirty="0"/>
              </a:p>
              <a:p>
                <a:pPr>
                  <a:buNone/>
                </a:pPr>
                <a:br>
                  <a:rPr lang="ar-AE" dirty="0"/>
                </a:br>
                <a:endParaRPr lang="ar-AE" dirty="0"/>
              </a:p>
              <a:p>
                <a:pPr>
                  <a:buNone/>
                </a:pPr>
                <a:r>
                  <a:rPr lang="en-IN" b="1" dirty="0"/>
                  <a:t>Step 5: Expand combinations</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6</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3</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6</m:t>
                          </m:r>
                          <m:r>
                            <a:rPr lang="ar-AE" i="0">
                              <a:latin typeface="Cambria Math" panose="02040503050406030204" pitchFamily="18" charset="0"/>
                            </a:rPr>
                            <m:t>×</m:t>
                          </m:r>
                          <m:r>
                            <a:rPr lang="ar-AE" i="0">
                              <a:latin typeface="Cambria Math" panose="02040503050406030204" pitchFamily="18" charset="0"/>
                            </a:rPr>
                            <m:t>5</m:t>
                          </m:r>
                          <m:r>
                            <a:rPr lang="ar-AE" i="0">
                              <a:latin typeface="Cambria Math" panose="02040503050406030204" pitchFamily="18" charset="0"/>
                            </a:rPr>
                            <m:t>×</m:t>
                          </m:r>
                          <m:r>
                            <a:rPr lang="ar-AE" i="0">
                              <a:latin typeface="Cambria Math" panose="02040503050406030204" pitchFamily="18" charset="0"/>
                            </a:rPr>
                            <m:t>4</m:t>
                          </m:r>
                        </m:num>
                        <m:den>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den>
                      </m:f>
                    </m:oMath>
                  </m:oMathPara>
                </a14:m>
                <a:endParaRPr lang="ar-AE" dirty="0"/>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4</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1</m:t>
                          </m:r>
                        </m:sub>
                      </m:sSub>
                      <m:r>
                        <a:rPr lang="ar-AE" i="0">
                          <a:latin typeface="Cambria Math" panose="02040503050406030204" pitchFamily="18" charset="0"/>
                        </a:rPr>
                        <m:t>=</m:t>
                      </m:r>
                      <m:r>
                        <a:rPr lang="ar-AE" i="0">
                          <a:latin typeface="Cambria Math" panose="02040503050406030204" pitchFamily="18" charset="0"/>
                        </a:rPr>
                        <m:t>4</m:t>
                      </m:r>
                    </m:oMath>
                  </m:oMathPara>
                </a14:m>
                <a:endParaRPr lang="ar-AE" dirty="0"/>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10</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4</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10</m:t>
                          </m:r>
                          <m:r>
                            <a:rPr lang="ar-AE" i="0">
                              <a:latin typeface="Cambria Math" panose="02040503050406030204" pitchFamily="18" charset="0"/>
                            </a:rPr>
                            <m:t>×</m:t>
                          </m:r>
                          <m:r>
                            <a:rPr lang="ar-AE" i="0">
                              <a:latin typeface="Cambria Math" panose="02040503050406030204" pitchFamily="18" charset="0"/>
                            </a:rPr>
                            <m:t>9</m:t>
                          </m:r>
                          <m:r>
                            <a:rPr lang="ar-AE" i="0">
                              <a:latin typeface="Cambria Math" panose="02040503050406030204" pitchFamily="18" charset="0"/>
                            </a:rPr>
                            <m:t>×</m:t>
                          </m:r>
                          <m:r>
                            <a:rPr lang="ar-AE" i="0">
                              <a:latin typeface="Cambria Math" panose="02040503050406030204" pitchFamily="18" charset="0"/>
                            </a:rPr>
                            <m:t>8</m:t>
                          </m:r>
                          <m:r>
                            <a:rPr lang="ar-AE" i="0">
                              <a:latin typeface="Cambria Math" panose="02040503050406030204" pitchFamily="18" charset="0"/>
                            </a:rPr>
                            <m:t>×</m:t>
                          </m:r>
                          <m:r>
                            <a:rPr lang="ar-AE" i="0">
                              <a:latin typeface="Cambria Math" panose="02040503050406030204" pitchFamily="18" charset="0"/>
                            </a:rPr>
                            <m:t>7</m:t>
                          </m:r>
                        </m:num>
                        <m:den>
                          <m:r>
                            <a:rPr lang="ar-AE" i="0">
                              <a:latin typeface="Cambria Math" panose="02040503050406030204" pitchFamily="18" charset="0"/>
                            </a:rPr>
                            <m:t>4</m:t>
                          </m:r>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den>
                      </m:f>
                    </m:oMath>
                  </m:oMathPara>
                </a14:m>
                <a:endParaRPr lang="ar-AE" dirty="0"/>
              </a:p>
            </p:txBody>
          </p:sp>
        </mc:Choice>
        <mc:Fallback xmlns="">
          <p:sp>
            <p:nvSpPr>
              <p:cNvPr id="13" name="TextBox 12">
                <a:extLst>
                  <a:ext uri="{FF2B5EF4-FFF2-40B4-BE49-F238E27FC236}">
                    <a16:creationId xmlns:a16="http://schemas.microsoft.com/office/drawing/2014/main" id="{E3B2C4A3-E183-FF70-4A02-424BBA5617AC}"/>
                  </a:ext>
                </a:extLst>
              </p:cNvPr>
              <p:cNvSpPr txBox="1">
                <a:spLocks noRot="1" noChangeAspect="1" noMove="1" noResize="1" noEditPoints="1" noAdjustHandles="1" noChangeArrowheads="1" noChangeShapeType="1" noTextEdit="1"/>
              </p:cNvSpPr>
              <p:nvPr/>
            </p:nvSpPr>
            <p:spPr>
              <a:xfrm>
                <a:off x="5670224" y="1504812"/>
                <a:ext cx="6155702" cy="3259867"/>
              </a:xfrm>
              <a:prstGeom prst="rect">
                <a:avLst/>
              </a:prstGeom>
              <a:blipFill>
                <a:blip r:embed="rId4"/>
                <a:stretch>
                  <a:fillRect l="-792" t="-11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883B945-412C-7345-6C11-5062D2F82FED}"/>
                  </a:ext>
                </a:extLst>
              </p:cNvPr>
              <p:cNvSpPr txBox="1"/>
              <p:nvPr/>
            </p:nvSpPr>
            <p:spPr>
              <a:xfrm>
                <a:off x="5802199" y="4800892"/>
                <a:ext cx="6155702" cy="1934312"/>
              </a:xfrm>
              <a:prstGeom prst="rect">
                <a:avLst/>
              </a:prstGeom>
              <a:noFill/>
            </p:spPr>
            <p:txBody>
              <a:bodyPr wrap="square">
                <a:spAutoFit/>
              </a:bodyPr>
              <a:lstStyle/>
              <a:p>
                <a:pPr>
                  <a:buNone/>
                </a:pPr>
                <a:r>
                  <a:rPr lang="en-IN" b="1" dirty="0"/>
                  <a:t>Step 6: Simplify</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r>
                        <a:rPr lang="en-IN"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5</m:t>
                          </m:r>
                          <m:r>
                            <a:rPr lang="ar-AE" i="0">
                              <a:latin typeface="Cambria Math" panose="02040503050406030204" pitchFamily="18" charset="0"/>
                            </a:rPr>
                            <m:t>×</m:t>
                          </m:r>
                          <m:r>
                            <a:rPr lang="ar-AE" i="0">
                              <a:latin typeface="Cambria Math" panose="02040503050406030204" pitchFamily="18" charset="0"/>
                            </a:rPr>
                            <m:t>4</m:t>
                          </m:r>
                          <m:r>
                            <a:rPr lang="ar-AE" i="0">
                              <a:latin typeface="Cambria Math" panose="02040503050406030204" pitchFamily="18" charset="0"/>
                            </a:rPr>
                            <m:t>×</m:t>
                          </m:r>
                          <m:r>
                            <a:rPr lang="ar-AE" i="0">
                              <a:latin typeface="Cambria Math" panose="02040503050406030204" pitchFamily="18" charset="0"/>
                            </a:rPr>
                            <m:t>4</m:t>
                          </m:r>
                        </m:num>
                        <m:den>
                          <m:r>
                            <a:rPr lang="ar-AE" i="0">
                              <a:latin typeface="Cambria Math" panose="02040503050406030204" pitchFamily="18" charset="0"/>
                            </a:rPr>
                            <m:t>10</m:t>
                          </m:r>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7</m:t>
                          </m:r>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80</m:t>
                          </m:r>
                        </m:num>
                        <m:den>
                          <m:r>
                            <a:rPr lang="ar-AE" i="0">
                              <a:latin typeface="Cambria Math" panose="02040503050406030204" pitchFamily="18" charset="0"/>
                            </a:rPr>
                            <m:t>210</m:t>
                          </m:r>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8</m:t>
                          </m:r>
                        </m:num>
                        <m:den>
                          <m:r>
                            <a:rPr lang="ar-AE" i="0">
                              <a:latin typeface="Cambria Math" panose="02040503050406030204" pitchFamily="18" charset="0"/>
                            </a:rPr>
                            <m:t>21</m:t>
                          </m:r>
                        </m:den>
                      </m:f>
                    </m:oMath>
                  </m:oMathPara>
                </a14:m>
                <a:endParaRPr lang="ar-AE" dirty="0"/>
              </a:p>
            </p:txBody>
          </p:sp>
        </mc:Choice>
        <mc:Fallback xmlns="">
          <p:sp>
            <p:nvSpPr>
              <p:cNvPr id="15" name="TextBox 14">
                <a:extLst>
                  <a:ext uri="{FF2B5EF4-FFF2-40B4-BE49-F238E27FC236}">
                    <a16:creationId xmlns:a16="http://schemas.microsoft.com/office/drawing/2014/main" id="{5883B945-412C-7345-6C11-5062D2F82FED}"/>
                  </a:ext>
                </a:extLst>
              </p:cNvPr>
              <p:cNvSpPr txBox="1">
                <a:spLocks noRot="1" noChangeAspect="1" noMove="1" noResize="1" noEditPoints="1" noAdjustHandles="1" noChangeArrowheads="1" noChangeShapeType="1" noTextEdit="1"/>
              </p:cNvSpPr>
              <p:nvPr/>
            </p:nvSpPr>
            <p:spPr>
              <a:xfrm>
                <a:off x="5802199" y="4800892"/>
                <a:ext cx="6155702" cy="1934312"/>
              </a:xfrm>
              <a:prstGeom prst="rect">
                <a:avLst/>
              </a:prstGeom>
              <a:blipFill>
                <a:blip r:embed="rId5"/>
                <a:stretch>
                  <a:fillRect l="-891" t="-1893"/>
                </a:stretch>
              </a:blipFill>
            </p:spPr>
            <p:txBody>
              <a:bodyPr/>
              <a:lstStyle/>
              <a:p>
                <a:r>
                  <a:rPr lang="en-IN">
                    <a:noFill/>
                  </a:rPr>
                  <a:t> </a:t>
                </a:r>
              </a:p>
            </p:txBody>
          </p:sp>
        </mc:Fallback>
      </mc:AlternateContent>
    </p:spTree>
    <p:extLst>
      <p:ext uri="{BB962C8B-B14F-4D97-AF65-F5344CB8AC3E}">
        <p14:creationId xmlns:p14="http://schemas.microsoft.com/office/powerpoint/2010/main" val="275153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 calcmode="lin" valueType="num">
                                      <p:cBhvr additive="base">
                                        <p:cTn id="3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 calcmode="lin" valueType="num">
                                      <p:cBhvr additive="base">
                                        <p:cTn id="3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1">
                                            <p:txEl>
                                              <p:pRg st="1" end="1"/>
                                            </p:txEl>
                                          </p:spTgt>
                                        </p:tgtEl>
                                        <p:attrNameLst>
                                          <p:attrName>style.visibility</p:attrName>
                                        </p:attrNameLst>
                                      </p:cBhvr>
                                      <p:to>
                                        <p:strVal val="visible"/>
                                      </p:to>
                                    </p:set>
                                    <p:anim calcmode="lin" valueType="num">
                                      <p:cBhvr additive="base">
                                        <p:cTn id="4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1">
                                            <p:txEl>
                                              <p:pRg st="2" end="2"/>
                                            </p:txEl>
                                          </p:spTgt>
                                        </p:tgtEl>
                                        <p:attrNameLst>
                                          <p:attrName>style.visibility</p:attrName>
                                        </p:attrNameLst>
                                      </p:cBhvr>
                                      <p:to>
                                        <p:strVal val="visible"/>
                                      </p:to>
                                    </p:set>
                                    <p:anim calcmode="lin" valueType="num">
                                      <p:cBhvr additive="base">
                                        <p:cTn id="45"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3">
                                            <p:txEl>
                                              <p:pRg st="0" end="0"/>
                                            </p:txEl>
                                          </p:spTgt>
                                        </p:tgtEl>
                                        <p:attrNameLst>
                                          <p:attrName>style.visibility</p:attrName>
                                        </p:attrNameLst>
                                      </p:cBhvr>
                                      <p:to>
                                        <p:strVal val="visible"/>
                                      </p:to>
                                    </p:set>
                                    <p:anim calcmode="lin" valueType="num">
                                      <p:cBhvr additive="base">
                                        <p:cTn id="51"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3">
                                            <p:txEl>
                                              <p:pRg st="1" end="1"/>
                                            </p:txEl>
                                          </p:spTgt>
                                        </p:tgtEl>
                                        <p:attrNameLst>
                                          <p:attrName>style.visibility</p:attrName>
                                        </p:attrNameLst>
                                      </p:cBhvr>
                                      <p:to>
                                        <p:strVal val="visible"/>
                                      </p:to>
                                    </p:set>
                                    <p:anim calcmode="lin" valueType="num">
                                      <p:cBhvr additive="base">
                                        <p:cTn id="55"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3">
                                            <p:txEl>
                                              <p:pRg st="2" end="2"/>
                                            </p:txEl>
                                          </p:spTgt>
                                        </p:tgtEl>
                                        <p:attrNameLst>
                                          <p:attrName>style.visibility</p:attrName>
                                        </p:attrNameLst>
                                      </p:cBhvr>
                                      <p:to>
                                        <p:strVal val="visible"/>
                                      </p:to>
                                    </p:set>
                                    <p:anim calcmode="lin" valueType="num">
                                      <p:cBhvr additive="base">
                                        <p:cTn id="5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3">
                                            <p:txEl>
                                              <p:pRg st="3" end="3"/>
                                            </p:txEl>
                                          </p:spTgt>
                                        </p:tgtEl>
                                        <p:attrNameLst>
                                          <p:attrName>style.visibility</p:attrName>
                                        </p:attrNameLst>
                                      </p:cBhvr>
                                      <p:to>
                                        <p:strVal val="visible"/>
                                      </p:to>
                                    </p:set>
                                    <p:anim calcmode="lin" valueType="num">
                                      <p:cBhvr additive="base">
                                        <p:cTn id="63"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3">
                                            <p:txEl>
                                              <p:pRg st="4" end="4"/>
                                            </p:txEl>
                                          </p:spTgt>
                                        </p:tgtEl>
                                        <p:attrNameLst>
                                          <p:attrName>style.visibility</p:attrName>
                                        </p:attrNameLst>
                                      </p:cBhvr>
                                      <p:to>
                                        <p:strVal val="visible"/>
                                      </p:to>
                                    </p:set>
                                    <p:anim calcmode="lin" valueType="num">
                                      <p:cBhvr additive="base">
                                        <p:cTn id="67"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
                                            <p:txEl>
                                              <p:pRg st="4" end="4"/>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13">
                                            <p:txEl>
                                              <p:pRg st="5" end="5"/>
                                            </p:txEl>
                                          </p:spTgt>
                                        </p:tgtEl>
                                        <p:attrNameLst>
                                          <p:attrName>style.visibility</p:attrName>
                                        </p:attrNameLst>
                                      </p:cBhvr>
                                      <p:to>
                                        <p:strVal val="visible"/>
                                      </p:to>
                                    </p:set>
                                    <p:anim calcmode="lin" valueType="num">
                                      <p:cBhvr additive="base">
                                        <p:cTn id="71" dur="500" fill="hold"/>
                                        <p:tgtEl>
                                          <p:spTgt spid="13">
                                            <p:txEl>
                                              <p:pRg st="5" end="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3">
                                            <p:txEl>
                                              <p:pRg st="5" end="5"/>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3">
                                            <p:txEl>
                                              <p:pRg st="6" end="6"/>
                                            </p:txEl>
                                          </p:spTgt>
                                        </p:tgtEl>
                                        <p:attrNameLst>
                                          <p:attrName>style.visibility</p:attrName>
                                        </p:attrNameLst>
                                      </p:cBhvr>
                                      <p:to>
                                        <p:strVal val="visible"/>
                                      </p:to>
                                    </p:set>
                                    <p:anim calcmode="lin" valueType="num">
                                      <p:cBhvr additive="base">
                                        <p:cTn id="75" dur="500" fill="hold"/>
                                        <p:tgtEl>
                                          <p:spTgt spid="13">
                                            <p:txEl>
                                              <p:pRg st="6" end="6"/>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5">
                                            <p:txEl>
                                              <p:pRg st="0" end="0"/>
                                            </p:txEl>
                                          </p:spTgt>
                                        </p:tgtEl>
                                        <p:attrNameLst>
                                          <p:attrName>style.visibility</p:attrName>
                                        </p:attrNameLst>
                                      </p:cBhvr>
                                      <p:to>
                                        <p:strVal val="visible"/>
                                      </p:to>
                                    </p:set>
                                    <p:anim calcmode="lin" valueType="num">
                                      <p:cBhvr additive="base">
                                        <p:cTn id="81"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5">
                                            <p:txEl>
                                              <p:pRg st="1" end="1"/>
                                            </p:txEl>
                                          </p:spTgt>
                                        </p:tgtEl>
                                        <p:attrNameLst>
                                          <p:attrName>style.visibility</p:attrName>
                                        </p:attrNameLst>
                                      </p:cBhvr>
                                      <p:to>
                                        <p:strVal val="visible"/>
                                      </p:to>
                                    </p:set>
                                    <p:anim calcmode="lin" valueType="num">
                                      <p:cBhvr additive="base">
                                        <p:cTn id="85"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5">
                                            <p:txEl>
                                              <p:pRg st="1" end="1"/>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5">
                                            <p:txEl>
                                              <p:pRg st="2" end="2"/>
                                            </p:txEl>
                                          </p:spTgt>
                                        </p:tgtEl>
                                        <p:attrNameLst>
                                          <p:attrName>style.visibility</p:attrName>
                                        </p:attrNameLst>
                                      </p:cBhvr>
                                      <p:to>
                                        <p:strVal val="visible"/>
                                      </p:to>
                                    </p:set>
                                    <p:anim calcmode="lin" valueType="num">
                                      <p:cBhvr additive="base">
                                        <p:cTn id="89"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5">
                                            <p:txEl>
                                              <p:pRg st="2" end="2"/>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5">
                                            <p:txEl>
                                              <p:pRg st="3" end="3"/>
                                            </p:txEl>
                                          </p:spTgt>
                                        </p:tgtEl>
                                        <p:attrNameLst>
                                          <p:attrName>style.visibility</p:attrName>
                                        </p:attrNameLst>
                                      </p:cBhvr>
                                      <p:to>
                                        <p:strVal val="visible"/>
                                      </p:to>
                                    </p:set>
                                    <p:anim calcmode="lin" valueType="num">
                                      <p:cBhvr additive="base">
                                        <p:cTn id="93"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7ADD11-D0BB-36C0-7A80-3C31F550DCFD}"/>
              </a:ext>
            </a:extLst>
          </p:cNvPr>
          <p:cNvSpPr txBox="1"/>
          <p:nvPr/>
        </p:nvSpPr>
        <p:spPr>
          <a:xfrm>
            <a:off x="1572" y="219967"/>
            <a:ext cx="12190428" cy="1384995"/>
          </a:xfrm>
          <a:prstGeom prst="rect">
            <a:avLst/>
          </a:prstGeom>
          <a:noFill/>
        </p:spPr>
        <p:txBody>
          <a:bodyPr wrap="square">
            <a:spAutoFit/>
          </a:bodyPr>
          <a:lstStyle/>
          <a:p>
            <a:r>
              <a:rPr lang="en-US" sz="2800" dirty="0"/>
              <a:t>A bag contains </a:t>
            </a:r>
            <a:r>
              <a:rPr lang="en-US" sz="2800" b="1" dirty="0"/>
              <a:t>6 red balls</a:t>
            </a:r>
            <a:r>
              <a:rPr lang="en-US" sz="2800" dirty="0"/>
              <a:t> and </a:t>
            </a:r>
            <a:r>
              <a:rPr lang="en-US" sz="2800" b="1" dirty="0"/>
              <a:t>4 yellow balls</a:t>
            </a:r>
            <a:r>
              <a:rPr lang="en-US" sz="2800" dirty="0"/>
              <a:t>.</a:t>
            </a:r>
            <a:br>
              <a:rPr lang="en-US" sz="2800" dirty="0"/>
            </a:br>
            <a:r>
              <a:rPr lang="en-US" sz="2800" dirty="0"/>
              <a:t>If </a:t>
            </a:r>
            <a:r>
              <a:rPr lang="en-US" sz="2800" b="1" dirty="0"/>
              <a:t>4 balls are drawn at random from the bag at the same time</a:t>
            </a:r>
            <a:r>
              <a:rPr lang="en-US" sz="2800" dirty="0"/>
              <a:t>, what is the probability that </a:t>
            </a:r>
            <a:r>
              <a:rPr lang="en-US" sz="2800" b="1" dirty="0"/>
              <a:t>either exactly 2 balls are red </a:t>
            </a:r>
            <a:r>
              <a:rPr lang="en-US" sz="2800" b="1" dirty="0">
                <a:solidFill>
                  <a:srgbClr val="FF0000"/>
                </a:solidFill>
              </a:rPr>
              <a:t>OR </a:t>
            </a:r>
            <a:r>
              <a:rPr lang="en-US" sz="2800" b="1" dirty="0"/>
              <a:t>exactly 2 balls are yellow</a:t>
            </a:r>
            <a:r>
              <a:rPr lang="en-US" sz="2800" dirty="0"/>
              <a:t>?</a:t>
            </a:r>
            <a:endParaRPr lang="en-IN" sz="28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FCA3861-391B-1BF7-3E18-A6D8F4A6B8C3}"/>
                  </a:ext>
                </a:extLst>
              </p:cNvPr>
              <p:cNvSpPr txBox="1"/>
              <p:nvPr/>
            </p:nvSpPr>
            <p:spPr>
              <a:xfrm>
                <a:off x="344079" y="1815552"/>
                <a:ext cx="6155702" cy="4664482"/>
              </a:xfrm>
              <a:prstGeom prst="rect">
                <a:avLst/>
              </a:prstGeom>
              <a:noFill/>
            </p:spPr>
            <p:txBody>
              <a:bodyPr wrap="square">
                <a:spAutoFit/>
              </a:bodyPr>
              <a:lstStyle/>
              <a:p>
                <a:pPr>
                  <a:buNone/>
                </a:pPr>
                <a:r>
                  <a:rPr lang="en-IN" b="1" dirty="0"/>
                  <a:t>Step 1: Write probability</a:t>
                </a:r>
              </a:p>
              <a:p>
                <a:pPr>
                  <a:buNone/>
                </a:pPr>
                <a14:m>
                  <m:oMathPara xmlns:m="http://schemas.openxmlformats.org/officeDocument/2006/math">
                    <m:oMathParaPr>
                      <m:jc m:val="centerGroup"/>
                    </m:oMathParaPr>
                    <m:oMath xmlns:m="http://schemas.openxmlformats.org/officeDocument/2006/math">
                      <m:r>
                        <m:rPr>
                          <m:nor/>
                        </m:rPr>
                        <a:rPr lang="en-IN" b="0"/>
                        <m:t>Probability</m:t>
                      </m:r>
                      <m:r>
                        <a:rPr lang="en-IN" b="0" i="0">
                          <a:latin typeface="Cambria Math" panose="02040503050406030204" pitchFamily="18" charset="0"/>
                        </a:rPr>
                        <m:t>=</m:t>
                      </m:r>
                      <m:f>
                        <m:fPr>
                          <m:ctrlPr>
                            <a:rPr lang="ar-AE" b="0" i="1">
                              <a:latin typeface="Cambria Math" panose="02040503050406030204" pitchFamily="18" charset="0"/>
                            </a:rPr>
                          </m:ctrlPr>
                        </m:fPr>
                        <m:num>
                          <m:r>
                            <m:rPr>
                              <m:nor/>
                            </m:rPr>
                            <a:rPr lang="en-IN" b="0" i="1">
                              <a:latin typeface="Cambria Math" panose="02040503050406030204" pitchFamily="18" charset="0"/>
                            </a:rPr>
                            <m:t>Selected</m:t>
                          </m:r>
                          <m:r>
                            <m:rPr>
                              <m:nor/>
                            </m:rPr>
                            <a:rPr lang="en-IN" b="0" i="1">
                              <a:latin typeface="Cambria Math" panose="02040503050406030204" pitchFamily="18" charset="0"/>
                            </a:rPr>
                            <m:t> </m:t>
                          </m:r>
                          <m:r>
                            <m:rPr>
                              <m:nor/>
                            </m:rPr>
                            <a:rPr lang="en-IN" b="0" i="1">
                              <a:latin typeface="Cambria Math" panose="02040503050406030204" pitchFamily="18" charset="0"/>
                            </a:rPr>
                            <m:t>Outcomes</m:t>
                          </m:r>
                        </m:num>
                        <m:den>
                          <m:r>
                            <m:rPr>
                              <m:nor/>
                            </m:rPr>
                            <a:rPr lang="en-IN" b="0" i="1">
                              <a:latin typeface="Cambria Math" panose="02040503050406030204" pitchFamily="18" charset="0"/>
                            </a:rPr>
                            <m:t>Possible</m:t>
                          </m:r>
                          <m:r>
                            <m:rPr>
                              <m:nor/>
                            </m:rPr>
                            <a:rPr lang="en-IN" b="0" i="1">
                              <a:latin typeface="Cambria Math" panose="02040503050406030204" pitchFamily="18" charset="0"/>
                            </a:rPr>
                            <m:t> </m:t>
                          </m:r>
                          <m:r>
                            <m:rPr>
                              <m:nor/>
                            </m:rPr>
                            <a:rPr lang="en-IN" b="0" i="1">
                              <a:latin typeface="Cambria Math" panose="02040503050406030204" pitchFamily="18" charset="0"/>
                            </a:rPr>
                            <m:t>Outcomes</m:t>
                          </m:r>
                        </m:den>
                      </m:f>
                    </m:oMath>
                  </m:oMathPara>
                </a14:m>
                <a:endParaRPr lang="ar-AE" b="0" dirty="0"/>
              </a:p>
              <a:p>
                <a:pPr>
                  <a:buNone/>
                </a:pPr>
                <a:br>
                  <a:rPr lang="ar-AE" dirty="0"/>
                </a:br>
                <a:endParaRPr lang="ar-AE" dirty="0"/>
              </a:p>
              <a:p>
                <a:pPr>
                  <a:buNone/>
                </a:pPr>
                <a:r>
                  <a:rPr lang="en-IN" b="1" dirty="0"/>
                  <a:t>Step 2: Selected Outcomes (Either–Or → ADD)</a:t>
                </a:r>
              </a:p>
              <a:p>
                <a:pPr>
                  <a:buFont typeface="Arial" panose="020B0604020202020204" pitchFamily="34" charset="0"/>
                  <a:buChar char="•"/>
                </a:pPr>
                <a:r>
                  <a:rPr lang="en-IN" dirty="0"/>
                  <a:t>Ways of choosing </a:t>
                </a:r>
                <a:r>
                  <a:rPr lang="en-IN" b="1" dirty="0"/>
                  <a:t>2 red balls</a:t>
                </a:r>
                <a:r>
                  <a:rPr lang="en-IN" dirty="0"/>
                  <a:t> from 6</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6</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oMath>
                  </m:oMathPara>
                </a14:m>
                <a:endParaRPr lang="ar-AE" dirty="0"/>
              </a:p>
              <a:p>
                <a:pPr>
                  <a:buFont typeface="Arial" panose="020B0604020202020204" pitchFamily="34" charset="0"/>
                  <a:buChar char="•"/>
                </a:pPr>
                <a:r>
                  <a:rPr lang="en-IN" dirty="0"/>
                  <a:t>Ways of choosing </a:t>
                </a:r>
                <a:r>
                  <a:rPr lang="en-IN" b="1" dirty="0"/>
                  <a:t>2 yellow balls</a:t>
                </a:r>
                <a:r>
                  <a:rPr lang="en-IN" dirty="0"/>
                  <a:t> from 4</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4</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oMath>
                  </m:oMathPara>
                </a14:m>
                <a:endParaRPr lang="ar-AE" dirty="0"/>
              </a:p>
              <a:p>
                <a:pPr>
                  <a:buNone/>
                </a:pPr>
                <a14:m>
                  <m:oMathPara xmlns:m="http://schemas.openxmlformats.org/officeDocument/2006/math">
                    <m:oMathParaPr>
                      <m:jc m:val="centerGroup"/>
                    </m:oMathParaPr>
                    <m:oMath xmlns:m="http://schemas.openxmlformats.org/officeDocument/2006/math">
                      <m:r>
                        <m:rPr>
                          <m:nor/>
                        </m:rPr>
                        <a:rPr lang="en-IN" b="0"/>
                        <m:t>Selected</m:t>
                      </m:r>
                      <m:r>
                        <m:rPr>
                          <m:nor/>
                        </m:rPr>
                        <a:rPr lang="en-IN" b="0" i="1"/>
                        <m:t> </m:t>
                      </m:r>
                      <m:r>
                        <m:rPr>
                          <m:nor/>
                        </m:rPr>
                        <a:rPr lang="en-IN" b="0" i="1"/>
                        <m:t>Outcomes</m:t>
                      </m:r>
                      <m:r>
                        <a:rPr lang="en-IN" b="0" i="0">
                          <a:latin typeface="Cambria Math" panose="02040503050406030204" pitchFamily="18" charset="0"/>
                        </a:rPr>
                        <m:t>=</m:t>
                      </m:r>
                      <m:sSup>
                        <m:sSupPr>
                          <m:ctrlPr>
                            <a:rPr lang="ar-AE" b="0" i="1">
                              <a:latin typeface="Cambria Math" panose="02040503050406030204" pitchFamily="18" charset="0"/>
                            </a:rPr>
                          </m:ctrlPr>
                        </m:sSupPr>
                        <m:e/>
                        <m:sup>
                          <m:r>
                            <a:rPr lang="ar-AE" b="0" i="0">
                              <a:latin typeface="Cambria Math" panose="02040503050406030204" pitchFamily="18" charset="0"/>
                            </a:rPr>
                            <m:t>6</m:t>
                          </m:r>
                        </m:sup>
                      </m:sSup>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2</m:t>
                          </m:r>
                        </m:sub>
                      </m:sSub>
                      <m:r>
                        <a:rPr lang="ar-AE" b="0" i="0">
                          <a:latin typeface="Cambria Math" panose="02040503050406030204" pitchFamily="18" charset="0"/>
                        </a:rPr>
                        <m:t>+</m:t>
                      </m:r>
                      <m:sSup>
                        <m:sSupPr>
                          <m:ctrlPr>
                            <a:rPr lang="ar-AE" b="0" i="1">
                              <a:latin typeface="Cambria Math" panose="02040503050406030204" pitchFamily="18" charset="0"/>
                            </a:rPr>
                          </m:ctrlPr>
                        </m:sSupPr>
                        <m:e/>
                        <m:sup>
                          <m:r>
                            <a:rPr lang="ar-AE" b="0" i="0">
                              <a:latin typeface="Cambria Math" panose="02040503050406030204" pitchFamily="18" charset="0"/>
                            </a:rPr>
                            <m:t>4</m:t>
                          </m:r>
                        </m:sup>
                      </m:sSup>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2</m:t>
                          </m:r>
                        </m:sub>
                      </m:sSub>
                    </m:oMath>
                  </m:oMathPara>
                </a14:m>
                <a:endParaRPr lang="ar-AE" b="0" dirty="0"/>
              </a:p>
              <a:p>
                <a:pPr>
                  <a:buNone/>
                </a:pPr>
                <a:br>
                  <a:rPr lang="ar-AE" dirty="0"/>
                </a:br>
                <a:endParaRPr lang="ar-AE" dirty="0"/>
              </a:p>
              <a:p>
                <a:pPr>
                  <a:buNone/>
                </a:pPr>
                <a:r>
                  <a:rPr lang="en-IN" b="1" dirty="0"/>
                  <a:t>Step 3: Possible Outcomes</a:t>
                </a:r>
              </a:p>
              <a:p>
                <a:pPr>
                  <a:buFont typeface="Arial" panose="020B0604020202020204" pitchFamily="34" charset="0"/>
                  <a:buChar char="•"/>
                </a:pPr>
                <a:r>
                  <a:rPr lang="en-IN" dirty="0"/>
                  <a:t>Choosing </a:t>
                </a:r>
                <a:r>
                  <a:rPr lang="en-IN" b="1" dirty="0"/>
                  <a:t>2 balls</a:t>
                </a:r>
                <a:r>
                  <a:rPr lang="en-IN" dirty="0"/>
                  <a:t> from total </a:t>
                </a:r>
                <a:r>
                  <a:rPr lang="en-IN" b="1" dirty="0"/>
                  <a:t>10 balls</a:t>
                </a:r>
                <a:endParaRPr lang="en-IN" dirty="0"/>
              </a:p>
              <a:p>
                <a:pPr>
                  <a:buNone/>
                </a:pPr>
                <a14:m>
                  <m:oMathPara xmlns:m="http://schemas.openxmlformats.org/officeDocument/2006/math">
                    <m:oMathParaPr>
                      <m:jc m:val="centerGroup"/>
                    </m:oMathParaPr>
                    <m:oMath xmlns:m="http://schemas.openxmlformats.org/officeDocument/2006/math">
                      <m:r>
                        <m:rPr>
                          <m:nor/>
                        </m:rPr>
                        <a:rPr lang="en-IN" b="0"/>
                        <m:t>Possible</m:t>
                      </m:r>
                      <m:r>
                        <m:rPr>
                          <m:nor/>
                        </m:rPr>
                        <a:rPr lang="en-IN" b="0" i="1"/>
                        <m:t> </m:t>
                      </m:r>
                      <m:r>
                        <m:rPr>
                          <m:nor/>
                        </m:rPr>
                        <a:rPr lang="en-IN" b="0" i="1"/>
                        <m:t>Outcomes</m:t>
                      </m:r>
                      <m:r>
                        <a:rPr lang="en-IN" b="0" i="0">
                          <a:latin typeface="Cambria Math" panose="02040503050406030204" pitchFamily="18" charset="0"/>
                        </a:rPr>
                        <m:t>=</m:t>
                      </m:r>
                      <m:sSup>
                        <m:sSupPr>
                          <m:ctrlPr>
                            <a:rPr lang="ar-AE" b="0" i="1">
                              <a:latin typeface="Cambria Math" panose="02040503050406030204" pitchFamily="18" charset="0"/>
                            </a:rPr>
                          </m:ctrlPr>
                        </m:sSupPr>
                        <m:e/>
                        <m:sup>
                          <m:r>
                            <a:rPr lang="ar-AE" b="0" i="0">
                              <a:latin typeface="Cambria Math" panose="02040503050406030204" pitchFamily="18" charset="0"/>
                            </a:rPr>
                            <m:t>10</m:t>
                          </m:r>
                        </m:sup>
                      </m:sSup>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2</m:t>
                          </m:r>
                        </m:sub>
                      </m:sSub>
                    </m:oMath>
                  </m:oMathPara>
                </a14:m>
                <a:endParaRPr lang="ar-AE" b="0" dirty="0"/>
              </a:p>
            </p:txBody>
          </p:sp>
        </mc:Choice>
        <mc:Fallback xmlns="">
          <p:sp>
            <p:nvSpPr>
              <p:cNvPr id="7" name="TextBox 6">
                <a:extLst>
                  <a:ext uri="{FF2B5EF4-FFF2-40B4-BE49-F238E27FC236}">
                    <a16:creationId xmlns:a16="http://schemas.microsoft.com/office/drawing/2014/main" id="{8FCA3861-391B-1BF7-3E18-A6D8F4A6B8C3}"/>
                  </a:ext>
                </a:extLst>
              </p:cNvPr>
              <p:cNvSpPr txBox="1">
                <a:spLocks noRot="1" noChangeAspect="1" noMove="1" noResize="1" noEditPoints="1" noAdjustHandles="1" noChangeArrowheads="1" noChangeShapeType="1" noTextEdit="1"/>
              </p:cNvSpPr>
              <p:nvPr/>
            </p:nvSpPr>
            <p:spPr>
              <a:xfrm>
                <a:off x="344079" y="1815552"/>
                <a:ext cx="6155702" cy="4664482"/>
              </a:xfrm>
              <a:prstGeom prst="rect">
                <a:avLst/>
              </a:prstGeom>
              <a:blipFill>
                <a:blip r:embed="rId2"/>
                <a:stretch>
                  <a:fillRect l="-792" t="-78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1BB479C-71D7-2F24-18A5-59249FBBFF80}"/>
                  </a:ext>
                </a:extLst>
              </p:cNvPr>
              <p:cNvSpPr txBox="1"/>
              <p:nvPr/>
            </p:nvSpPr>
            <p:spPr>
              <a:xfrm>
                <a:off x="5783345" y="1815552"/>
                <a:ext cx="6155702" cy="4813754"/>
              </a:xfrm>
              <a:prstGeom prst="rect">
                <a:avLst/>
              </a:prstGeom>
              <a:noFill/>
            </p:spPr>
            <p:txBody>
              <a:bodyPr wrap="square">
                <a:spAutoFit/>
              </a:bodyPr>
              <a:lstStyle/>
              <a:p>
                <a:pPr>
                  <a:buNone/>
                </a:pPr>
                <a:r>
                  <a:rPr lang="en-IN" b="1" dirty="0"/>
                  <a:t>Step 4: Substitute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r>
                        <a:rPr lang="en-IN" i="0">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sup>
                              <m:r>
                                <a:rPr lang="ar-AE" i="0">
                                  <a:latin typeface="Cambria Math" panose="02040503050406030204" pitchFamily="18" charset="0"/>
                                </a:rPr>
                                <m:t>6</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sSup>
                            <m:sSupPr>
                              <m:ctrlPr>
                                <a:rPr lang="ar-AE" i="1">
                                  <a:latin typeface="Cambria Math" panose="02040503050406030204" pitchFamily="18" charset="0"/>
                                </a:rPr>
                              </m:ctrlPr>
                            </m:sSupPr>
                            <m:e/>
                            <m:sup>
                              <m:r>
                                <a:rPr lang="ar-AE" i="0">
                                  <a:latin typeface="Cambria Math" panose="02040503050406030204" pitchFamily="18" charset="0"/>
                                </a:rPr>
                                <m:t>4</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num>
                        <m:den>
                          <m:sSup>
                            <m:sSupPr>
                              <m:ctrlPr>
                                <a:rPr lang="ar-AE" i="1">
                                  <a:latin typeface="Cambria Math" panose="02040503050406030204" pitchFamily="18" charset="0"/>
                                </a:rPr>
                              </m:ctrlPr>
                            </m:sSupPr>
                            <m:e/>
                            <m:sup>
                              <m:r>
                                <a:rPr lang="ar-AE" i="0">
                                  <a:latin typeface="Cambria Math" panose="02040503050406030204" pitchFamily="18" charset="0"/>
                                </a:rPr>
                                <m:t>10</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den>
                      </m:f>
                    </m:oMath>
                  </m:oMathPara>
                </a14:m>
                <a:endParaRPr lang="ar-AE" dirty="0"/>
              </a:p>
              <a:p>
                <a:pPr>
                  <a:buNone/>
                </a:pPr>
                <a:br>
                  <a:rPr lang="ar-AE" dirty="0"/>
                </a:br>
                <a:endParaRPr lang="ar-AE" dirty="0"/>
              </a:p>
              <a:p>
                <a:pPr>
                  <a:buNone/>
                </a:pPr>
                <a:r>
                  <a:rPr lang="en-IN" b="1" dirty="0"/>
                  <a:t>Step 5: Expand</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6</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6</m:t>
                          </m:r>
                          <m:r>
                            <a:rPr lang="ar-AE" i="0">
                              <a:latin typeface="Cambria Math" panose="02040503050406030204" pitchFamily="18" charset="0"/>
                            </a:rPr>
                            <m:t>×</m:t>
                          </m:r>
                          <m:r>
                            <a:rPr lang="ar-AE" i="0">
                              <a:latin typeface="Cambria Math" panose="02040503050406030204" pitchFamily="18" charset="0"/>
                            </a:rPr>
                            <m:t>5</m:t>
                          </m:r>
                        </m:num>
                        <m:den>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den>
                      </m:f>
                      <m:r>
                        <a:rPr lang="ar-AE" i="0">
                          <a:latin typeface="Cambria Math" panose="02040503050406030204" pitchFamily="18" charset="0"/>
                        </a:rPr>
                        <m:t>=</m:t>
                      </m:r>
                      <m:r>
                        <a:rPr lang="ar-AE" i="0">
                          <a:latin typeface="Cambria Math" panose="02040503050406030204" pitchFamily="18" charset="0"/>
                        </a:rPr>
                        <m:t>15</m:t>
                      </m:r>
                    </m:oMath>
                  </m:oMathPara>
                </a14:m>
                <a:endParaRPr lang="ar-AE" dirty="0"/>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4</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4</m:t>
                          </m:r>
                          <m:r>
                            <a:rPr lang="ar-AE" i="0">
                              <a:latin typeface="Cambria Math" panose="02040503050406030204" pitchFamily="18" charset="0"/>
                            </a:rPr>
                            <m:t>×</m:t>
                          </m:r>
                          <m:r>
                            <a:rPr lang="ar-AE" i="0">
                              <a:latin typeface="Cambria Math" panose="02040503050406030204" pitchFamily="18" charset="0"/>
                            </a:rPr>
                            <m:t>3</m:t>
                          </m:r>
                        </m:num>
                        <m:den>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den>
                      </m:f>
                      <m:r>
                        <a:rPr lang="ar-AE" i="0">
                          <a:latin typeface="Cambria Math" panose="02040503050406030204" pitchFamily="18" charset="0"/>
                        </a:rPr>
                        <m:t>=</m:t>
                      </m:r>
                      <m:r>
                        <a:rPr lang="ar-AE" i="0">
                          <a:latin typeface="Cambria Math" panose="02040503050406030204" pitchFamily="18" charset="0"/>
                        </a:rPr>
                        <m:t>6</m:t>
                      </m:r>
                    </m:oMath>
                  </m:oMathPara>
                </a14:m>
                <a:endParaRPr lang="ar-AE" dirty="0"/>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10</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10</m:t>
                          </m:r>
                          <m:r>
                            <a:rPr lang="ar-AE" i="0">
                              <a:latin typeface="Cambria Math" panose="02040503050406030204" pitchFamily="18" charset="0"/>
                            </a:rPr>
                            <m:t>×</m:t>
                          </m:r>
                          <m:r>
                            <a:rPr lang="ar-AE" i="0">
                              <a:latin typeface="Cambria Math" panose="02040503050406030204" pitchFamily="18" charset="0"/>
                            </a:rPr>
                            <m:t>9</m:t>
                          </m:r>
                        </m:num>
                        <m:den>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den>
                      </m:f>
                      <m:r>
                        <a:rPr lang="ar-AE" i="0">
                          <a:latin typeface="Cambria Math" panose="02040503050406030204" pitchFamily="18" charset="0"/>
                        </a:rPr>
                        <m:t>=</m:t>
                      </m:r>
                      <m:r>
                        <a:rPr lang="ar-AE" i="0">
                          <a:latin typeface="Cambria Math" panose="02040503050406030204" pitchFamily="18" charset="0"/>
                        </a:rPr>
                        <m:t>45</m:t>
                      </m:r>
                    </m:oMath>
                  </m:oMathPara>
                </a14:m>
                <a:endParaRPr lang="ar-AE" dirty="0"/>
              </a:p>
              <a:p>
                <a:pPr>
                  <a:buNone/>
                </a:pPr>
                <a:br>
                  <a:rPr lang="ar-AE" dirty="0"/>
                </a:br>
                <a:endParaRPr lang="ar-AE" dirty="0"/>
              </a:p>
              <a:p>
                <a:pPr>
                  <a:buNone/>
                </a:pPr>
                <a:r>
                  <a:rPr lang="en-IN" b="1" dirty="0"/>
                  <a:t>Step 6: Simplify</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r>
                        <a:rPr lang="en-IN"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15</m:t>
                          </m:r>
                          <m:r>
                            <a:rPr lang="ar-AE" i="0">
                              <a:latin typeface="Cambria Math" panose="02040503050406030204" pitchFamily="18" charset="0"/>
                            </a:rPr>
                            <m:t>+</m:t>
                          </m:r>
                          <m:r>
                            <a:rPr lang="ar-AE" i="0">
                              <a:latin typeface="Cambria Math" panose="02040503050406030204" pitchFamily="18" charset="0"/>
                            </a:rPr>
                            <m:t>6</m:t>
                          </m:r>
                        </m:num>
                        <m:den>
                          <m:r>
                            <a:rPr lang="ar-AE" i="0">
                              <a:latin typeface="Cambria Math" panose="02040503050406030204" pitchFamily="18" charset="0"/>
                            </a:rPr>
                            <m:t>45</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21</m:t>
                          </m:r>
                        </m:num>
                        <m:den>
                          <m:r>
                            <a:rPr lang="ar-AE" i="0">
                              <a:latin typeface="Cambria Math" panose="02040503050406030204" pitchFamily="18" charset="0"/>
                            </a:rPr>
                            <m:t>45</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7</m:t>
                          </m:r>
                        </m:num>
                        <m:den>
                          <m:r>
                            <a:rPr lang="ar-AE" i="0">
                              <a:latin typeface="Cambria Math" panose="02040503050406030204" pitchFamily="18" charset="0"/>
                            </a:rPr>
                            <m:t>15</m:t>
                          </m:r>
                        </m:den>
                      </m:f>
                    </m:oMath>
                  </m:oMathPara>
                </a14:m>
                <a:endParaRPr lang="ar-AE" dirty="0"/>
              </a:p>
            </p:txBody>
          </p:sp>
        </mc:Choice>
        <mc:Fallback xmlns="">
          <p:sp>
            <p:nvSpPr>
              <p:cNvPr id="9" name="TextBox 8">
                <a:extLst>
                  <a:ext uri="{FF2B5EF4-FFF2-40B4-BE49-F238E27FC236}">
                    <a16:creationId xmlns:a16="http://schemas.microsoft.com/office/drawing/2014/main" id="{B1BB479C-71D7-2F24-18A5-59249FBBFF80}"/>
                  </a:ext>
                </a:extLst>
              </p:cNvPr>
              <p:cNvSpPr txBox="1">
                <a:spLocks noRot="1" noChangeAspect="1" noMove="1" noResize="1" noEditPoints="1" noAdjustHandles="1" noChangeArrowheads="1" noChangeShapeType="1" noTextEdit="1"/>
              </p:cNvSpPr>
              <p:nvPr/>
            </p:nvSpPr>
            <p:spPr>
              <a:xfrm>
                <a:off x="5783345" y="1815552"/>
                <a:ext cx="6155702" cy="4813754"/>
              </a:xfrm>
              <a:prstGeom prst="rect">
                <a:avLst/>
              </a:prstGeom>
              <a:blipFill>
                <a:blip r:embed="rId3"/>
                <a:stretch>
                  <a:fillRect l="-891" t="-760"/>
                </a:stretch>
              </a:blipFill>
            </p:spPr>
            <p:txBody>
              <a:bodyPr/>
              <a:lstStyle/>
              <a:p>
                <a:r>
                  <a:rPr lang="en-IN">
                    <a:noFill/>
                  </a:rPr>
                  <a:t> </a:t>
                </a:r>
              </a:p>
            </p:txBody>
          </p:sp>
        </mc:Fallback>
      </mc:AlternateContent>
    </p:spTree>
    <p:extLst>
      <p:ext uri="{BB962C8B-B14F-4D97-AF65-F5344CB8AC3E}">
        <p14:creationId xmlns:p14="http://schemas.microsoft.com/office/powerpoint/2010/main" val="276955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 calcmode="lin" valueType="num">
                                      <p:cBhvr additive="base">
                                        <p:cTn id="3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 calcmode="lin" valueType="num">
                                      <p:cBhvr additive="base">
                                        <p:cTn id="3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 calcmode="lin" valueType="num">
                                      <p:cBhvr additive="base">
                                        <p:cTn id="4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 calcmode="lin" valueType="num">
                                      <p:cBhvr additive="base">
                                        <p:cTn id="4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7">
                                            <p:txEl>
                                              <p:pRg st="11" end="11"/>
                                            </p:txEl>
                                          </p:spTgt>
                                        </p:tgtEl>
                                        <p:attrNameLst>
                                          <p:attrName>style.visibility</p:attrName>
                                        </p:attrNameLst>
                                      </p:cBhvr>
                                      <p:to>
                                        <p:strVal val="visible"/>
                                      </p:to>
                                    </p:set>
                                    <p:anim calcmode="lin" valueType="num">
                                      <p:cBhvr additive="base">
                                        <p:cTn id="51"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anim calcmode="lin" valueType="num">
                                      <p:cBhvr additive="base">
                                        <p:cTn id="55"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anim calcmode="lin" valueType="num">
                                      <p:cBhvr additive="base">
                                        <p:cTn id="6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9">
                                            <p:txEl>
                                              <p:pRg st="1" end="1"/>
                                            </p:txEl>
                                          </p:spTgt>
                                        </p:tgtEl>
                                        <p:attrNameLst>
                                          <p:attrName>style.visibility</p:attrName>
                                        </p:attrNameLst>
                                      </p:cBhvr>
                                      <p:to>
                                        <p:strVal val="visible"/>
                                      </p:to>
                                    </p:set>
                                    <p:anim calcmode="lin" valueType="num">
                                      <p:cBhvr additive="base">
                                        <p:cTn id="6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9">
                                            <p:txEl>
                                              <p:pRg st="1" end="1"/>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9">
                                            <p:txEl>
                                              <p:pRg st="2" end="2"/>
                                            </p:txEl>
                                          </p:spTgt>
                                        </p:tgtEl>
                                        <p:attrNameLst>
                                          <p:attrName>style.visibility</p:attrName>
                                        </p:attrNameLst>
                                      </p:cBhvr>
                                      <p:to>
                                        <p:strVal val="visible"/>
                                      </p:to>
                                    </p:set>
                                    <p:anim calcmode="lin" valueType="num">
                                      <p:cBhvr additive="base">
                                        <p:cTn id="6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9">
                                            <p:txEl>
                                              <p:pRg st="2" end="2"/>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9">
                                            <p:txEl>
                                              <p:pRg st="3" end="3"/>
                                            </p:txEl>
                                          </p:spTgt>
                                        </p:tgtEl>
                                        <p:attrNameLst>
                                          <p:attrName>style.visibility</p:attrName>
                                        </p:attrNameLst>
                                      </p:cBhvr>
                                      <p:to>
                                        <p:strVal val="visible"/>
                                      </p:to>
                                    </p:set>
                                    <p:anim calcmode="lin" valueType="num">
                                      <p:cBhvr additive="base">
                                        <p:cTn id="7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9">
                                            <p:txEl>
                                              <p:pRg st="3" end="3"/>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9">
                                            <p:txEl>
                                              <p:pRg st="4" end="4"/>
                                            </p:txEl>
                                          </p:spTgt>
                                        </p:tgtEl>
                                        <p:attrNameLst>
                                          <p:attrName>style.visibility</p:attrName>
                                        </p:attrNameLst>
                                      </p:cBhvr>
                                      <p:to>
                                        <p:strVal val="visible"/>
                                      </p:to>
                                    </p:set>
                                    <p:anim calcmode="lin" valueType="num">
                                      <p:cBhvr additive="base">
                                        <p:cTn id="7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9">
                                            <p:txEl>
                                              <p:pRg st="4" end="4"/>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9">
                                            <p:txEl>
                                              <p:pRg st="5" end="5"/>
                                            </p:txEl>
                                          </p:spTgt>
                                        </p:tgtEl>
                                        <p:attrNameLst>
                                          <p:attrName>style.visibility</p:attrName>
                                        </p:attrNameLst>
                                      </p:cBhvr>
                                      <p:to>
                                        <p:strVal val="visible"/>
                                      </p:to>
                                    </p:set>
                                    <p:anim calcmode="lin" valueType="num">
                                      <p:cBhvr additive="base">
                                        <p:cTn id="8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9">
                                            <p:txEl>
                                              <p:pRg st="5" end="5"/>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9">
                                            <p:txEl>
                                              <p:pRg st="6" end="6"/>
                                            </p:txEl>
                                          </p:spTgt>
                                        </p:tgtEl>
                                        <p:attrNameLst>
                                          <p:attrName>style.visibility</p:attrName>
                                        </p:attrNameLst>
                                      </p:cBhvr>
                                      <p:to>
                                        <p:strVal val="visible"/>
                                      </p:to>
                                    </p:set>
                                    <p:anim calcmode="lin" valueType="num">
                                      <p:cBhvr additive="base">
                                        <p:cTn id="85"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9">
                                            <p:txEl>
                                              <p:pRg st="6" end="6"/>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9">
                                            <p:txEl>
                                              <p:pRg st="7" end="7"/>
                                            </p:txEl>
                                          </p:spTgt>
                                        </p:tgtEl>
                                        <p:attrNameLst>
                                          <p:attrName>style.visibility</p:attrName>
                                        </p:attrNameLst>
                                      </p:cBhvr>
                                      <p:to>
                                        <p:strVal val="visible"/>
                                      </p:to>
                                    </p:set>
                                    <p:anim calcmode="lin" valueType="num">
                                      <p:cBhvr additive="base">
                                        <p:cTn id="89"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9">
                                            <p:txEl>
                                              <p:pRg st="7" end="7"/>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9">
                                            <p:txEl>
                                              <p:pRg st="8" end="8"/>
                                            </p:txEl>
                                          </p:spTgt>
                                        </p:tgtEl>
                                        <p:attrNameLst>
                                          <p:attrName>style.visibility</p:attrName>
                                        </p:attrNameLst>
                                      </p:cBhvr>
                                      <p:to>
                                        <p:strVal val="visible"/>
                                      </p:to>
                                    </p:set>
                                    <p:anim calcmode="lin" valueType="num">
                                      <p:cBhvr additive="base">
                                        <p:cTn id="93"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9">
                                            <p:txEl>
                                              <p:pRg st="8" end="8"/>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9">
                                            <p:txEl>
                                              <p:pRg st="9" end="9"/>
                                            </p:txEl>
                                          </p:spTgt>
                                        </p:tgtEl>
                                        <p:attrNameLst>
                                          <p:attrName>style.visibility</p:attrName>
                                        </p:attrNameLst>
                                      </p:cBhvr>
                                      <p:to>
                                        <p:strVal val="visible"/>
                                      </p:to>
                                    </p:set>
                                    <p:anim calcmode="lin" valueType="num">
                                      <p:cBhvr additive="base">
                                        <p:cTn id="97"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CDD79B-B1D3-E137-E145-C46278444081}"/>
              </a:ext>
            </a:extLst>
          </p:cNvPr>
          <p:cNvSpPr txBox="1"/>
          <p:nvPr/>
        </p:nvSpPr>
        <p:spPr>
          <a:xfrm>
            <a:off x="153186" y="273626"/>
            <a:ext cx="11705734" cy="1384995"/>
          </a:xfrm>
          <a:prstGeom prst="rect">
            <a:avLst/>
          </a:prstGeom>
          <a:noFill/>
        </p:spPr>
        <p:txBody>
          <a:bodyPr wrap="square">
            <a:spAutoFit/>
          </a:bodyPr>
          <a:lstStyle/>
          <a:p>
            <a:r>
              <a:rPr lang="en-US" sz="2800" dirty="0"/>
              <a:t>A bag contains </a:t>
            </a:r>
            <a:r>
              <a:rPr lang="en-US" sz="2800" b="1" dirty="0"/>
              <a:t>6 red balls</a:t>
            </a:r>
            <a:r>
              <a:rPr lang="en-US" sz="2800" dirty="0"/>
              <a:t> and </a:t>
            </a:r>
            <a:r>
              <a:rPr lang="en-US" sz="2800" b="1" dirty="0"/>
              <a:t>4 yellow balls</a:t>
            </a:r>
            <a:r>
              <a:rPr lang="en-US" sz="2800" dirty="0"/>
              <a:t>.</a:t>
            </a:r>
            <a:br>
              <a:rPr lang="en-US" sz="2800" dirty="0"/>
            </a:br>
            <a:r>
              <a:rPr lang="en-US" sz="2800" dirty="0"/>
              <a:t>If </a:t>
            </a:r>
            <a:r>
              <a:rPr lang="en-US" sz="2800" b="1" dirty="0"/>
              <a:t>4 balls are picked at random at the same time</a:t>
            </a:r>
            <a:r>
              <a:rPr lang="en-US" sz="2800" dirty="0"/>
              <a:t>, what is the </a:t>
            </a:r>
            <a:r>
              <a:rPr lang="en-US" sz="2800" b="1" dirty="0"/>
              <a:t>probability that </a:t>
            </a:r>
            <a:r>
              <a:rPr lang="en-US" sz="2800" b="1" dirty="0">
                <a:solidFill>
                  <a:srgbClr val="FF0000"/>
                </a:solidFill>
              </a:rPr>
              <a:t>at least </a:t>
            </a:r>
            <a:r>
              <a:rPr lang="en-US" sz="2800" b="1" dirty="0"/>
              <a:t>one ball is red</a:t>
            </a:r>
            <a:r>
              <a:rPr lang="en-US" sz="2800" dirty="0"/>
              <a:t>?</a:t>
            </a:r>
            <a:endParaRPr lang="en-IN" sz="28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AFD90F0-5F81-8515-F897-16FEE5782DDD}"/>
                  </a:ext>
                </a:extLst>
              </p:cNvPr>
              <p:cNvSpPr txBox="1"/>
              <p:nvPr/>
            </p:nvSpPr>
            <p:spPr>
              <a:xfrm>
                <a:off x="3443141" y="1658621"/>
                <a:ext cx="6094428" cy="4856394"/>
              </a:xfrm>
              <a:prstGeom prst="rect">
                <a:avLst/>
              </a:prstGeom>
              <a:noFill/>
            </p:spPr>
            <p:txBody>
              <a:bodyPr wrap="square">
                <a:spAutoFit/>
              </a:bodyPr>
              <a:lstStyle/>
              <a:p>
                <a:pPr>
                  <a:buNone/>
                </a:pPr>
                <a:r>
                  <a:rPr lang="en-IN" sz="2400" b="1" dirty="0"/>
                  <a:t>Step 1: Understand “at least one”</a:t>
                </a:r>
              </a:p>
              <a:p>
                <a:pPr>
                  <a:buNone/>
                </a:pPr>
                <a:r>
                  <a:rPr lang="en-IN" sz="2400" dirty="0"/>
                  <a:t>“At least one red” means:</a:t>
                </a:r>
              </a:p>
              <a:p>
                <a:pPr>
                  <a:buNone/>
                </a:pPr>
                <a:r>
                  <a:rPr lang="en-IN" sz="2400" dirty="0"/>
                  <a:t> </a:t>
                </a:r>
                <a:r>
                  <a:rPr lang="en-IN" sz="2400" b="1" dirty="0"/>
                  <a:t>Minimum = 1 red</a:t>
                </a:r>
                <a:br>
                  <a:rPr lang="en-IN" sz="2400" dirty="0"/>
                </a:br>
                <a:r>
                  <a:rPr lang="en-IN" sz="2400" b="1" dirty="0"/>
                  <a:t>Maximum = 4 red</a:t>
                </a:r>
                <a:endParaRPr lang="en-IN" sz="2400" dirty="0"/>
              </a:p>
              <a:p>
                <a:pPr>
                  <a:buNone/>
                </a:pPr>
                <a:r>
                  <a:rPr lang="en-IN" sz="2400" dirty="0"/>
                  <a:t>So possible cases are:</a:t>
                </a:r>
              </a:p>
              <a:p>
                <a:pPr>
                  <a:buFont typeface="Arial" panose="020B0604020202020204" pitchFamily="34" charset="0"/>
                  <a:buChar char="•"/>
                </a:pPr>
                <a:r>
                  <a:rPr lang="en-IN" sz="2400" dirty="0"/>
                  <a:t>1 red</a:t>
                </a:r>
              </a:p>
              <a:p>
                <a:pPr>
                  <a:buFont typeface="Arial" panose="020B0604020202020204" pitchFamily="34" charset="0"/>
                  <a:buChar char="•"/>
                </a:pPr>
                <a:r>
                  <a:rPr lang="en-IN" sz="2400" dirty="0"/>
                  <a:t>2 red</a:t>
                </a:r>
              </a:p>
              <a:p>
                <a:pPr>
                  <a:buFont typeface="Arial" panose="020B0604020202020204" pitchFamily="34" charset="0"/>
                  <a:buChar char="•"/>
                </a:pPr>
                <a:r>
                  <a:rPr lang="en-IN" sz="2400" dirty="0"/>
                  <a:t>3 red</a:t>
                </a:r>
              </a:p>
              <a:p>
                <a:pPr>
                  <a:buFont typeface="Arial" panose="020B0604020202020204" pitchFamily="34" charset="0"/>
                  <a:buChar char="•"/>
                </a:pPr>
                <a:r>
                  <a:rPr lang="en-IN" sz="2400" dirty="0"/>
                  <a:t>4 red</a:t>
                </a:r>
              </a:p>
              <a:p>
                <a:pPr>
                  <a:buNone/>
                </a:pPr>
                <a:r>
                  <a:rPr lang="en-IN" sz="2400" dirty="0"/>
                  <a:t>(All these must be </a:t>
                </a:r>
                <a:r>
                  <a:rPr lang="en-IN" sz="2400" b="1" dirty="0"/>
                  <a:t>added</a:t>
                </a:r>
                <a:r>
                  <a:rPr lang="en-IN" sz="2400" dirty="0"/>
                  <a:t>)</a:t>
                </a:r>
              </a:p>
              <a:p>
                <a:pPr>
                  <a:buNone/>
                </a:pPr>
                <a:r>
                  <a:rPr lang="en-IN" sz="2400" b="1" dirty="0"/>
                  <a:t>Step 2: Write probability formula</a:t>
                </a:r>
              </a:p>
              <a:p>
                <a:pPr>
                  <a:buNone/>
                </a:pPr>
                <a14:m>
                  <m:oMathPara xmlns:m="http://schemas.openxmlformats.org/officeDocument/2006/math">
                    <m:oMathParaPr>
                      <m:jc m:val="centerGroup"/>
                    </m:oMathParaPr>
                    <m:oMath xmlns:m="http://schemas.openxmlformats.org/officeDocument/2006/math">
                      <m:r>
                        <m:rPr>
                          <m:nor/>
                        </m:rPr>
                        <a:rPr lang="en-IN" sz="2400" b="0"/>
                        <m:t>Probability</m:t>
                      </m:r>
                      <m:r>
                        <a:rPr lang="en-IN" sz="2400" b="0" i="0">
                          <a:latin typeface="Cambria Math" panose="02040503050406030204" pitchFamily="18" charset="0"/>
                        </a:rPr>
                        <m:t>=</m:t>
                      </m:r>
                      <m:f>
                        <m:fPr>
                          <m:ctrlPr>
                            <a:rPr lang="ar-AE" sz="2400" b="0" i="1">
                              <a:latin typeface="Cambria Math" panose="02040503050406030204" pitchFamily="18" charset="0"/>
                            </a:rPr>
                          </m:ctrlPr>
                        </m:fPr>
                        <m:num>
                          <m:r>
                            <m:rPr>
                              <m:nor/>
                            </m:rPr>
                            <a:rPr lang="en-IN" sz="2400" b="0" i="1">
                              <a:latin typeface="Cambria Math" panose="02040503050406030204" pitchFamily="18" charset="0"/>
                            </a:rPr>
                            <m:t>Selected</m:t>
                          </m:r>
                          <m:r>
                            <m:rPr>
                              <m:nor/>
                            </m:rPr>
                            <a:rPr lang="en-IN" sz="2400" b="0" i="1">
                              <a:latin typeface="Cambria Math" panose="02040503050406030204" pitchFamily="18" charset="0"/>
                            </a:rPr>
                            <m:t> </m:t>
                          </m:r>
                          <m:r>
                            <m:rPr>
                              <m:nor/>
                            </m:rPr>
                            <a:rPr lang="en-IN" sz="2400" b="0" i="1">
                              <a:latin typeface="Cambria Math" panose="02040503050406030204" pitchFamily="18" charset="0"/>
                            </a:rPr>
                            <m:t>Outcomes</m:t>
                          </m:r>
                        </m:num>
                        <m:den>
                          <m:r>
                            <m:rPr>
                              <m:nor/>
                            </m:rPr>
                            <a:rPr lang="en-IN" sz="2400" b="0" i="1">
                              <a:latin typeface="Cambria Math" panose="02040503050406030204" pitchFamily="18" charset="0"/>
                            </a:rPr>
                            <m:t>Possible</m:t>
                          </m:r>
                          <m:r>
                            <m:rPr>
                              <m:nor/>
                            </m:rPr>
                            <a:rPr lang="en-IN" sz="2400" b="0" i="1">
                              <a:latin typeface="Cambria Math" panose="02040503050406030204" pitchFamily="18" charset="0"/>
                            </a:rPr>
                            <m:t> </m:t>
                          </m:r>
                          <m:r>
                            <m:rPr>
                              <m:nor/>
                            </m:rPr>
                            <a:rPr lang="en-IN" sz="2400" b="0" i="1">
                              <a:latin typeface="Cambria Math" panose="02040503050406030204" pitchFamily="18" charset="0"/>
                            </a:rPr>
                            <m:t>Outcomes</m:t>
                          </m:r>
                        </m:den>
                      </m:f>
                    </m:oMath>
                  </m:oMathPara>
                </a14:m>
                <a:endParaRPr lang="ar-AE" sz="2400" b="0" dirty="0"/>
              </a:p>
            </p:txBody>
          </p:sp>
        </mc:Choice>
        <mc:Fallback xmlns="">
          <p:sp>
            <p:nvSpPr>
              <p:cNvPr id="7" name="TextBox 6">
                <a:extLst>
                  <a:ext uri="{FF2B5EF4-FFF2-40B4-BE49-F238E27FC236}">
                    <a16:creationId xmlns:a16="http://schemas.microsoft.com/office/drawing/2014/main" id="{1AFD90F0-5F81-8515-F897-16FEE5782DDD}"/>
                  </a:ext>
                </a:extLst>
              </p:cNvPr>
              <p:cNvSpPr txBox="1">
                <a:spLocks noRot="1" noChangeAspect="1" noMove="1" noResize="1" noEditPoints="1" noAdjustHandles="1" noChangeArrowheads="1" noChangeShapeType="1" noTextEdit="1"/>
              </p:cNvSpPr>
              <p:nvPr/>
            </p:nvSpPr>
            <p:spPr>
              <a:xfrm>
                <a:off x="3443141" y="1658621"/>
                <a:ext cx="6094428" cy="4856394"/>
              </a:xfrm>
              <a:prstGeom prst="rect">
                <a:avLst/>
              </a:prstGeom>
              <a:blipFill>
                <a:blip r:embed="rId2"/>
                <a:stretch>
                  <a:fillRect l="-1600" t="-1004"/>
                </a:stretch>
              </a:blipFill>
            </p:spPr>
            <p:txBody>
              <a:bodyPr/>
              <a:lstStyle/>
              <a:p>
                <a:r>
                  <a:rPr lang="en-IN">
                    <a:noFill/>
                  </a:rPr>
                  <a:t> </a:t>
                </a:r>
              </a:p>
            </p:txBody>
          </p:sp>
        </mc:Fallback>
      </mc:AlternateContent>
    </p:spTree>
    <p:extLst>
      <p:ext uri="{BB962C8B-B14F-4D97-AF65-F5344CB8AC3E}">
        <p14:creationId xmlns:p14="http://schemas.microsoft.com/office/powerpoint/2010/main" val="42952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 calcmode="lin" valueType="num">
                                      <p:cBhvr additive="base">
                                        <p:cTn id="3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 calcmode="lin" valueType="num">
                                      <p:cBhvr additive="base">
                                        <p:cTn id="3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 calcmode="lin" valueType="num">
                                      <p:cBhvr additive="base">
                                        <p:cTn id="4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 calcmode="lin" valueType="num">
                                      <p:cBhvr additive="base">
                                        <p:cTn id="4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58172A3-9CDC-360F-B6CF-F86319F24F8B}"/>
                  </a:ext>
                </a:extLst>
              </p:cNvPr>
              <p:cNvSpPr txBox="1"/>
              <p:nvPr/>
            </p:nvSpPr>
            <p:spPr>
              <a:xfrm>
                <a:off x="7381188" y="1330465"/>
                <a:ext cx="4164290" cy="4770024"/>
              </a:xfrm>
              <a:prstGeom prst="rect">
                <a:avLst/>
              </a:prstGeom>
              <a:noFill/>
            </p:spPr>
            <p:txBody>
              <a:bodyPr wrap="square">
                <a:spAutoFit/>
              </a:bodyPr>
              <a:lstStyle/>
              <a:p>
                <a:pPr>
                  <a:buNone/>
                </a:pPr>
                <a:r>
                  <a:rPr lang="en-IN" b="1" dirty="0"/>
                  <a:t>Step 5: Substitute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r>
                        <a:rPr lang="en-IN" i="0">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r>
                                <a:rPr lang="ar-AE" i="0">
                                  <a:latin typeface="Cambria Math" panose="02040503050406030204" pitchFamily="18" charset="0"/>
                                </a:rPr>
                                <m:t>6</m:t>
                              </m:r>
                              <m:r>
                                <a:rPr lang="ar-AE" i="0">
                                  <a:latin typeface="Cambria Math" panose="02040503050406030204" pitchFamily="18" charset="0"/>
                                </a:rPr>
                                <m:t>×</m:t>
                              </m:r>
                              <m:r>
                                <a:rPr lang="ar-AE" i="0">
                                  <a:latin typeface="Cambria Math" panose="02040503050406030204" pitchFamily="18" charset="0"/>
                                </a:rPr>
                                <m:t>4</m:t>
                              </m:r>
                            </m:e>
                          </m:d>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15</m:t>
                              </m:r>
                              <m:r>
                                <a:rPr lang="ar-AE" i="0">
                                  <a:latin typeface="Cambria Math" panose="02040503050406030204" pitchFamily="18" charset="0"/>
                                </a:rPr>
                                <m:t>×</m:t>
                              </m:r>
                              <m:r>
                                <a:rPr lang="ar-AE" i="0">
                                  <a:latin typeface="Cambria Math" panose="02040503050406030204" pitchFamily="18" charset="0"/>
                                </a:rPr>
                                <m:t>6</m:t>
                              </m:r>
                            </m:e>
                          </m:d>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20</m:t>
                              </m:r>
                              <m:r>
                                <a:rPr lang="ar-AE" i="0">
                                  <a:latin typeface="Cambria Math" panose="02040503050406030204" pitchFamily="18" charset="0"/>
                                </a:rPr>
                                <m:t>×</m:t>
                              </m:r>
                              <m:r>
                                <a:rPr lang="ar-AE" i="0">
                                  <a:latin typeface="Cambria Math" panose="02040503050406030204" pitchFamily="18" charset="0"/>
                                </a:rPr>
                                <m:t>4</m:t>
                              </m:r>
                            </m:e>
                          </m:d>
                          <m:r>
                            <a:rPr lang="ar-AE" i="0">
                              <a:latin typeface="Cambria Math" panose="02040503050406030204" pitchFamily="18" charset="0"/>
                            </a:rPr>
                            <m:t>+</m:t>
                          </m:r>
                          <m:d>
                            <m:dPr>
                              <m:ctrlPr>
                                <a:rPr lang="ar-AE" i="1">
                                  <a:latin typeface="Cambria Math" panose="02040503050406030204" pitchFamily="18" charset="0"/>
                                </a:rPr>
                              </m:ctrlPr>
                            </m:dPr>
                            <m:e>
                              <m:r>
                                <a:rPr lang="ar-AE" i="0">
                                  <a:latin typeface="Cambria Math" panose="02040503050406030204" pitchFamily="18" charset="0"/>
                                </a:rPr>
                                <m:t>15</m:t>
                              </m:r>
                              <m:r>
                                <a:rPr lang="ar-AE" i="0">
                                  <a:latin typeface="Cambria Math" panose="02040503050406030204" pitchFamily="18" charset="0"/>
                                </a:rPr>
                                <m:t>×</m:t>
                              </m:r>
                              <m:r>
                                <a:rPr lang="ar-AE" i="0">
                                  <a:latin typeface="Cambria Math" panose="02040503050406030204" pitchFamily="18" charset="0"/>
                                </a:rPr>
                                <m:t>1</m:t>
                              </m:r>
                            </m:e>
                          </m:d>
                        </m:num>
                        <m:den>
                          <m:r>
                            <a:rPr lang="ar-AE" i="0">
                              <a:latin typeface="Cambria Math" panose="02040503050406030204" pitchFamily="18" charset="0"/>
                            </a:rPr>
                            <m:t>210</m:t>
                          </m:r>
                        </m:den>
                      </m:f>
                    </m:oMath>
                  </m:oMathPara>
                </a14:m>
                <a:endParaRPr lang="ar-AE" dirty="0"/>
              </a:p>
              <a:p>
                <a:pPr>
                  <a:buNone/>
                </a:pPr>
                <a:br>
                  <a:rPr lang="ar-AE" dirty="0"/>
                </a:br>
                <a:endParaRPr lang="ar-AE" dirty="0"/>
              </a:p>
              <a:p>
                <a:pPr>
                  <a:buNone/>
                </a:pPr>
                <a:r>
                  <a:rPr lang="en-IN" b="1" dirty="0"/>
                  <a:t>Step 6: Calculate</a:t>
                </a: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24</m:t>
                          </m:r>
                          <m:r>
                            <a:rPr lang="ar-AE" i="0">
                              <a:latin typeface="Cambria Math" panose="02040503050406030204" pitchFamily="18" charset="0"/>
                            </a:rPr>
                            <m:t>+</m:t>
                          </m:r>
                          <m:r>
                            <a:rPr lang="ar-AE" i="0">
                              <a:latin typeface="Cambria Math" panose="02040503050406030204" pitchFamily="18" charset="0"/>
                            </a:rPr>
                            <m:t>90</m:t>
                          </m:r>
                          <m:r>
                            <a:rPr lang="ar-AE" i="0">
                              <a:latin typeface="Cambria Math" panose="02040503050406030204" pitchFamily="18" charset="0"/>
                            </a:rPr>
                            <m:t>+</m:t>
                          </m:r>
                          <m:r>
                            <a:rPr lang="ar-AE" i="0">
                              <a:latin typeface="Cambria Math" panose="02040503050406030204" pitchFamily="18" charset="0"/>
                            </a:rPr>
                            <m:t>80</m:t>
                          </m:r>
                          <m:r>
                            <a:rPr lang="ar-AE" i="0">
                              <a:latin typeface="Cambria Math" panose="02040503050406030204" pitchFamily="18" charset="0"/>
                            </a:rPr>
                            <m:t>+</m:t>
                          </m:r>
                          <m:r>
                            <a:rPr lang="ar-AE" i="0">
                              <a:latin typeface="Cambria Math" panose="02040503050406030204" pitchFamily="18" charset="0"/>
                            </a:rPr>
                            <m:t>15</m:t>
                          </m:r>
                        </m:num>
                        <m:den>
                          <m:eqArr>
                            <m:eqArrPr>
                              <m:ctrlPr>
                                <a:rPr lang="ar-AE" i="1">
                                  <a:latin typeface="Cambria Math" panose="02040503050406030204" pitchFamily="18" charset="0"/>
                                </a:rPr>
                              </m:ctrlPr>
                            </m:eqArrPr>
                            <m:e>
                              <m:r>
                                <a:rPr lang="ar-AE" i="0">
                                  <a:latin typeface="Cambria Math" panose="02040503050406030204" pitchFamily="18" charset="0"/>
                                </a:rPr>
                                <m:t>210</m:t>
                              </m:r>
                            </m:e>
                            <m:e/>
                          </m:eqArr>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209</m:t>
                          </m:r>
                        </m:num>
                        <m:den>
                          <m:r>
                            <a:rPr lang="ar-AE" i="0">
                              <a:latin typeface="Cambria Math" panose="02040503050406030204" pitchFamily="18" charset="0"/>
                            </a:rPr>
                            <m:t>210</m:t>
                          </m:r>
                        </m:den>
                      </m:f>
                    </m:oMath>
                  </m:oMathPara>
                </a14:m>
                <a:endParaRPr lang="ar-AE" dirty="0"/>
              </a:p>
              <a:p>
                <a:pPr>
                  <a:buNone/>
                </a:pPr>
                <a:br>
                  <a:rPr lang="ar-AE" dirty="0"/>
                </a:br>
                <a:endParaRPr lang="ar-AE" dirty="0"/>
              </a:p>
              <a:p>
                <a:pPr>
                  <a:buNone/>
                </a:pPr>
                <a:r>
                  <a:rPr lang="en-IN" b="1" dirty="0"/>
                  <a:t>Final Answer</a:t>
                </a:r>
              </a:p>
              <a:p>
                <a:pPr>
                  <a:buNone/>
                </a:pPr>
                <a14:m>
                  <m:oMathPara xmlns:m="http://schemas.openxmlformats.org/officeDocument/2006/math">
                    <m:oMathParaPr>
                      <m:jc m:val="centerGroup"/>
                    </m:oMathParaPr>
                    <m:oMath xmlns:m="http://schemas.openxmlformats.org/officeDocument/2006/math">
                      <m:borderBox>
                        <m:borderBoxPr>
                          <m:ctrlPr>
                            <a:rPr lang="ar-AE" i="1">
                              <a:latin typeface="Cambria Math" panose="02040503050406030204" pitchFamily="18" charset="0"/>
                            </a:rPr>
                          </m:ctrlPr>
                        </m:borderBoxPr>
                        <m:e>
                          <m:f>
                            <m:fPr>
                              <m:ctrlPr>
                                <a:rPr lang="ar-AE" i="1">
                                  <a:latin typeface="Cambria Math" panose="02040503050406030204" pitchFamily="18" charset="0"/>
                                </a:rPr>
                              </m:ctrlPr>
                            </m:fPr>
                            <m:num>
                              <m:r>
                                <a:rPr lang="ar-AE">
                                  <a:latin typeface="Cambria Math" panose="02040503050406030204" pitchFamily="18" charset="0"/>
                                </a:rPr>
                                <m:t>209</m:t>
                              </m:r>
                            </m:num>
                            <m:den>
                              <m:r>
                                <a:rPr lang="ar-AE" i="0">
                                  <a:latin typeface="Cambria Math" panose="02040503050406030204" pitchFamily="18" charset="0"/>
                                </a:rPr>
                                <m:t>210</m:t>
                              </m:r>
                            </m:den>
                          </m:f>
                        </m:e>
                      </m:borderBox>
                    </m:oMath>
                  </m:oMathPara>
                </a14:m>
                <a:endParaRPr lang="ar-AE" dirty="0"/>
              </a:p>
            </p:txBody>
          </p:sp>
        </mc:Choice>
        <mc:Fallback xmlns="">
          <p:sp>
            <p:nvSpPr>
              <p:cNvPr id="5" name="TextBox 4">
                <a:extLst>
                  <a:ext uri="{FF2B5EF4-FFF2-40B4-BE49-F238E27FC236}">
                    <a16:creationId xmlns:a16="http://schemas.microsoft.com/office/drawing/2014/main" id="{B58172A3-9CDC-360F-B6CF-F86319F24F8B}"/>
                  </a:ext>
                </a:extLst>
              </p:cNvPr>
              <p:cNvSpPr txBox="1">
                <a:spLocks noRot="1" noChangeAspect="1" noMove="1" noResize="1" noEditPoints="1" noAdjustHandles="1" noChangeArrowheads="1" noChangeShapeType="1" noTextEdit="1"/>
              </p:cNvSpPr>
              <p:nvPr/>
            </p:nvSpPr>
            <p:spPr>
              <a:xfrm>
                <a:off x="7381188" y="1330465"/>
                <a:ext cx="4164290" cy="4770024"/>
              </a:xfrm>
              <a:prstGeom prst="rect">
                <a:avLst/>
              </a:prstGeom>
              <a:blipFill>
                <a:blip r:embed="rId2"/>
                <a:stretch>
                  <a:fillRect l="-1318" t="-639" r="-483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BF209C9-5B11-C4B1-CAA8-64142D44E3C3}"/>
                  </a:ext>
                </a:extLst>
              </p:cNvPr>
              <p:cNvSpPr txBox="1"/>
              <p:nvPr/>
            </p:nvSpPr>
            <p:spPr>
              <a:xfrm>
                <a:off x="646522" y="630019"/>
                <a:ext cx="6094428" cy="5696111"/>
              </a:xfrm>
              <a:prstGeom prst="rect">
                <a:avLst/>
              </a:prstGeom>
              <a:noFill/>
            </p:spPr>
            <p:txBody>
              <a:bodyPr wrap="square">
                <a:spAutoFit/>
              </a:bodyPr>
              <a:lstStyle/>
              <a:p>
                <a:pPr>
                  <a:buNone/>
                </a:pPr>
                <a:r>
                  <a:rPr lang="en-IN" sz="2000" b="1" dirty="0"/>
                  <a:t>Step 3: Selected Outcomes (S.O.O)</a:t>
                </a:r>
              </a:p>
              <a:p>
                <a:pPr>
                  <a:buNone/>
                </a:pPr>
                <a:r>
                  <a:rPr lang="en-IN" sz="2000" b="1" dirty="0"/>
                  <a:t>Case 1: 1 red</a:t>
                </a: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1</m:t>
                          </m:r>
                        </m:sub>
                      </m:sSub>
                      <m:r>
                        <a:rPr lang="ar-AE" sz="2000" i="0">
                          <a:latin typeface="Cambria Math" panose="02040503050406030204" pitchFamily="18" charset="0"/>
                        </a:rPr>
                        <m:t>×</m:t>
                      </m:r>
                      <m:sSup>
                        <m:sSupPr>
                          <m:ctrlPr>
                            <a:rPr lang="ar-AE" sz="2000" i="1">
                              <a:latin typeface="Cambria Math" panose="02040503050406030204" pitchFamily="18" charset="0"/>
                            </a:rPr>
                          </m:ctrlPr>
                        </m:sSupPr>
                        <m:e/>
                        <m:sup>
                          <m:r>
                            <a:rPr lang="ar-AE" sz="2000" i="0">
                              <a:latin typeface="Cambria Math" panose="02040503050406030204" pitchFamily="18" charset="0"/>
                            </a:rPr>
                            <m:t>4</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3</m:t>
                          </m:r>
                        </m:sub>
                      </m:sSub>
                    </m:oMath>
                  </m:oMathPara>
                </a14:m>
                <a:endParaRPr lang="ar-AE" sz="2000" dirty="0"/>
              </a:p>
              <a:p>
                <a:pPr>
                  <a:buNone/>
                </a:pPr>
                <a:r>
                  <a:rPr lang="en-IN" sz="2000" b="1" dirty="0"/>
                  <a:t>Case 2: 2 red</a:t>
                </a: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r>
                        <a:rPr lang="ar-AE" sz="2000" i="0">
                          <a:latin typeface="Cambria Math" panose="02040503050406030204" pitchFamily="18" charset="0"/>
                        </a:rPr>
                        <m:t>×</m:t>
                      </m:r>
                      <m:sSup>
                        <m:sSupPr>
                          <m:ctrlPr>
                            <a:rPr lang="ar-AE" sz="2000" i="1">
                              <a:latin typeface="Cambria Math" panose="02040503050406030204" pitchFamily="18" charset="0"/>
                            </a:rPr>
                          </m:ctrlPr>
                        </m:sSupPr>
                        <m:e/>
                        <m:sup>
                          <m:r>
                            <a:rPr lang="ar-AE" sz="2000" i="0">
                              <a:latin typeface="Cambria Math" panose="02040503050406030204" pitchFamily="18" charset="0"/>
                            </a:rPr>
                            <m:t>4</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oMath>
                  </m:oMathPara>
                </a14:m>
                <a:endParaRPr lang="ar-AE" sz="2000" dirty="0"/>
              </a:p>
              <a:p>
                <a:pPr>
                  <a:buNone/>
                </a:pPr>
                <a:r>
                  <a:rPr lang="en-IN" sz="2000" b="1" dirty="0"/>
                  <a:t>Case 3: 3 red</a:t>
                </a: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3</m:t>
                          </m:r>
                        </m:sub>
                      </m:sSub>
                      <m:r>
                        <a:rPr lang="ar-AE" sz="2000" i="0">
                          <a:latin typeface="Cambria Math" panose="02040503050406030204" pitchFamily="18" charset="0"/>
                        </a:rPr>
                        <m:t>×</m:t>
                      </m:r>
                      <m:sSup>
                        <m:sSupPr>
                          <m:ctrlPr>
                            <a:rPr lang="ar-AE" sz="2000" i="1">
                              <a:latin typeface="Cambria Math" panose="02040503050406030204" pitchFamily="18" charset="0"/>
                            </a:rPr>
                          </m:ctrlPr>
                        </m:sSupPr>
                        <m:e/>
                        <m:sup>
                          <m:r>
                            <a:rPr lang="ar-AE" sz="2000" i="0">
                              <a:latin typeface="Cambria Math" panose="02040503050406030204" pitchFamily="18" charset="0"/>
                            </a:rPr>
                            <m:t>4</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1</m:t>
                          </m:r>
                        </m:sub>
                      </m:sSub>
                    </m:oMath>
                  </m:oMathPara>
                </a14:m>
                <a:endParaRPr lang="ar-AE" sz="2000" dirty="0"/>
              </a:p>
              <a:p>
                <a:pPr>
                  <a:buNone/>
                </a:pPr>
                <a:r>
                  <a:rPr lang="en-IN" sz="2000" b="1" dirty="0"/>
                  <a:t>Case 4: 4 red</a:t>
                </a: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4</m:t>
                          </m:r>
                        </m:sub>
                      </m:sSub>
                      <m:r>
                        <a:rPr lang="ar-AE" sz="2000" i="0">
                          <a:latin typeface="Cambria Math" panose="02040503050406030204" pitchFamily="18" charset="0"/>
                        </a:rPr>
                        <m:t>×</m:t>
                      </m:r>
                      <m:sSup>
                        <m:sSupPr>
                          <m:ctrlPr>
                            <a:rPr lang="ar-AE" sz="2000" i="1">
                              <a:latin typeface="Cambria Math" panose="02040503050406030204" pitchFamily="18" charset="0"/>
                            </a:rPr>
                          </m:ctrlPr>
                        </m:sSupPr>
                        <m:e/>
                        <m:sup>
                          <m:r>
                            <a:rPr lang="ar-AE" sz="2000" i="0">
                              <a:latin typeface="Cambria Math" panose="02040503050406030204" pitchFamily="18" charset="0"/>
                            </a:rPr>
                            <m:t>4</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0</m:t>
                          </m:r>
                        </m:sub>
                      </m:sSub>
                    </m:oMath>
                  </m:oMathPara>
                </a14:m>
                <a:br>
                  <a:rPr lang="ar-AE" sz="2000" dirty="0"/>
                </a:br>
                <a:endParaRPr lang="ar-AE" sz="2000" dirty="0"/>
              </a:p>
              <a:p>
                <a:pPr>
                  <a:buNone/>
                </a:pPr>
                <a:r>
                  <a:rPr lang="en-IN" sz="2000" b="1" dirty="0"/>
                  <a:t>Add all cases (At least ⇒ ADD)</a:t>
                </a:r>
              </a:p>
              <a:p>
                <a:pPr>
                  <a:buNone/>
                </a:pPr>
                <a14:m>
                  <m:oMathPara xmlns:m="http://schemas.openxmlformats.org/officeDocument/2006/math">
                    <m:oMathParaPr>
                      <m:jc m:val="centerGroup"/>
                    </m:oMathParaPr>
                    <m:oMath xmlns:m="http://schemas.openxmlformats.org/officeDocument/2006/math">
                      <m:r>
                        <m:rPr>
                          <m:nor/>
                        </m:rPr>
                        <a:rPr lang="en-IN" sz="2000" b="0"/>
                        <m:t>S</m:t>
                      </m:r>
                      <m:r>
                        <m:rPr>
                          <m:nor/>
                        </m:rPr>
                        <a:rPr lang="en-IN" sz="2000" b="0"/>
                        <m:t>.</m:t>
                      </m:r>
                      <m:r>
                        <m:rPr>
                          <m:nor/>
                        </m:rPr>
                        <a:rPr lang="en-IN" sz="2000" b="0"/>
                        <m:t>O</m:t>
                      </m:r>
                      <m:r>
                        <m:rPr>
                          <m:nor/>
                        </m:rPr>
                        <a:rPr lang="en-IN" sz="2000" b="0"/>
                        <m:t>.</m:t>
                      </m:r>
                      <m:r>
                        <m:rPr>
                          <m:nor/>
                        </m:rPr>
                        <a:rPr lang="en-IN" sz="2000" b="0"/>
                        <m:t>O</m:t>
                      </m:r>
                      <m:r>
                        <a:rPr lang="en-IN" sz="2000" b="0" i="0">
                          <a:latin typeface="Cambria Math" panose="02040503050406030204" pitchFamily="18" charset="0"/>
                        </a:rPr>
                        <m:t>=</m:t>
                      </m:r>
                      <m:d>
                        <m:dPr>
                          <m:ctrlPr>
                            <a:rPr lang="ar-AE" sz="2000" b="0" i="1">
                              <a:latin typeface="Cambria Math" panose="02040503050406030204" pitchFamily="18" charset="0"/>
                            </a:rPr>
                          </m:ctrlPr>
                        </m:dPr>
                        <m:e>
                          <m:sSup>
                            <m:sSupPr>
                              <m:ctrlPr>
                                <a:rPr lang="ar-AE" sz="2000" b="0" i="1">
                                  <a:latin typeface="Cambria Math" panose="02040503050406030204" pitchFamily="18" charset="0"/>
                                </a:rPr>
                              </m:ctrlPr>
                            </m:sSupPr>
                            <m:e/>
                            <m:sup>
                              <m:r>
                                <a:rPr lang="ar-AE" sz="2000" b="0" i="0">
                                  <a:latin typeface="Cambria Math" panose="02040503050406030204" pitchFamily="18" charset="0"/>
                                </a:rPr>
                                <m:t>6</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1</m:t>
                              </m:r>
                            </m:sub>
                          </m:sSub>
                          <m:sSup>
                            <m:sSupPr>
                              <m:ctrlPr>
                                <a:rPr lang="ar-AE" sz="2000" b="0" i="1">
                                  <a:latin typeface="Cambria Math" panose="02040503050406030204" pitchFamily="18" charset="0"/>
                                </a:rPr>
                              </m:ctrlPr>
                            </m:sSupPr>
                            <m:e/>
                            <m:sup>
                              <m:r>
                                <a:rPr lang="ar-AE" sz="2000" b="0" i="0">
                                  <a:latin typeface="Cambria Math" panose="02040503050406030204" pitchFamily="18" charset="0"/>
                                </a:rPr>
                                <m:t>4</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3</m:t>
                              </m:r>
                            </m:sub>
                          </m:sSub>
                        </m:e>
                      </m:d>
                      <m:r>
                        <a:rPr lang="ar-AE" sz="2000" b="0" i="0">
                          <a:latin typeface="Cambria Math" panose="02040503050406030204" pitchFamily="18" charset="0"/>
                        </a:rPr>
                        <m:t>+</m:t>
                      </m:r>
                      <m:d>
                        <m:dPr>
                          <m:ctrlPr>
                            <a:rPr lang="ar-AE" sz="2000" b="0" i="1">
                              <a:latin typeface="Cambria Math" panose="02040503050406030204" pitchFamily="18" charset="0"/>
                            </a:rPr>
                          </m:ctrlPr>
                        </m:dPr>
                        <m:e>
                          <m:sSup>
                            <m:sSupPr>
                              <m:ctrlPr>
                                <a:rPr lang="ar-AE" sz="2000" b="0" i="1">
                                  <a:latin typeface="Cambria Math" panose="02040503050406030204" pitchFamily="18" charset="0"/>
                                </a:rPr>
                              </m:ctrlPr>
                            </m:sSupPr>
                            <m:e/>
                            <m:sup>
                              <m:r>
                                <a:rPr lang="ar-AE" sz="2000" b="0" i="0">
                                  <a:latin typeface="Cambria Math" panose="02040503050406030204" pitchFamily="18" charset="0"/>
                                </a:rPr>
                                <m:t>6</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2</m:t>
                              </m:r>
                            </m:sub>
                          </m:sSub>
                          <m:sSup>
                            <m:sSupPr>
                              <m:ctrlPr>
                                <a:rPr lang="ar-AE" sz="2000" b="0" i="1">
                                  <a:latin typeface="Cambria Math" panose="02040503050406030204" pitchFamily="18" charset="0"/>
                                </a:rPr>
                              </m:ctrlPr>
                            </m:sSupPr>
                            <m:e/>
                            <m:sup>
                              <m:r>
                                <a:rPr lang="ar-AE" sz="2000" b="0" i="0">
                                  <a:latin typeface="Cambria Math" panose="02040503050406030204" pitchFamily="18" charset="0"/>
                                </a:rPr>
                                <m:t>4</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2</m:t>
                              </m:r>
                            </m:sub>
                          </m:sSub>
                        </m:e>
                      </m:d>
                      <m:r>
                        <a:rPr lang="ar-AE" sz="2000" b="0" i="0">
                          <a:latin typeface="Cambria Math" panose="02040503050406030204" pitchFamily="18" charset="0"/>
                        </a:rPr>
                        <m:t>+</m:t>
                      </m:r>
                      <m:d>
                        <m:dPr>
                          <m:ctrlPr>
                            <a:rPr lang="ar-AE" sz="2000" b="0" i="1">
                              <a:latin typeface="Cambria Math" panose="02040503050406030204" pitchFamily="18" charset="0"/>
                            </a:rPr>
                          </m:ctrlPr>
                        </m:dPr>
                        <m:e>
                          <m:sSup>
                            <m:sSupPr>
                              <m:ctrlPr>
                                <a:rPr lang="ar-AE" sz="2000" b="0" i="1">
                                  <a:latin typeface="Cambria Math" panose="02040503050406030204" pitchFamily="18" charset="0"/>
                                </a:rPr>
                              </m:ctrlPr>
                            </m:sSupPr>
                            <m:e/>
                            <m:sup>
                              <m:r>
                                <a:rPr lang="ar-AE" sz="2000" b="0" i="0">
                                  <a:latin typeface="Cambria Math" panose="02040503050406030204" pitchFamily="18" charset="0"/>
                                </a:rPr>
                                <m:t>6</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3</m:t>
                              </m:r>
                            </m:sub>
                          </m:sSub>
                          <m:sSup>
                            <m:sSupPr>
                              <m:ctrlPr>
                                <a:rPr lang="ar-AE" sz="2000" b="0" i="1">
                                  <a:latin typeface="Cambria Math" panose="02040503050406030204" pitchFamily="18" charset="0"/>
                                </a:rPr>
                              </m:ctrlPr>
                            </m:sSupPr>
                            <m:e/>
                            <m:sup>
                              <m:r>
                                <a:rPr lang="ar-AE" sz="2000" b="0" i="0">
                                  <a:latin typeface="Cambria Math" panose="02040503050406030204" pitchFamily="18" charset="0"/>
                                </a:rPr>
                                <m:t>4</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1</m:t>
                              </m:r>
                            </m:sub>
                          </m:sSub>
                        </m:e>
                      </m:d>
                      <m:r>
                        <a:rPr lang="ar-AE" sz="2000" b="0" i="0">
                          <a:latin typeface="Cambria Math" panose="02040503050406030204" pitchFamily="18" charset="0"/>
                        </a:rPr>
                        <m:t>+</m:t>
                      </m:r>
                      <m:d>
                        <m:dPr>
                          <m:ctrlPr>
                            <a:rPr lang="ar-AE" sz="2000" b="0" i="1">
                              <a:latin typeface="Cambria Math" panose="02040503050406030204" pitchFamily="18" charset="0"/>
                            </a:rPr>
                          </m:ctrlPr>
                        </m:dPr>
                        <m:e>
                          <m:sSup>
                            <m:sSupPr>
                              <m:ctrlPr>
                                <a:rPr lang="ar-AE" sz="2000" b="0" i="1">
                                  <a:latin typeface="Cambria Math" panose="02040503050406030204" pitchFamily="18" charset="0"/>
                                </a:rPr>
                              </m:ctrlPr>
                            </m:sSupPr>
                            <m:e/>
                            <m:sup>
                              <m:r>
                                <a:rPr lang="ar-AE" sz="2000" b="0" i="0">
                                  <a:latin typeface="Cambria Math" panose="02040503050406030204" pitchFamily="18" charset="0"/>
                                </a:rPr>
                                <m:t>6</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4</m:t>
                              </m:r>
                            </m:sub>
                          </m:sSub>
                          <m:sSup>
                            <m:sSupPr>
                              <m:ctrlPr>
                                <a:rPr lang="ar-AE" sz="2000" b="0" i="1">
                                  <a:latin typeface="Cambria Math" panose="02040503050406030204" pitchFamily="18" charset="0"/>
                                </a:rPr>
                              </m:ctrlPr>
                            </m:sSupPr>
                            <m:e/>
                            <m:sup>
                              <m:r>
                                <a:rPr lang="ar-AE" sz="2000" b="0" i="0">
                                  <a:latin typeface="Cambria Math" panose="02040503050406030204" pitchFamily="18" charset="0"/>
                                </a:rPr>
                                <m:t>4</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0</m:t>
                              </m:r>
                            </m:sub>
                          </m:sSub>
                        </m:e>
                      </m:d>
                    </m:oMath>
                  </m:oMathPara>
                </a14:m>
                <a:endParaRPr lang="ar-AE" sz="2000" dirty="0"/>
              </a:p>
              <a:p>
                <a:pPr>
                  <a:buNone/>
                </a:pPr>
                <a:r>
                  <a:rPr lang="en-IN" sz="2000" b="1" dirty="0"/>
                  <a:t>Step 4: Possible Outcomes</a:t>
                </a:r>
              </a:p>
              <a:p>
                <a:pPr>
                  <a:buNone/>
                </a:pPr>
                <a:r>
                  <a:rPr lang="en-IN" sz="2000" dirty="0"/>
                  <a:t>Total balls = 10</a:t>
                </a:r>
                <a:br>
                  <a:rPr lang="en-IN" sz="2000" dirty="0"/>
                </a:br>
                <a:r>
                  <a:rPr lang="en-IN" sz="2000" dirty="0"/>
                  <a:t>Choosing 4 balls:</a:t>
                </a:r>
              </a:p>
              <a:p>
                <a:pPr>
                  <a:buNone/>
                </a:pPr>
                <a14:m>
                  <m:oMathPara xmlns:m="http://schemas.openxmlformats.org/officeDocument/2006/math">
                    <m:oMathParaPr>
                      <m:jc m:val="centerGroup"/>
                    </m:oMathParaPr>
                    <m:oMath xmlns:m="http://schemas.openxmlformats.org/officeDocument/2006/math">
                      <m:r>
                        <m:rPr>
                          <m:nor/>
                        </m:rPr>
                        <a:rPr lang="en-IN" sz="2000" b="0"/>
                        <m:t>Possible</m:t>
                      </m:r>
                      <m:r>
                        <m:rPr>
                          <m:nor/>
                        </m:rPr>
                        <a:rPr lang="en-IN" sz="2000" b="0" i="1"/>
                        <m:t> </m:t>
                      </m:r>
                      <m:r>
                        <m:rPr>
                          <m:nor/>
                        </m:rPr>
                        <a:rPr lang="en-IN" sz="2000" b="0" i="1"/>
                        <m:t>Outcomes</m:t>
                      </m:r>
                      <m:r>
                        <a:rPr lang="en-IN" sz="2000" b="0" i="0">
                          <a:latin typeface="Cambria Math" panose="02040503050406030204" pitchFamily="18" charset="0"/>
                        </a:rPr>
                        <m:t>=</m:t>
                      </m:r>
                      <m:sSup>
                        <m:sSupPr>
                          <m:ctrlPr>
                            <a:rPr lang="ar-AE" sz="2000" b="0" i="1">
                              <a:latin typeface="Cambria Math" panose="02040503050406030204" pitchFamily="18" charset="0"/>
                            </a:rPr>
                          </m:ctrlPr>
                        </m:sSupPr>
                        <m:e/>
                        <m:sup>
                          <m:r>
                            <a:rPr lang="ar-AE" sz="2000" b="0" i="0">
                              <a:latin typeface="Cambria Math" panose="02040503050406030204" pitchFamily="18" charset="0"/>
                            </a:rPr>
                            <m:t>10</m:t>
                          </m:r>
                        </m:sup>
                      </m:sSup>
                      <m:sSub>
                        <m:sSubPr>
                          <m:ctrlPr>
                            <a:rPr lang="ar-AE" sz="2000" b="0" i="1">
                              <a:latin typeface="Cambria Math" panose="02040503050406030204" pitchFamily="18" charset="0"/>
                            </a:rPr>
                          </m:ctrlPr>
                        </m:sSubPr>
                        <m:e>
                          <m:r>
                            <a:rPr lang="ar-AE" sz="2000" b="0" i="1">
                              <a:latin typeface="Cambria Math" panose="02040503050406030204" pitchFamily="18" charset="0"/>
                            </a:rPr>
                            <m:t>𝐶</m:t>
                          </m:r>
                        </m:e>
                        <m:sub>
                          <m:r>
                            <a:rPr lang="ar-AE" sz="2000" b="0" i="0">
                              <a:latin typeface="Cambria Math" panose="02040503050406030204" pitchFamily="18" charset="0"/>
                            </a:rPr>
                            <m:t>4</m:t>
                          </m:r>
                        </m:sub>
                      </m:sSub>
                    </m:oMath>
                  </m:oMathPara>
                </a14:m>
                <a:endParaRPr lang="ar-AE" sz="2000" b="0" dirty="0"/>
              </a:p>
            </p:txBody>
          </p:sp>
        </mc:Choice>
        <mc:Fallback xmlns="">
          <p:sp>
            <p:nvSpPr>
              <p:cNvPr id="9" name="TextBox 8">
                <a:extLst>
                  <a:ext uri="{FF2B5EF4-FFF2-40B4-BE49-F238E27FC236}">
                    <a16:creationId xmlns:a16="http://schemas.microsoft.com/office/drawing/2014/main" id="{FBF209C9-5B11-C4B1-CAA8-64142D44E3C3}"/>
                  </a:ext>
                </a:extLst>
              </p:cNvPr>
              <p:cNvSpPr txBox="1">
                <a:spLocks noRot="1" noChangeAspect="1" noMove="1" noResize="1" noEditPoints="1" noAdjustHandles="1" noChangeArrowheads="1" noChangeShapeType="1" noTextEdit="1"/>
              </p:cNvSpPr>
              <p:nvPr/>
            </p:nvSpPr>
            <p:spPr>
              <a:xfrm>
                <a:off x="646522" y="630019"/>
                <a:ext cx="6094428" cy="5696111"/>
              </a:xfrm>
              <a:prstGeom prst="rect">
                <a:avLst/>
              </a:prstGeom>
              <a:blipFill>
                <a:blip r:embed="rId3"/>
                <a:stretch>
                  <a:fillRect l="-1000" t="-535"/>
                </a:stretch>
              </a:blipFill>
            </p:spPr>
            <p:txBody>
              <a:bodyPr/>
              <a:lstStyle/>
              <a:p>
                <a:r>
                  <a:rPr lang="en-IN">
                    <a:noFill/>
                  </a:rPr>
                  <a:t> </a:t>
                </a:r>
              </a:p>
            </p:txBody>
          </p:sp>
        </mc:Fallback>
      </mc:AlternateContent>
    </p:spTree>
    <p:extLst>
      <p:ext uri="{BB962C8B-B14F-4D97-AF65-F5344CB8AC3E}">
        <p14:creationId xmlns:p14="http://schemas.microsoft.com/office/powerpoint/2010/main" val="408506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 calcmode="lin" valueType="num">
                                      <p:cBhvr additive="base">
                                        <p:cTn id="2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 calcmode="lin" valueType="num">
                                      <p:cBhvr additive="base">
                                        <p:cTn id="31"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anim calcmode="lin" valueType="num">
                                      <p:cBhvr additive="base">
                                        <p:cTn id="3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anim calcmode="lin" valueType="num">
                                      <p:cBhvr additive="base">
                                        <p:cTn id="39"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anim calcmode="lin" valueType="num">
                                      <p:cBhvr additive="base">
                                        <p:cTn id="43"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anim calcmode="lin" valueType="num">
                                      <p:cBhvr additive="base">
                                        <p:cTn id="47"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anim calcmode="lin" valueType="num">
                                      <p:cBhvr additive="base">
                                        <p:cTn id="51"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anim calcmode="lin" valueType="num">
                                      <p:cBhvr additive="base">
                                        <p:cTn id="55"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12" end="12"/>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9">
                                            <p:txEl>
                                              <p:pRg st="13" end="13"/>
                                            </p:txEl>
                                          </p:spTgt>
                                        </p:tgtEl>
                                        <p:attrNameLst>
                                          <p:attrName>style.visibility</p:attrName>
                                        </p:attrNameLst>
                                      </p:cBhvr>
                                      <p:to>
                                        <p:strVal val="visible"/>
                                      </p:to>
                                    </p:set>
                                    <p:anim calcmode="lin" valueType="num">
                                      <p:cBhvr additive="base">
                                        <p:cTn id="59"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9">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5">
                                            <p:txEl>
                                              <p:pRg st="0" end="0"/>
                                            </p:txEl>
                                          </p:spTgt>
                                        </p:tgtEl>
                                        <p:attrNameLst>
                                          <p:attrName>style.visibility</p:attrName>
                                        </p:attrNameLst>
                                      </p:cBhvr>
                                      <p:to>
                                        <p:strVal val="visible"/>
                                      </p:to>
                                    </p:set>
                                    <p:anim calcmode="lin" valueType="num">
                                      <p:cBhvr additive="base">
                                        <p:cTn id="6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5">
                                            <p:txEl>
                                              <p:pRg st="1" end="1"/>
                                            </p:txEl>
                                          </p:spTgt>
                                        </p:tgtEl>
                                        <p:attrNameLst>
                                          <p:attrName>style.visibility</p:attrName>
                                        </p:attrNameLst>
                                      </p:cBhvr>
                                      <p:to>
                                        <p:strVal val="visible"/>
                                      </p:to>
                                    </p:set>
                                    <p:anim calcmode="lin" valueType="num">
                                      <p:cBhvr additive="base">
                                        <p:cTn id="6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5">
                                            <p:txEl>
                                              <p:pRg st="2" end="2"/>
                                            </p:txEl>
                                          </p:spTgt>
                                        </p:tgtEl>
                                        <p:attrNameLst>
                                          <p:attrName>style.visibility</p:attrName>
                                        </p:attrNameLst>
                                      </p:cBhvr>
                                      <p:to>
                                        <p:strVal val="visible"/>
                                      </p:to>
                                    </p:set>
                                    <p:anim calcmode="lin" valueType="num">
                                      <p:cBhvr additive="base">
                                        <p:cTn id="7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5">
                                            <p:txEl>
                                              <p:pRg st="3" end="3"/>
                                            </p:txEl>
                                          </p:spTgt>
                                        </p:tgtEl>
                                        <p:attrNameLst>
                                          <p:attrName>style.visibility</p:attrName>
                                        </p:attrNameLst>
                                      </p:cBhvr>
                                      <p:to>
                                        <p:strVal val="visible"/>
                                      </p:to>
                                    </p:set>
                                    <p:anim calcmode="lin" valueType="num">
                                      <p:cBhvr additive="base">
                                        <p:cTn id="7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5">
                                            <p:txEl>
                                              <p:pRg st="4" end="4"/>
                                            </p:txEl>
                                          </p:spTgt>
                                        </p:tgtEl>
                                        <p:attrNameLst>
                                          <p:attrName>style.visibility</p:attrName>
                                        </p:attrNameLst>
                                      </p:cBhvr>
                                      <p:to>
                                        <p:strVal val="visible"/>
                                      </p:to>
                                    </p:set>
                                    <p:anim calcmode="lin" valueType="num">
                                      <p:cBhvr additive="base">
                                        <p:cTn id="8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5">
                                            <p:txEl>
                                              <p:pRg st="5" end="5"/>
                                            </p:txEl>
                                          </p:spTgt>
                                        </p:tgtEl>
                                        <p:attrNameLst>
                                          <p:attrName>style.visibility</p:attrName>
                                        </p:attrNameLst>
                                      </p:cBhvr>
                                      <p:to>
                                        <p:strVal val="visible"/>
                                      </p:to>
                                    </p:set>
                                    <p:anim calcmode="lin" valueType="num">
                                      <p:cBhvr additive="base">
                                        <p:cTn id="8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5" end="5"/>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5">
                                            <p:txEl>
                                              <p:pRg st="6" end="6"/>
                                            </p:txEl>
                                          </p:spTgt>
                                        </p:tgtEl>
                                        <p:attrNameLst>
                                          <p:attrName>style.visibility</p:attrName>
                                        </p:attrNameLst>
                                      </p:cBhvr>
                                      <p:to>
                                        <p:strVal val="visible"/>
                                      </p:to>
                                    </p:set>
                                    <p:anim calcmode="lin" valueType="num">
                                      <p:cBhvr additive="base">
                                        <p:cTn id="8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5">
                                            <p:txEl>
                                              <p:pRg st="6" end="6"/>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5">
                                            <p:txEl>
                                              <p:pRg st="7" end="7"/>
                                            </p:txEl>
                                          </p:spTgt>
                                        </p:tgtEl>
                                        <p:attrNameLst>
                                          <p:attrName>style.visibility</p:attrName>
                                        </p:attrNameLst>
                                      </p:cBhvr>
                                      <p:to>
                                        <p:strVal val="visible"/>
                                      </p:to>
                                    </p:set>
                                    <p:anim calcmode="lin" valueType="num">
                                      <p:cBhvr additive="base">
                                        <p:cTn id="9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5">
                                            <p:txEl>
                                              <p:pRg st="7" end="7"/>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5">
                                            <p:txEl>
                                              <p:pRg st="8" end="8"/>
                                            </p:txEl>
                                          </p:spTgt>
                                        </p:tgtEl>
                                        <p:attrNameLst>
                                          <p:attrName>style.visibility</p:attrName>
                                        </p:attrNameLst>
                                      </p:cBhvr>
                                      <p:to>
                                        <p:strVal val="visible"/>
                                      </p:to>
                                    </p:set>
                                    <p:anim calcmode="lin" valueType="num">
                                      <p:cBhvr additive="base">
                                        <p:cTn id="97"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2DF5519-5D65-C101-F5A6-6F4C8AFE5132}"/>
              </a:ext>
            </a:extLst>
          </p:cNvPr>
          <p:cNvSpPr txBox="1"/>
          <p:nvPr/>
        </p:nvSpPr>
        <p:spPr>
          <a:xfrm>
            <a:off x="162613" y="327283"/>
            <a:ext cx="11460636" cy="830997"/>
          </a:xfrm>
          <a:prstGeom prst="rect">
            <a:avLst/>
          </a:prstGeom>
          <a:noFill/>
        </p:spPr>
        <p:txBody>
          <a:bodyPr wrap="square">
            <a:spAutoFit/>
          </a:bodyPr>
          <a:lstStyle/>
          <a:p>
            <a:r>
              <a:rPr lang="en-US" sz="2400" dirty="0"/>
              <a:t>A bag contains 6 red balls and 4 yellow balls. Three balls are picked at random. Find the probability that </a:t>
            </a:r>
            <a:r>
              <a:rPr lang="en-US" sz="2400" b="1" dirty="0">
                <a:solidFill>
                  <a:srgbClr val="FF0000"/>
                </a:solidFill>
              </a:rPr>
              <a:t>at most </a:t>
            </a:r>
            <a:r>
              <a:rPr lang="en-US" sz="2400" b="1" dirty="0"/>
              <a:t>2 are red</a:t>
            </a:r>
            <a:r>
              <a:rPr lang="en-US" sz="2400" dirty="0"/>
              <a:t>.</a:t>
            </a:r>
            <a:endParaRPr lang="en-IN" sz="2400" dirty="0"/>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D9AAD63-B707-2675-9528-806ABFC4D5BA}"/>
                  </a:ext>
                </a:extLst>
              </p:cNvPr>
              <p:cNvSpPr txBox="1"/>
              <p:nvPr/>
            </p:nvSpPr>
            <p:spPr>
              <a:xfrm>
                <a:off x="285160" y="1732217"/>
                <a:ext cx="7831317" cy="3293209"/>
              </a:xfrm>
              <a:prstGeom prst="rect">
                <a:avLst/>
              </a:prstGeom>
              <a:noFill/>
            </p:spPr>
            <p:txBody>
              <a:bodyPr wrap="square">
                <a:spAutoFit/>
              </a:bodyPr>
              <a:lstStyle/>
              <a:p>
                <a:pPr>
                  <a:buNone/>
                </a:pPr>
                <a:r>
                  <a:rPr lang="en-IN" b="1" dirty="0"/>
                  <a:t>Step 1: Identify possible cases</a:t>
                </a:r>
              </a:p>
              <a:p>
                <a:pPr>
                  <a:buNone/>
                </a:pPr>
                <a:r>
                  <a:rPr lang="en-IN" sz="3200" dirty="0">
                    <a:solidFill>
                      <a:srgbClr val="FF0000"/>
                    </a:solidFill>
                  </a:rPr>
                  <a:t>“At most 2 red” means: </a:t>
                </a:r>
                <a:r>
                  <a:rPr lang="en-IN" sz="3200" b="1" dirty="0">
                    <a:solidFill>
                      <a:srgbClr val="FF0000"/>
                    </a:solidFill>
                  </a:rPr>
                  <a:t>0 red, 1 red, or 2 red</a:t>
                </a:r>
                <a:r>
                  <a:rPr lang="en-IN" sz="3200" dirty="0">
                    <a:solidFill>
                      <a:srgbClr val="FF0000"/>
                    </a:solidFill>
                  </a:rPr>
                  <a:t>.</a:t>
                </a:r>
              </a:p>
              <a:p>
                <a:pPr>
                  <a:buNone/>
                </a:pPr>
                <a:r>
                  <a:rPr lang="en-IN" dirty="0"/>
                  <a:t>So, we calculate:</a:t>
                </a:r>
              </a:p>
              <a:p>
                <a:pPr>
                  <a:buNone/>
                </a:pPr>
                <a14:m>
                  <m:oMathPara xmlns:m="http://schemas.openxmlformats.org/officeDocument/2006/math">
                    <m:oMathParaPr>
                      <m:jc m:val="centerGroup"/>
                    </m:oMathParaPr>
                    <m:oMath xmlns:m="http://schemas.openxmlformats.org/officeDocument/2006/math">
                      <m:r>
                        <m:rPr>
                          <m:nor/>
                        </m:rPr>
                        <a:rPr lang="en-IN" b="0"/>
                        <m:t>P</m:t>
                      </m:r>
                      <m:r>
                        <m:rPr>
                          <m:nor/>
                        </m:rPr>
                        <a:rPr lang="en-IN" b="0"/>
                        <m:t>(</m:t>
                      </m:r>
                      <m:r>
                        <m:rPr>
                          <m:nor/>
                        </m:rPr>
                        <a:rPr lang="en-IN" b="0"/>
                        <m:t>at</m:t>
                      </m:r>
                      <m:r>
                        <m:rPr>
                          <m:nor/>
                        </m:rPr>
                        <a:rPr lang="en-IN" b="0" i="1"/>
                        <m:t> </m:t>
                      </m:r>
                      <m:r>
                        <m:rPr>
                          <m:nor/>
                        </m:rPr>
                        <a:rPr lang="en-IN" b="0" i="1"/>
                        <m:t>most</m:t>
                      </m:r>
                      <m:r>
                        <m:rPr>
                          <m:nor/>
                        </m:rPr>
                        <a:rPr lang="en-IN" b="0" i="1"/>
                        <m:t> </m:t>
                      </m:r>
                      <m:r>
                        <m:rPr>
                          <m:nor/>
                        </m:rPr>
                        <a:rPr lang="en-IN" b="0" i="1"/>
                        <m:t>2 </m:t>
                      </m:r>
                      <m:r>
                        <m:rPr>
                          <m:nor/>
                        </m:rPr>
                        <a:rPr lang="en-IN" b="0" i="1"/>
                        <m:t>red</m:t>
                      </m:r>
                      <m:r>
                        <m:rPr>
                          <m:nor/>
                        </m:rPr>
                        <a:rPr lang="en-IN" b="0" i="1"/>
                        <m:t>)</m:t>
                      </m:r>
                      <m:r>
                        <a:rPr lang="en-IN" b="0" i="0">
                          <a:latin typeface="Cambria Math" panose="02040503050406030204" pitchFamily="18" charset="0"/>
                        </a:rPr>
                        <m:t>=</m:t>
                      </m:r>
                      <m:f>
                        <m:fPr>
                          <m:ctrlPr>
                            <a:rPr lang="ar-AE" b="0" i="1">
                              <a:latin typeface="Cambria Math" panose="02040503050406030204" pitchFamily="18" charset="0"/>
                            </a:rPr>
                          </m:ctrlPr>
                        </m:fPr>
                        <m:num>
                          <m:r>
                            <m:rPr>
                              <m:nor/>
                            </m:rPr>
                            <a:rPr lang="en-IN" b="0" i="1">
                              <a:latin typeface="Cambria Math" panose="02040503050406030204" pitchFamily="18" charset="0"/>
                            </a:rPr>
                            <m:t>Favorable</m:t>
                          </m:r>
                          <m:r>
                            <m:rPr>
                              <m:nor/>
                            </m:rPr>
                            <a:rPr lang="en-IN" b="0" i="1">
                              <a:latin typeface="Cambria Math" panose="02040503050406030204" pitchFamily="18" charset="0"/>
                            </a:rPr>
                            <m:t> </m:t>
                          </m:r>
                          <m:r>
                            <m:rPr>
                              <m:nor/>
                            </m:rPr>
                            <a:rPr lang="en-IN" b="0" i="1">
                              <a:latin typeface="Cambria Math" panose="02040503050406030204" pitchFamily="18" charset="0"/>
                            </a:rPr>
                            <m:t>outcomes</m:t>
                          </m:r>
                        </m:num>
                        <m:den>
                          <m:r>
                            <m:rPr>
                              <m:nor/>
                            </m:rPr>
                            <a:rPr lang="en-IN" b="0" i="1">
                              <a:latin typeface="Cambria Math" panose="02040503050406030204" pitchFamily="18" charset="0"/>
                            </a:rPr>
                            <m:t>Total</m:t>
                          </m:r>
                          <m:r>
                            <m:rPr>
                              <m:nor/>
                            </m:rPr>
                            <a:rPr lang="en-IN" b="0" i="1">
                              <a:latin typeface="Cambria Math" panose="02040503050406030204" pitchFamily="18" charset="0"/>
                            </a:rPr>
                            <m:t> </m:t>
                          </m:r>
                          <m:r>
                            <m:rPr>
                              <m:nor/>
                            </m:rPr>
                            <a:rPr lang="en-IN" b="0" i="1">
                              <a:latin typeface="Cambria Math" panose="02040503050406030204" pitchFamily="18" charset="0"/>
                            </a:rPr>
                            <m:t>outcomes</m:t>
                          </m:r>
                        </m:den>
                      </m:f>
                    </m:oMath>
                  </m:oMathPara>
                </a14:m>
                <a:endParaRPr lang="ar-AE" b="0" dirty="0"/>
              </a:p>
              <a:p>
                <a:pPr>
                  <a:buNone/>
                </a:pPr>
                <a:br>
                  <a:rPr lang="ar-AE" dirty="0"/>
                </a:br>
                <a:endParaRPr lang="ar-AE" dirty="0"/>
              </a:p>
              <a:p>
                <a:pPr>
                  <a:buNone/>
                </a:pPr>
                <a:r>
                  <a:rPr lang="en-IN" b="1" dirty="0"/>
                  <a:t>Step 2: Total outcomes</a:t>
                </a:r>
              </a:p>
              <a:p>
                <a:pPr>
                  <a:buNone/>
                </a:pPr>
                <a:r>
                  <a:rPr lang="en-IN" dirty="0"/>
                  <a:t>Total ways to pick 3 balls from 10:</a:t>
                </a: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10</m:t>
                      </m:r>
                      <m:r>
                        <a:rPr lang="en-IN" i="1">
                          <a:latin typeface="Cambria Math" panose="02040503050406030204" pitchFamily="18" charset="0"/>
                        </a:rPr>
                        <m:t>𝐶</m:t>
                      </m:r>
                      <m:r>
                        <a:rPr lang="en-IN" i="0">
                          <a:latin typeface="Cambria Math" panose="02040503050406030204" pitchFamily="18" charset="0"/>
                        </a:rPr>
                        <m:t>3</m:t>
                      </m:r>
                      <m:r>
                        <a:rPr lang="en-IN"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10</m:t>
                          </m:r>
                          <m:r>
                            <a:rPr lang="ar-AE" i="0">
                              <a:latin typeface="Cambria Math" panose="02040503050406030204" pitchFamily="18" charset="0"/>
                            </a:rPr>
                            <m:t>×</m:t>
                          </m:r>
                          <m:r>
                            <a:rPr lang="ar-AE" i="0">
                              <a:latin typeface="Cambria Math" panose="02040503050406030204" pitchFamily="18" charset="0"/>
                            </a:rPr>
                            <m:t>9</m:t>
                          </m:r>
                          <m:r>
                            <a:rPr lang="ar-AE" i="0">
                              <a:latin typeface="Cambria Math" panose="02040503050406030204" pitchFamily="18" charset="0"/>
                            </a:rPr>
                            <m:t>×</m:t>
                          </m:r>
                          <m:r>
                            <a:rPr lang="ar-AE" i="0">
                              <a:latin typeface="Cambria Math" panose="02040503050406030204" pitchFamily="18" charset="0"/>
                            </a:rPr>
                            <m:t>8</m:t>
                          </m:r>
                        </m:num>
                        <m:den>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den>
                      </m:f>
                      <m:r>
                        <a:rPr lang="ar-AE" i="0">
                          <a:latin typeface="Cambria Math" panose="02040503050406030204" pitchFamily="18" charset="0"/>
                        </a:rPr>
                        <m:t>=</m:t>
                      </m:r>
                      <m:r>
                        <a:rPr lang="ar-AE" i="0">
                          <a:latin typeface="Cambria Math" panose="02040503050406030204" pitchFamily="18" charset="0"/>
                        </a:rPr>
                        <m:t>120</m:t>
                      </m:r>
                    </m:oMath>
                  </m:oMathPara>
                </a14:m>
                <a:endParaRPr lang="ar-AE" dirty="0"/>
              </a:p>
            </p:txBody>
          </p:sp>
        </mc:Choice>
        <mc:Fallback>
          <p:sp>
            <p:nvSpPr>
              <p:cNvPr id="9" name="TextBox 8">
                <a:extLst>
                  <a:ext uri="{FF2B5EF4-FFF2-40B4-BE49-F238E27FC236}">
                    <a16:creationId xmlns:a16="http://schemas.microsoft.com/office/drawing/2014/main" id="{CD9AAD63-B707-2675-9528-806ABFC4D5BA}"/>
                  </a:ext>
                </a:extLst>
              </p:cNvPr>
              <p:cNvSpPr txBox="1">
                <a:spLocks noRot="1" noChangeAspect="1" noMove="1" noResize="1" noEditPoints="1" noAdjustHandles="1" noChangeArrowheads="1" noChangeShapeType="1" noTextEdit="1"/>
              </p:cNvSpPr>
              <p:nvPr/>
            </p:nvSpPr>
            <p:spPr>
              <a:xfrm>
                <a:off x="285160" y="1732217"/>
                <a:ext cx="7831317" cy="3293209"/>
              </a:xfrm>
              <a:prstGeom prst="rect">
                <a:avLst/>
              </a:prstGeom>
              <a:blipFill>
                <a:blip r:embed="rId2"/>
                <a:stretch>
                  <a:fillRect l="-2025" t="-926"/>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876A81C-2BF1-DBCF-6326-BF81768626BB}"/>
                  </a:ext>
                </a:extLst>
              </p:cNvPr>
              <p:cNvSpPr txBox="1"/>
              <p:nvPr/>
            </p:nvSpPr>
            <p:spPr>
              <a:xfrm>
                <a:off x="6808509" y="2588419"/>
                <a:ext cx="6094428" cy="3942298"/>
              </a:xfrm>
              <a:prstGeom prst="rect">
                <a:avLst/>
              </a:prstGeom>
              <a:noFill/>
            </p:spPr>
            <p:txBody>
              <a:bodyPr wrap="square">
                <a:spAutoFit/>
              </a:bodyPr>
              <a:lstStyle/>
              <a:p>
                <a:pPr>
                  <a:buNone/>
                </a:pPr>
                <a:r>
                  <a:rPr lang="en-IN" b="1" dirty="0"/>
                  <a:t>Step 3: </a:t>
                </a:r>
                <a:r>
                  <a:rPr lang="en-IN" b="1" dirty="0" err="1"/>
                  <a:t>Favorable</a:t>
                </a:r>
                <a:r>
                  <a:rPr lang="en-IN" b="1" dirty="0"/>
                  <a:t> outcomes</a:t>
                </a:r>
              </a:p>
              <a:p>
                <a:pPr>
                  <a:buFont typeface="+mj-lt"/>
                  <a:buAutoNum type="arabicPeriod"/>
                </a:pPr>
                <a:r>
                  <a:rPr lang="en-IN" b="1" dirty="0"/>
                  <a:t>2 red + 1 yellow:</a:t>
                </a:r>
                <a:endParaRPr lang="en-IN" dirty="0"/>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6</m:t>
                      </m:r>
                      <m:r>
                        <a:rPr lang="en-IN" i="1">
                          <a:latin typeface="Cambria Math" panose="02040503050406030204" pitchFamily="18" charset="0"/>
                        </a:rPr>
                        <m:t>𝐶</m:t>
                      </m:r>
                      <m:r>
                        <a:rPr lang="en-IN" i="0">
                          <a:latin typeface="Cambria Math" panose="02040503050406030204" pitchFamily="18" charset="0"/>
                        </a:rPr>
                        <m:t>2</m:t>
                      </m:r>
                      <m:r>
                        <a:rPr lang="en-IN" i="0">
                          <a:latin typeface="Cambria Math" panose="02040503050406030204" pitchFamily="18" charset="0"/>
                        </a:rPr>
                        <m:t>×</m:t>
                      </m:r>
                      <m:r>
                        <a:rPr lang="en-IN" i="0">
                          <a:latin typeface="Cambria Math" panose="02040503050406030204" pitchFamily="18" charset="0"/>
                        </a:rPr>
                        <m:t>4</m:t>
                      </m:r>
                      <m:r>
                        <a:rPr lang="en-IN" i="1">
                          <a:latin typeface="Cambria Math" panose="02040503050406030204" pitchFamily="18" charset="0"/>
                        </a:rPr>
                        <m:t>𝐶</m:t>
                      </m:r>
                      <m:r>
                        <a:rPr lang="en-IN" i="0">
                          <a:latin typeface="Cambria Math" panose="02040503050406030204" pitchFamily="18" charset="0"/>
                        </a:rPr>
                        <m:t>1</m:t>
                      </m:r>
                      <m:r>
                        <a:rPr lang="en-IN" i="0">
                          <a:latin typeface="Cambria Math" panose="02040503050406030204" pitchFamily="18" charset="0"/>
                        </a:rPr>
                        <m:t>=</m:t>
                      </m:r>
                      <m:r>
                        <a:rPr lang="en-IN" i="0">
                          <a:latin typeface="Cambria Math" panose="02040503050406030204" pitchFamily="18" charset="0"/>
                        </a:rPr>
                        <m:t>15</m:t>
                      </m:r>
                      <m:r>
                        <a:rPr lang="en-IN" i="0">
                          <a:latin typeface="Cambria Math" panose="02040503050406030204" pitchFamily="18" charset="0"/>
                        </a:rPr>
                        <m:t>×</m:t>
                      </m:r>
                      <m:r>
                        <a:rPr lang="en-IN" i="0">
                          <a:latin typeface="Cambria Math" panose="02040503050406030204" pitchFamily="18" charset="0"/>
                        </a:rPr>
                        <m:t>4</m:t>
                      </m:r>
                      <m:r>
                        <a:rPr lang="en-IN" i="0">
                          <a:latin typeface="Cambria Math" panose="02040503050406030204" pitchFamily="18" charset="0"/>
                        </a:rPr>
                        <m:t>=</m:t>
                      </m:r>
                      <m:r>
                        <a:rPr lang="en-IN" i="0">
                          <a:latin typeface="Cambria Math" panose="02040503050406030204" pitchFamily="18" charset="0"/>
                        </a:rPr>
                        <m:t>60</m:t>
                      </m:r>
                    </m:oMath>
                  </m:oMathPara>
                </a14:m>
                <a:endParaRPr lang="en-IN" dirty="0"/>
              </a:p>
              <a:p>
                <a:pPr>
                  <a:buFont typeface="+mj-lt"/>
                  <a:buAutoNum type="arabicPeriod" startAt="2"/>
                </a:pPr>
                <a:r>
                  <a:rPr lang="en-IN" b="1" dirty="0"/>
                  <a:t>1 red + 2 yellow:</a:t>
                </a:r>
                <a:endParaRPr lang="en-IN" dirty="0"/>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6</m:t>
                      </m:r>
                      <m:r>
                        <a:rPr lang="en-IN" i="1">
                          <a:latin typeface="Cambria Math" panose="02040503050406030204" pitchFamily="18" charset="0"/>
                        </a:rPr>
                        <m:t>𝐶</m:t>
                      </m:r>
                      <m:r>
                        <a:rPr lang="en-IN" i="0">
                          <a:latin typeface="Cambria Math" panose="02040503050406030204" pitchFamily="18" charset="0"/>
                        </a:rPr>
                        <m:t>1</m:t>
                      </m:r>
                      <m:r>
                        <a:rPr lang="en-IN" i="0">
                          <a:latin typeface="Cambria Math" panose="02040503050406030204" pitchFamily="18" charset="0"/>
                        </a:rPr>
                        <m:t>×</m:t>
                      </m:r>
                      <m:r>
                        <a:rPr lang="en-IN" i="0">
                          <a:latin typeface="Cambria Math" panose="02040503050406030204" pitchFamily="18" charset="0"/>
                        </a:rPr>
                        <m:t>4</m:t>
                      </m:r>
                      <m:r>
                        <a:rPr lang="en-IN" i="1">
                          <a:latin typeface="Cambria Math" panose="02040503050406030204" pitchFamily="18" charset="0"/>
                        </a:rPr>
                        <m:t>𝐶</m:t>
                      </m:r>
                      <m:r>
                        <a:rPr lang="en-IN" i="0">
                          <a:latin typeface="Cambria Math" panose="02040503050406030204" pitchFamily="18" charset="0"/>
                        </a:rPr>
                        <m:t>2</m:t>
                      </m:r>
                      <m:r>
                        <a:rPr lang="en-IN" i="0">
                          <a:latin typeface="Cambria Math" panose="02040503050406030204" pitchFamily="18" charset="0"/>
                        </a:rPr>
                        <m:t>=</m:t>
                      </m:r>
                      <m:r>
                        <a:rPr lang="en-IN" i="0">
                          <a:latin typeface="Cambria Math" panose="02040503050406030204" pitchFamily="18" charset="0"/>
                        </a:rPr>
                        <m:t>6</m:t>
                      </m:r>
                      <m:r>
                        <a:rPr lang="en-IN" i="0">
                          <a:latin typeface="Cambria Math" panose="02040503050406030204" pitchFamily="18" charset="0"/>
                        </a:rPr>
                        <m:t>×</m:t>
                      </m:r>
                      <m:r>
                        <a:rPr lang="en-IN" i="0">
                          <a:latin typeface="Cambria Math" panose="02040503050406030204" pitchFamily="18" charset="0"/>
                        </a:rPr>
                        <m:t>6</m:t>
                      </m:r>
                      <m:r>
                        <a:rPr lang="en-IN" i="0">
                          <a:latin typeface="Cambria Math" panose="02040503050406030204" pitchFamily="18" charset="0"/>
                        </a:rPr>
                        <m:t>=</m:t>
                      </m:r>
                      <m:r>
                        <a:rPr lang="en-IN" i="0">
                          <a:latin typeface="Cambria Math" panose="02040503050406030204" pitchFamily="18" charset="0"/>
                        </a:rPr>
                        <m:t>36</m:t>
                      </m:r>
                    </m:oMath>
                  </m:oMathPara>
                </a14:m>
                <a:endParaRPr lang="en-IN" dirty="0"/>
              </a:p>
              <a:p>
                <a:pPr>
                  <a:buFont typeface="+mj-lt"/>
                  <a:buAutoNum type="arabicPeriod" startAt="3"/>
                </a:pPr>
                <a:r>
                  <a:rPr lang="en-IN" b="1" dirty="0"/>
                  <a:t>0 red + 3 yellow:</a:t>
                </a:r>
                <a:endParaRPr lang="en-IN" dirty="0"/>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4</m:t>
                      </m:r>
                      <m:r>
                        <a:rPr lang="en-IN" i="1">
                          <a:latin typeface="Cambria Math" panose="02040503050406030204" pitchFamily="18" charset="0"/>
                        </a:rPr>
                        <m:t>𝐶</m:t>
                      </m:r>
                      <m:r>
                        <a:rPr lang="en-IN" i="0">
                          <a:latin typeface="Cambria Math" panose="02040503050406030204" pitchFamily="18" charset="0"/>
                        </a:rPr>
                        <m:t>3</m:t>
                      </m:r>
                      <m:r>
                        <a:rPr lang="en-IN" i="0">
                          <a:latin typeface="Cambria Math" panose="02040503050406030204" pitchFamily="18" charset="0"/>
                        </a:rPr>
                        <m:t>=</m:t>
                      </m:r>
                      <m:r>
                        <a:rPr lang="en-IN" i="0">
                          <a:latin typeface="Cambria Math" panose="02040503050406030204" pitchFamily="18" charset="0"/>
                        </a:rPr>
                        <m:t>4</m:t>
                      </m:r>
                    </m:oMath>
                  </m:oMathPara>
                </a14:m>
                <a:endParaRPr lang="en-IN" dirty="0"/>
              </a:p>
              <a:p>
                <a:pPr>
                  <a:buNone/>
                </a:pPr>
                <a:r>
                  <a:rPr lang="en-IN" b="1" dirty="0"/>
                  <a:t>Total </a:t>
                </a:r>
                <a:r>
                  <a:rPr lang="en-IN" b="1" dirty="0" err="1"/>
                  <a:t>favorable</a:t>
                </a:r>
                <a:r>
                  <a:rPr lang="en-IN" b="1" dirty="0"/>
                  <a:t> outcomes:</a:t>
                </a:r>
                <a:endParaRPr lang="en-IN" dirty="0"/>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60</m:t>
                      </m:r>
                      <m:r>
                        <a:rPr lang="en-IN" i="0">
                          <a:latin typeface="Cambria Math" panose="02040503050406030204" pitchFamily="18" charset="0"/>
                        </a:rPr>
                        <m:t>+</m:t>
                      </m:r>
                      <m:r>
                        <a:rPr lang="en-IN" i="0">
                          <a:latin typeface="Cambria Math" panose="02040503050406030204" pitchFamily="18" charset="0"/>
                        </a:rPr>
                        <m:t>36</m:t>
                      </m:r>
                      <m:r>
                        <a:rPr lang="en-IN" i="0">
                          <a:latin typeface="Cambria Math" panose="02040503050406030204" pitchFamily="18" charset="0"/>
                        </a:rPr>
                        <m:t>+</m:t>
                      </m:r>
                      <m:r>
                        <a:rPr lang="en-IN" i="0">
                          <a:latin typeface="Cambria Math" panose="02040503050406030204" pitchFamily="18" charset="0"/>
                        </a:rPr>
                        <m:t>4</m:t>
                      </m:r>
                      <m:r>
                        <a:rPr lang="en-IN" i="0">
                          <a:latin typeface="Cambria Math" panose="02040503050406030204" pitchFamily="18" charset="0"/>
                        </a:rPr>
                        <m:t>=</m:t>
                      </m:r>
                      <m:r>
                        <a:rPr lang="en-IN" i="0">
                          <a:latin typeface="Cambria Math" panose="02040503050406030204" pitchFamily="18" charset="0"/>
                        </a:rPr>
                        <m:t>100</m:t>
                      </m:r>
                    </m:oMath>
                  </m:oMathPara>
                </a14:m>
                <a:endParaRPr lang="en-IN" dirty="0"/>
              </a:p>
              <a:p>
                <a:pPr>
                  <a:buNone/>
                </a:pPr>
                <a:br>
                  <a:rPr lang="en-IN" dirty="0"/>
                </a:br>
                <a:endParaRPr lang="en-IN" dirty="0"/>
              </a:p>
              <a:p>
                <a:pPr>
                  <a:buNone/>
                </a:pPr>
                <a:r>
                  <a:rPr lang="en-IN" b="1" dirty="0"/>
                  <a:t>Step 4: Probability</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at</m:t>
                          </m:r>
                          <m:r>
                            <m:rPr>
                              <m:nor/>
                            </m:rPr>
                            <a:rPr lang="en-IN" b="0" i="1">
                              <a:latin typeface="Cambria Math" panose="02040503050406030204" pitchFamily="18" charset="0"/>
                            </a:rPr>
                            <m:t> </m:t>
                          </m:r>
                          <m:r>
                            <m:rPr>
                              <m:nor/>
                            </m:rPr>
                            <a:rPr lang="en-IN" b="0" i="1">
                              <a:latin typeface="Cambria Math" panose="02040503050406030204" pitchFamily="18" charset="0"/>
                            </a:rPr>
                            <m:t>most</m:t>
                          </m:r>
                          <m:r>
                            <m:rPr>
                              <m:nor/>
                            </m:rPr>
                            <a:rPr lang="en-IN" b="0" i="1">
                              <a:latin typeface="Cambria Math" panose="02040503050406030204" pitchFamily="18" charset="0"/>
                            </a:rPr>
                            <m:t> </m:t>
                          </m:r>
                          <m:r>
                            <m:rPr>
                              <m:nor/>
                            </m:rPr>
                            <a:rPr lang="en-IN" b="0" i="1">
                              <a:latin typeface="Cambria Math" panose="02040503050406030204" pitchFamily="18" charset="0"/>
                            </a:rPr>
                            <m:t>2 </m:t>
                          </m:r>
                          <m:r>
                            <m:rPr>
                              <m:nor/>
                            </m:rPr>
                            <a:rPr lang="en-IN" b="0" i="1">
                              <a:latin typeface="Cambria Math" panose="02040503050406030204" pitchFamily="18" charset="0"/>
                            </a:rPr>
                            <m:t>red</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100</m:t>
                          </m:r>
                        </m:num>
                        <m:den>
                          <m:r>
                            <a:rPr lang="ar-AE" b="0" i="0">
                              <a:latin typeface="Cambria Math" panose="02040503050406030204" pitchFamily="18" charset="0"/>
                            </a:rPr>
                            <m:t>120</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5</m:t>
                          </m:r>
                        </m:num>
                        <m:den>
                          <m:r>
                            <a:rPr lang="ar-AE" b="0" i="0">
                              <a:latin typeface="Cambria Math" panose="02040503050406030204" pitchFamily="18" charset="0"/>
                            </a:rPr>
                            <m:t>6</m:t>
                          </m:r>
                        </m:den>
                      </m:f>
                    </m:oMath>
                  </m:oMathPara>
                </a14:m>
                <a:endParaRPr lang="ar-AE" b="0" dirty="0"/>
              </a:p>
            </p:txBody>
          </p:sp>
        </mc:Choice>
        <mc:Fallback>
          <p:sp>
            <p:nvSpPr>
              <p:cNvPr id="13" name="TextBox 12">
                <a:extLst>
                  <a:ext uri="{FF2B5EF4-FFF2-40B4-BE49-F238E27FC236}">
                    <a16:creationId xmlns:a16="http://schemas.microsoft.com/office/drawing/2014/main" id="{A876A81C-2BF1-DBCF-6326-BF81768626BB}"/>
                  </a:ext>
                </a:extLst>
              </p:cNvPr>
              <p:cNvSpPr txBox="1">
                <a:spLocks noRot="1" noChangeAspect="1" noMove="1" noResize="1" noEditPoints="1" noAdjustHandles="1" noChangeArrowheads="1" noChangeShapeType="1" noTextEdit="1"/>
              </p:cNvSpPr>
              <p:nvPr/>
            </p:nvSpPr>
            <p:spPr>
              <a:xfrm>
                <a:off x="6808509" y="2588419"/>
                <a:ext cx="6094428" cy="3942298"/>
              </a:xfrm>
              <a:prstGeom prst="rect">
                <a:avLst/>
              </a:prstGeom>
              <a:blipFill>
                <a:blip r:embed="rId3"/>
                <a:stretch>
                  <a:fillRect l="-900" t="-929"/>
                </a:stretch>
              </a:blipFill>
            </p:spPr>
            <p:txBody>
              <a:bodyPr/>
              <a:lstStyle/>
              <a:p>
                <a:r>
                  <a:rPr lang="en-IN">
                    <a:noFill/>
                  </a:rPr>
                  <a:t> </a:t>
                </a:r>
              </a:p>
            </p:txBody>
          </p:sp>
        </mc:Fallback>
      </mc:AlternateContent>
    </p:spTree>
    <p:extLst>
      <p:ext uri="{BB962C8B-B14F-4D97-AF65-F5344CB8AC3E}">
        <p14:creationId xmlns:p14="http://schemas.microsoft.com/office/powerpoint/2010/main" val="314283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 calcmode="lin" valueType="num">
                                      <p:cBhvr additive="base">
                                        <p:cTn id="2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 calcmode="lin" valueType="num">
                                      <p:cBhvr additive="base">
                                        <p:cTn id="31"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anim calcmode="lin" valueType="num">
                                      <p:cBhvr additive="base">
                                        <p:cTn id="3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3">
                                            <p:txEl>
                                              <p:pRg st="0" end="0"/>
                                            </p:txEl>
                                          </p:spTgt>
                                        </p:tgtEl>
                                        <p:attrNameLst>
                                          <p:attrName>style.visibility</p:attrName>
                                        </p:attrNameLst>
                                      </p:cBhvr>
                                      <p:to>
                                        <p:strVal val="visible"/>
                                      </p:to>
                                    </p:set>
                                    <p:anim calcmode="lin" valueType="num">
                                      <p:cBhvr additive="base">
                                        <p:cTn id="41"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3">
                                            <p:txEl>
                                              <p:pRg st="1" end="1"/>
                                            </p:txEl>
                                          </p:spTgt>
                                        </p:tgtEl>
                                        <p:attrNameLst>
                                          <p:attrName>style.visibility</p:attrName>
                                        </p:attrNameLst>
                                      </p:cBhvr>
                                      <p:to>
                                        <p:strVal val="visible"/>
                                      </p:to>
                                    </p:set>
                                    <p:anim calcmode="lin" valueType="num">
                                      <p:cBhvr additive="base">
                                        <p:cTn id="45"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3">
                                            <p:txEl>
                                              <p:pRg st="2" end="2"/>
                                            </p:txEl>
                                          </p:spTgt>
                                        </p:tgtEl>
                                        <p:attrNameLst>
                                          <p:attrName>style.visibility</p:attrName>
                                        </p:attrNameLst>
                                      </p:cBhvr>
                                      <p:to>
                                        <p:strVal val="visible"/>
                                      </p:to>
                                    </p:set>
                                    <p:anim calcmode="lin" valueType="num">
                                      <p:cBhvr additive="base">
                                        <p:cTn id="4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3">
                                            <p:txEl>
                                              <p:pRg st="3" end="3"/>
                                            </p:txEl>
                                          </p:spTgt>
                                        </p:tgtEl>
                                        <p:attrNameLst>
                                          <p:attrName>style.visibility</p:attrName>
                                        </p:attrNameLst>
                                      </p:cBhvr>
                                      <p:to>
                                        <p:strVal val="visible"/>
                                      </p:to>
                                    </p:set>
                                    <p:anim calcmode="lin" valueType="num">
                                      <p:cBhvr additive="base">
                                        <p:cTn id="53"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3">
                                            <p:txEl>
                                              <p:pRg st="4" end="4"/>
                                            </p:txEl>
                                          </p:spTgt>
                                        </p:tgtEl>
                                        <p:attrNameLst>
                                          <p:attrName>style.visibility</p:attrName>
                                        </p:attrNameLst>
                                      </p:cBhvr>
                                      <p:to>
                                        <p:strVal val="visible"/>
                                      </p:to>
                                    </p:set>
                                    <p:anim calcmode="lin" valueType="num">
                                      <p:cBhvr additive="base">
                                        <p:cTn id="57"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3">
                                            <p:txEl>
                                              <p:pRg st="4" end="4"/>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3">
                                            <p:txEl>
                                              <p:pRg st="5" end="5"/>
                                            </p:txEl>
                                          </p:spTgt>
                                        </p:tgtEl>
                                        <p:attrNameLst>
                                          <p:attrName>style.visibility</p:attrName>
                                        </p:attrNameLst>
                                      </p:cBhvr>
                                      <p:to>
                                        <p:strVal val="visible"/>
                                      </p:to>
                                    </p:set>
                                    <p:anim calcmode="lin" valueType="num">
                                      <p:cBhvr additive="base">
                                        <p:cTn id="61" dur="500" fill="hold"/>
                                        <p:tgtEl>
                                          <p:spTgt spid="13">
                                            <p:txEl>
                                              <p:pRg st="5" end="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3">
                                            <p:txEl>
                                              <p:pRg st="5" end="5"/>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3">
                                            <p:txEl>
                                              <p:pRg st="6" end="6"/>
                                            </p:txEl>
                                          </p:spTgt>
                                        </p:tgtEl>
                                        <p:attrNameLst>
                                          <p:attrName>style.visibility</p:attrName>
                                        </p:attrNameLst>
                                      </p:cBhvr>
                                      <p:to>
                                        <p:strVal val="visible"/>
                                      </p:to>
                                    </p:set>
                                    <p:anim calcmode="lin" valueType="num">
                                      <p:cBhvr additive="base">
                                        <p:cTn id="65" dur="500" fill="hold"/>
                                        <p:tgtEl>
                                          <p:spTgt spid="13">
                                            <p:txEl>
                                              <p:pRg st="6" end="6"/>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3">
                                            <p:txEl>
                                              <p:pRg st="6" end="6"/>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3">
                                            <p:txEl>
                                              <p:pRg st="7" end="7"/>
                                            </p:txEl>
                                          </p:spTgt>
                                        </p:tgtEl>
                                        <p:attrNameLst>
                                          <p:attrName>style.visibility</p:attrName>
                                        </p:attrNameLst>
                                      </p:cBhvr>
                                      <p:to>
                                        <p:strVal val="visible"/>
                                      </p:to>
                                    </p:set>
                                    <p:anim calcmode="lin" valueType="num">
                                      <p:cBhvr additive="base">
                                        <p:cTn id="69" dur="500" fill="hold"/>
                                        <p:tgtEl>
                                          <p:spTgt spid="13">
                                            <p:txEl>
                                              <p:pRg st="7" end="7"/>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3">
                                            <p:txEl>
                                              <p:pRg st="7" end="7"/>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3">
                                            <p:txEl>
                                              <p:pRg st="8" end="8"/>
                                            </p:txEl>
                                          </p:spTgt>
                                        </p:tgtEl>
                                        <p:attrNameLst>
                                          <p:attrName>style.visibility</p:attrName>
                                        </p:attrNameLst>
                                      </p:cBhvr>
                                      <p:to>
                                        <p:strVal val="visible"/>
                                      </p:to>
                                    </p:set>
                                    <p:anim calcmode="lin" valueType="num">
                                      <p:cBhvr additive="base">
                                        <p:cTn id="73" dur="500" fill="hold"/>
                                        <p:tgtEl>
                                          <p:spTgt spid="13">
                                            <p:txEl>
                                              <p:pRg st="8" end="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3">
                                            <p:txEl>
                                              <p:pRg st="8" end="8"/>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3">
                                            <p:txEl>
                                              <p:pRg st="9" end="9"/>
                                            </p:txEl>
                                          </p:spTgt>
                                        </p:tgtEl>
                                        <p:attrNameLst>
                                          <p:attrName>style.visibility</p:attrName>
                                        </p:attrNameLst>
                                      </p:cBhvr>
                                      <p:to>
                                        <p:strVal val="visible"/>
                                      </p:to>
                                    </p:set>
                                    <p:anim calcmode="lin" valueType="num">
                                      <p:cBhvr additive="base">
                                        <p:cTn id="77" dur="500" fill="hold"/>
                                        <p:tgtEl>
                                          <p:spTgt spid="13">
                                            <p:txEl>
                                              <p:pRg st="9" end="9"/>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3">
                                            <p:txEl>
                                              <p:pRg st="9" end="9"/>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3">
                                            <p:txEl>
                                              <p:pRg st="10" end="10"/>
                                            </p:txEl>
                                          </p:spTgt>
                                        </p:tgtEl>
                                        <p:attrNameLst>
                                          <p:attrName>style.visibility</p:attrName>
                                        </p:attrNameLst>
                                      </p:cBhvr>
                                      <p:to>
                                        <p:strVal val="visible"/>
                                      </p:to>
                                    </p:set>
                                    <p:anim calcmode="lin" valueType="num">
                                      <p:cBhvr additive="base">
                                        <p:cTn id="81" dur="500" fill="hold"/>
                                        <p:tgtEl>
                                          <p:spTgt spid="13">
                                            <p:txEl>
                                              <p:pRg st="10" end="10"/>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3">
                                            <p:txEl>
                                              <p:pRg st="10" end="10"/>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3">
                                            <p:txEl>
                                              <p:pRg st="11" end="11"/>
                                            </p:txEl>
                                          </p:spTgt>
                                        </p:tgtEl>
                                        <p:attrNameLst>
                                          <p:attrName>style.visibility</p:attrName>
                                        </p:attrNameLst>
                                      </p:cBhvr>
                                      <p:to>
                                        <p:strVal val="visible"/>
                                      </p:to>
                                    </p:set>
                                    <p:anim calcmode="lin" valueType="num">
                                      <p:cBhvr additive="base">
                                        <p:cTn id="85" dur="500" fill="hold"/>
                                        <p:tgtEl>
                                          <p:spTgt spid="13">
                                            <p:txEl>
                                              <p:pRg st="11" end="11"/>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7E3AFE-2D9D-7220-67DE-0EAB496385AC}"/>
              </a:ext>
            </a:extLst>
          </p:cNvPr>
          <p:cNvSpPr txBox="1"/>
          <p:nvPr/>
        </p:nvSpPr>
        <p:spPr>
          <a:xfrm>
            <a:off x="351148" y="254772"/>
            <a:ext cx="11564331" cy="954107"/>
          </a:xfrm>
          <a:prstGeom prst="rect">
            <a:avLst/>
          </a:prstGeom>
          <a:noFill/>
        </p:spPr>
        <p:txBody>
          <a:bodyPr wrap="square">
            <a:spAutoFit/>
          </a:bodyPr>
          <a:lstStyle/>
          <a:p>
            <a:r>
              <a:rPr lang="en-US" sz="2800" dirty="0"/>
              <a:t>A bag contains 6 Red balls, 4 Yellow balls and 2 Green Balls. Four balls are picked at random. What is the probability </a:t>
            </a:r>
            <a:r>
              <a:rPr lang="en-US" sz="2800" b="1" dirty="0"/>
              <a:t>two are red</a:t>
            </a:r>
            <a:r>
              <a:rPr lang="en-US" sz="2800" dirty="0"/>
              <a:t>?</a:t>
            </a:r>
            <a:endParaRPr lang="en-IN" sz="2800"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9BABB08-A449-E258-402E-18F35DAB77F9}"/>
                  </a:ext>
                </a:extLst>
              </p:cNvPr>
              <p:cNvSpPr txBox="1"/>
              <p:nvPr/>
            </p:nvSpPr>
            <p:spPr>
              <a:xfrm>
                <a:off x="473698" y="1526729"/>
                <a:ext cx="6094428" cy="4746043"/>
              </a:xfrm>
              <a:prstGeom prst="rect">
                <a:avLst/>
              </a:prstGeom>
              <a:noFill/>
            </p:spPr>
            <p:txBody>
              <a:bodyPr wrap="square">
                <a:spAutoFit/>
              </a:bodyPr>
              <a:lstStyle/>
              <a:p>
                <a:pPr>
                  <a:buNone/>
                </a:pPr>
                <a:r>
                  <a:rPr lang="en-IN" sz="2000" b="1" dirty="0"/>
                  <a:t>Step 1: Total number of ways to pick 4 balls from 12</a:t>
                </a: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12</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4</m:t>
                          </m:r>
                        </m:sub>
                      </m:sSub>
                    </m:oMath>
                  </m:oMathPara>
                </a14:m>
                <a:endParaRPr lang="ar-AE" sz="2000" dirty="0"/>
              </a:p>
              <a:p>
                <a:pPr>
                  <a:buNone/>
                </a:pPr>
                <a:br>
                  <a:rPr lang="ar-AE" sz="2000" dirty="0"/>
                </a:br>
                <a:endParaRPr lang="ar-AE" sz="2000" dirty="0"/>
              </a:p>
              <a:p>
                <a:pPr>
                  <a:buNone/>
                </a:pPr>
                <a:r>
                  <a:rPr lang="en-IN" sz="2000" b="1" dirty="0"/>
                  <a:t>Step 2: Number of </a:t>
                </a:r>
                <a:r>
                  <a:rPr lang="en-IN" sz="2000" b="1" dirty="0" err="1"/>
                  <a:t>favorable</a:t>
                </a:r>
                <a:r>
                  <a:rPr lang="en-IN" sz="2000" b="1" dirty="0"/>
                  <a:t> ways (2 red balls)</a:t>
                </a:r>
              </a:p>
              <a:p>
                <a:pPr>
                  <a:buFont typeface="Arial" panose="020B0604020202020204" pitchFamily="34" charset="0"/>
                  <a:buChar char="•"/>
                </a:pPr>
                <a:r>
                  <a:rPr lang="en-IN" sz="2000" dirty="0"/>
                  <a:t>Pick </a:t>
                </a:r>
                <a:r>
                  <a:rPr lang="en-IN" sz="2000" b="1" dirty="0"/>
                  <a:t>2 red balls</a:t>
                </a:r>
                <a:r>
                  <a:rPr lang="en-IN" sz="2000" dirty="0"/>
                  <a:t> from 6 → </a:t>
                </a:r>
                <a14:m>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oMath>
                </a14:m>
                <a:endParaRPr lang="ar-AE" sz="2000" dirty="0"/>
              </a:p>
              <a:p>
                <a:pPr>
                  <a:buFont typeface="Arial" panose="020B0604020202020204" pitchFamily="34" charset="0"/>
                  <a:buChar char="•"/>
                </a:pPr>
                <a:r>
                  <a:rPr lang="en-IN" sz="2000" dirty="0"/>
                  <a:t>The remaining </a:t>
                </a:r>
                <a:r>
                  <a:rPr lang="en-IN" sz="2000" b="1" dirty="0"/>
                  <a:t>2 balls</a:t>
                </a:r>
                <a:r>
                  <a:rPr lang="en-IN" sz="2000" dirty="0"/>
                  <a:t> can be anything except red, i.e., from </a:t>
                </a:r>
                <a:r>
                  <a:rPr lang="en-IN" sz="2000" b="1" dirty="0"/>
                  <a:t>6 non-red balls</a:t>
                </a:r>
                <a:r>
                  <a:rPr lang="en-IN" sz="2000" dirty="0"/>
                  <a:t> (4 yellow + 2 green) → </a:t>
                </a:r>
                <a14:m>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oMath>
                </a14:m>
                <a:endParaRPr lang="ar-AE" sz="2000" dirty="0"/>
              </a:p>
              <a:p>
                <a:pPr>
                  <a:buNone/>
                </a:pPr>
                <a:r>
                  <a:rPr lang="en-IN" sz="2000" dirty="0"/>
                  <a:t>So total </a:t>
                </a:r>
                <a:r>
                  <a:rPr lang="en-IN" sz="2000" dirty="0" err="1"/>
                  <a:t>favorable</a:t>
                </a:r>
                <a:r>
                  <a:rPr lang="en-IN" sz="2000" dirty="0"/>
                  <a:t> ways = </a:t>
                </a:r>
                <a14:m>
                  <m:oMath xmlns:m="http://schemas.openxmlformats.org/officeDocument/2006/math">
                    <m:sSup>
                      <m:sSupPr>
                        <m:ctrlPr>
                          <a:rPr lang="ar-AE" sz="2000" i="1">
                            <a:latin typeface="Cambria Math" panose="02040503050406030204" pitchFamily="18" charset="0"/>
                          </a:rPr>
                        </m:ctrlPr>
                      </m:sSupPr>
                      <m:e/>
                      <m:sup>
                        <m:r>
                          <a:rPr lang="ar-AE" sz="200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r>
                      <a:rPr lang="ar-AE" sz="2000" i="0">
                        <a:latin typeface="Cambria Math" panose="02040503050406030204" pitchFamily="18" charset="0"/>
                      </a:rPr>
                      <m:t>×</m:t>
                    </m:r>
                    <m:sSup>
                      <m:sSupPr>
                        <m:ctrlPr>
                          <a:rPr lang="ar-AE" sz="2000" i="1">
                            <a:latin typeface="Cambria Math" panose="02040503050406030204" pitchFamily="18" charset="0"/>
                          </a:rPr>
                        </m:ctrlPr>
                      </m:sSupPr>
                      <m:e/>
                      <m:sup>
                        <m:r>
                          <a:rPr lang="ar-AE" sz="2000" i="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oMath>
                </a14:m>
                <a:endParaRPr lang="ar-AE" sz="2000" dirty="0"/>
              </a:p>
              <a:p>
                <a:pPr>
                  <a:buNone/>
                </a:pPr>
                <a:br>
                  <a:rPr lang="ar-AE" sz="2000" dirty="0"/>
                </a:br>
                <a:endParaRPr lang="ar-AE" sz="2000" dirty="0"/>
              </a:p>
              <a:p>
                <a:pPr>
                  <a:buNone/>
                </a:pPr>
                <a:r>
                  <a:rPr lang="en-IN" sz="2000" b="1" dirty="0"/>
                  <a:t>Step 3: Write probability formula</a:t>
                </a:r>
              </a:p>
              <a:p>
                <a:pPr>
                  <a:buNone/>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𝑃</m:t>
                      </m:r>
                      <m:r>
                        <a:rPr lang="en-IN" sz="2000" i="0">
                          <a:latin typeface="Cambria Math" panose="02040503050406030204" pitchFamily="18" charset="0"/>
                        </a:rPr>
                        <m:t>=</m:t>
                      </m:r>
                      <m:f>
                        <m:fPr>
                          <m:ctrlPr>
                            <a:rPr lang="ar-AE" sz="2000" i="1">
                              <a:latin typeface="Cambria Math" panose="02040503050406030204" pitchFamily="18" charset="0"/>
                            </a:rPr>
                          </m:ctrlPr>
                        </m:fPr>
                        <m:num>
                          <m:sSup>
                            <m:sSupPr>
                              <m:ctrlPr>
                                <a:rPr lang="ar-AE" sz="2000" i="1">
                                  <a:latin typeface="Cambria Math" panose="02040503050406030204" pitchFamily="18" charset="0"/>
                                </a:rPr>
                              </m:ctrlPr>
                            </m:sSupPr>
                            <m:e/>
                            <m:sup>
                              <m:r>
                                <a:rPr lang="ar-AE" sz="2000" i="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r>
                            <a:rPr lang="ar-AE" sz="2000" i="0">
                              <a:latin typeface="Cambria Math" panose="02040503050406030204" pitchFamily="18" charset="0"/>
                            </a:rPr>
                            <m:t>×</m:t>
                          </m:r>
                          <m:sSup>
                            <m:sSupPr>
                              <m:ctrlPr>
                                <a:rPr lang="ar-AE" sz="2000" i="1">
                                  <a:latin typeface="Cambria Math" panose="02040503050406030204" pitchFamily="18" charset="0"/>
                                </a:rPr>
                              </m:ctrlPr>
                            </m:sSupPr>
                            <m:e/>
                            <m:sup>
                              <m:r>
                                <a:rPr lang="ar-AE" sz="2000" i="0">
                                  <a:latin typeface="Cambria Math" panose="02040503050406030204" pitchFamily="18" charset="0"/>
                                </a:rPr>
                                <m:t>6</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2</m:t>
                              </m:r>
                            </m:sub>
                          </m:sSub>
                        </m:num>
                        <m:den>
                          <m:sSup>
                            <m:sSupPr>
                              <m:ctrlPr>
                                <a:rPr lang="ar-AE" sz="2000" i="1">
                                  <a:latin typeface="Cambria Math" panose="02040503050406030204" pitchFamily="18" charset="0"/>
                                </a:rPr>
                              </m:ctrlPr>
                            </m:sSupPr>
                            <m:e/>
                            <m:sup>
                              <m:r>
                                <a:rPr lang="ar-AE" sz="2000" i="0">
                                  <a:latin typeface="Cambria Math" panose="02040503050406030204" pitchFamily="18" charset="0"/>
                                </a:rPr>
                                <m:t>12</m:t>
                              </m:r>
                            </m:sup>
                          </m:sSup>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i="0">
                                  <a:latin typeface="Cambria Math" panose="02040503050406030204" pitchFamily="18" charset="0"/>
                                </a:rPr>
                                <m:t>4</m:t>
                              </m:r>
                            </m:sub>
                          </m:sSub>
                        </m:den>
                      </m:f>
                    </m:oMath>
                  </m:oMathPara>
                </a14:m>
                <a:endParaRPr lang="ar-AE" sz="2000" dirty="0"/>
              </a:p>
            </p:txBody>
          </p:sp>
        </mc:Choice>
        <mc:Fallback>
          <p:sp>
            <p:nvSpPr>
              <p:cNvPr id="7" name="TextBox 6">
                <a:extLst>
                  <a:ext uri="{FF2B5EF4-FFF2-40B4-BE49-F238E27FC236}">
                    <a16:creationId xmlns:a16="http://schemas.microsoft.com/office/drawing/2014/main" id="{A9BABB08-A449-E258-402E-18F35DAB77F9}"/>
                  </a:ext>
                </a:extLst>
              </p:cNvPr>
              <p:cNvSpPr txBox="1">
                <a:spLocks noRot="1" noChangeAspect="1" noMove="1" noResize="1" noEditPoints="1" noAdjustHandles="1" noChangeArrowheads="1" noChangeShapeType="1" noTextEdit="1"/>
              </p:cNvSpPr>
              <p:nvPr/>
            </p:nvSpPr>
            <p:spPr>
              <a:xfrm>
                <a:off x="473698" y="1526729"/>
                <a:ext cx="6094428" cy="4746043"/>
              </a:xfrm>
              <a:prstGeom prst="rect">
                <a:avLst/>
              </a:prstGeom>
              <a:blipFill>
                <a:blip r:embed="rId2"/>
                <a:stretch>
                  <a:fillRect l="-1101" t="-64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D45EBA-E051-F22D-2B33-E094DD59F960}"/>
                  </a:ext>
                </a:extLst>
              </p:cNvPr>
              <p:cNvSpPr txBox="1"/>
              <p:nvPr/>
            </p:nvSpPr>
            <p:spPr>
              <a:xfrm>
                <a:off x="6097572" y="2332305"/>
                <a:ext cx="6094428" cy="3869585"/>
              </a:xfrm>
              <a:prstGeom prst="rect">
                <a:avLst/>
              </a:prstGeom>
              <a:noFill/>
            </p:spPr>
            <p:txBody>
              <a:bodyPr wrap="square">
                <a:spAutoFit/>
              </a:bodyPr>
              <a:lstStyle/>
              <a:p>
                <a:pPr>
                  <a:buNone/>
                </a:pPr>
                <a:r>
                  <a:rPr lang="en-IN" sz="3200" b="1" dirty="0"/>
                  <a:t>Step 4: Expand combinations</a:t>
                </a:r>
              </a:p>
              <a:p>
                <a:pPr>
                  <a:buNone/>
                </a:pPr>
                <a14:m>
                  <m:oMathPara xmlns:m="http://schemas.openxmlformats.org/officeDocument/2006/math">
                    <m:oMathParaPr>
                      <m:jc m:val="centerGroup"/>
                    </m:oMathParaPr>
                    <m:oMath xmlns:m="http://schemas.openxmlformats.org/officeDocument/2006/math">
                      <m:sSup>
                        <m:sSupPr>
                          <m:ctrlPr>
                            <a:rPr lang="ar-AE" sz="3200" i="1">
                              <a:latin typeface="Cambria Math" panose="02040503050406030204" pitchFamily="18" charset="0"/>
                            </a:rPr>
                          </m:ctrlPr>
                        </m:sSupPr>
                        <m:e/>
                        <m:sup>
                          <m:r>
                            <a:rPr lang="ar-AE" sz="3200">
                              <a:latin typeface="Cambria Math" panose="02040503050406030204" pitchFamily="18" charset="0"/>
                            </a:rPr>
                            <m:t>6</m:t>
                          </m:r>
                        </m:sup>
                      </m:sSup>
                      <m:sSub>
                        <m:sSubPr>
                          <m:ctrlPr>
                            <a:rPr lang="ar-AE" sz="3200" i="1">
                              <a:latin typeface="Cambria Math" panose="02040503050406030204" pitchFamily="18" charset="0"/>
                            </a:rPr>
                          </m:ctrlPr>
                        </m:sSubPr>
                        <m:e>
                          <m:r>
                            <a:rPr lang="ar-AE" sz="3200" i="1">
                              <a:latin typeface="Cambria Math" panose="02040503050406030204" pitchFamily="18" charset="0"/>
                            </a:rPr>
                            <m:t>𝐶</m:t>
                          </m:r>
                        </m:e>
                        <m:sub>
                          <m:r>
                            <a:rPr lang="ar-AE" sz="3200" i="0">
                              <a:latin typeface="Cambria Math" panose="02040503050406030204" pitchFamily="18" charset="0"/>
                            </a:rPr>
                            <m:t>2</m:t>
                          </m:r>
                        </m:sub>
                      </m:sSub>
                      <m:r>
                        <a:rPr lang="ar-AE" sz="3200" i="0">
                          <a:latin typeface="Cambria Math" panose="02040503050406030204" pitchFamily="18" charset="0"/>
                        </a:rPr>
                        <m:t>=</m:t>
                      </m:r>
                      <m:f>
                        <m:fPr>
                          <m:ctrlPr>
                            <a:rPr lang="ar-AE" sz="3200" i="1">
                              <a:latin typeface="Cambria Math" panose="02040503050406030204" pitchFamily="18" charset="0"/>
                            </a:rPr>
                          </m:ctrlPr>
                        </m:fPr>
                        <m:num>
                          <m:r>
                            <a:rPr lang="ar-AE" sz="3200" i="0">
                              <a:latin typeface="Cambria Math" panose="02040503050406030204" pitchFamily="18" charset="0"/>
                            </a:rPr>
                            <m:t>6</m:t>
                          </m:r>
                          <m:r>
                            <a:rPr lang="ar-AE" sz="3200" i="0">
                              <a:latin typeface="Cambria Math" panose="02040503050406030204" pitchFamily="18" charset="0"/>
                            </a:rPr>
                            <m:t>×</m:t>
                          </m:r>
                          <m:r>
                            <a:rPr lang="ar-AE" sz="3200" i="0">
                              <a:latin typeface="Cambria Math" panose="02040503050406030204" pitchFamily="18" charset="0"/>
                            </a:rPr>
                            <m:t>5</m:t>
                          </m:r>
                        </m:num>
                        <m:den>
                          <m:r>
                            <a:rPr lang="ar-AE" sz="3200" i="0">
                              <a:latin typeface="Cambria Math" panose="02040503050406030204" pitchFamily="18" charset="0"/>
                            </a:rPr>
                            <m:t>2</m:t>
                          </m:r>
                          <m:r>
                            <a:rPr lang="ar-AE" sz="3200" i="0">
                              <a:latin typeface="Cambria Math" panose="02040503050406030204" pitchFamily="18" charset="0"/>
                            </a:rPr>
                            <m:t>×</m:t>
                          </m:r>
                          <m:r>
                            <a:rPr lang="ar-AE" sz="3200" i="0">
                              <a:latin typeface="Cambria Math" panose="02040503050406030204" pitchFamily="18" charset="0"/>
                            </a:rPr>
                            <m:t>1</m:t>
                          </m:r>
                        </m:den>
                      </m:f>
                      <m:r>
                        <a:rPr lang="ar-AE" sz="3200" i="0">
                          <a:latin typeface="Cambria Math" panose="02040503050406030204" pitchFamily="18" charset="0"/>
                        </a:rPr>
                        <m:t>=</m:t>
                      </m:r>
                      <m:r>
                        <a:rPr lang="ar-AE" sz="3200" i="0">
                          <a:latin typeface="Cambria Math" panose="02040503050406030204" pitchFamily="18" charset="0"/>
                        </a:rPr>
                        <m:t>15</m:t>
                      </m:r>
                    </m:oMath>
                  </m:oMathPara>
                </a14:m>
                <a:endParaRPr lang="ar-AE" sz="3200" dirty="0"/>
              </a:p>
              <a:p>
                <a:pPr>
                  <a:buNone/>
                </a:pPr>
                <a14:m>
                  <m:oMathPara xmlns:m="http://schemas.openxmlformats.org/officeDocument/2006/math">
                    <m:oMathParaPr>
                      <m:jc m:val="centerGroup"/>
                    </m:oMathParaPr>
                    <m:oMath xmlns:m="http://schemas.openxmlformats.org/officeDocument/2006/math">
                      <m:sSup>
                        <m:sSupPr>
                          <m:ctrlPr>
                            <a:rPr lang="ar-AE" sz="3200" i="1">
                              <a:latin typeface="Cambria Math" panose="02040503050406030204" pitchFamily="18" charset="0"/>
                            </a:rPr>
                          </m:ctrlPr>
                        </m:sSupPr>
                        <m:e/>
                        <m:sup>
                          <m:r>
                            <a:rPr lang="ar-AE" sz="3200">
                              <a:latin typeface="Cambria Math" panose="02040503050406030204" pitchFamily="18" charset="0"/>
                            </a:rPr>
                            <m:t>12</m:t>
                          </m:r>
                        </m:sup>
                      </m:sSup>
                      <m:sSub>
                        <m:sSubPr>
                          <m:ctrlPr>
                            <a:rPr lang="ar-AE" sz="3200" i="1">
                              <a:latin typeface="Cambria Math" panose="02040503050406030204" pitchFamily="18" charset="0"/>
                            </a:rPr>
                          </m:ctrlPr>
                        </m:sSubPr>
                        <m:e>
                          <m:r>
                            <a:rPr lang="ar-AE" sz="3200" i="1">
                              <a:latin typeface="Cambria Math" panose="02040503050406030204" pitchFamily="18" charset="0"/>
                            </a:rPr>
                            <m:t>𝐶</m:t>
                          </m:r>
                        </m:e>
                        <m:sub>
                          <m:r>
                            <a:rPr lang="ar-AE" sz="3200" i="0">
                              <a:latin typeface="Cambria Math" panose="02040503050406030204" pitchFamily="18" charset="0"/>
                            </a:rPr>
                            <m:t>4</m:t>
                          </m:r>
                        </m:sub>
                      </m:sSub>
                      <m:r>
                        <a:rPr lang="ar-AE" sz="3200" i="0">
                          <a:latin typeface="Cambria Math" panose="02040503050406030204" pitchFamily="18" charset="0"/>
                        </a:rPr>
                        <m:t>=</m:t>
                      </m:r>
                      <m:f>
                        <m:fPr>
                          <m:ctrlPr>
                            <a:rPr lang="ar-AE" sz="3200" i="1">
                              <a:latin typeface="Cambria Math" panose="02040503050406030204" pitchFamily="18" charset="0"/>
                            </a:rPr>
                          </m:ctrlPr>
                        </m:fPr>
                        <m:num>
                          <m:r>
                            <a:rPr lang="ar-AE" sz="3200" i="0">
                              <a:latin typeface="Cambria Math" panose="02040503050406030204" pitchFamily="18" charset="0"/>
                            </a:rPr>
                            <m:t>12</m:t>
                          </m:r>
                          <m:r>
                            <a:rPr lang="ar-AE" sz="3200" i="0">
                              <a:latin typeface="Cambria Math" panose="02040503050406030204" pitchFamily="18" charset="0"/>
                            </a:rPr>
                            <m:t>×</m:t>
                          </m:r>
                          <m:r>
                            <a:rPr lang="ar-AE" sz="3200" i="0">
                              <a:latin typeface="Cambria Math" panose="02040503050406030204" pitchFamily="18" charset="0"/>
                            </a:rPr>
                            <m:t>11</m:t>
                          </m:r>
                          <m:r>
                            <a:rPr lang="ar-AE" sz="3200" i="0">
                              <a:latin typeface="Cambria Math" panose="02040503050406030204" pitchFamily="18" charset="0"/>
                            </a:rPr>
                            <m:t>×</m:t>
                          </m:r>
                          <m:r>
                            <a:rPr lang="ar-AE" sz="3200" i="0">
                              <a:latin typeface="Cambria Math" panose="02040503050406030204" pitchFamily="18" charset="0"/>
                            </a:rPr>
                            <m:t>10</m:t>
                          </m:r>
                          <m:r>
                            <a:rPr lang="ar-AE" sz="3200" i="0">
                              <a:latin typeface="Cambria Math" panose="02040503050406030204" pitchFamily="18" charset="0"/>
                            </a:rPr>
                            <m:t>×</m:t>
                          </m:r>
                          <m:r>
                            <a:rPr lang="ar-AE" sz="3200" i="0">
                              <a:latin typeface="Cambria Math" panose="02040503050406030204" pitchFamily="18" charset="0"/>
                            </a:rPr>
                            <m:t>9</m:t>
                          </m:r>
                        </m:num>
                        <m:den>
                          <m:r>
                            <a:rPr lang="ar-AE" sz="3200" i="0">
                              <a:latin typeface="Cambria Math" panose="02040503050406030204" pitchFamily="18" charset="0"/>
                            </a:rPr>
                            <m:t>4</m:t>
                          </m:r>
                          <m:r>
                            <a:rPr lang="ar-AE" sz="3200" i="0">
                              <a:latin typeface="Cambria Math" panose="02040503050406030204" pitchFamily="18" charset="0"/>
                            </a:rPr>
                            <m:t>×</m:t>
                          </m:r>
                          <m:r>
                            <a:rPr lang="ar-AE" sz="3200" i="0">
                              <a:latin typeface="Cambria Math" panose="02040503050406030204" pitchFamily="18" charset="0"/>
                            </a:rPr>
                            <m:t>3</m:t>
                          </m:r>
                          <m:r>
                            <a:rPr lang="ar-AE" sz="3200" i="0">
                              <a:latin typeface="Cambria Math" panose="02040503050406030204" pitchFamily="18" charset="0"/>
                            </a:rPr>
                            <m:t>×</m:t>
                          </m:r>
                          <m:r>
                            <a:rPr lang="ar-AE" sz="3200" i="0">
                              <a:latin typeface="Cambria Math" panose="02040503050406030204" pitchFamily="18" charset="0"/>
                            </a:rPr>
                            <m:t>2</m:t>
                          </m:r>
                          <m:r>
                            <a:rPr lang="ar-AE" sz="3200" i="0">
                              <a:latin typeface="Cambria Math" panose="02040503050406030204" pitchFamily="18" charset="0"/>
                            </a:rPr>
                            <m:t>×</m:t>
                          </m:r>
                          <m:r>
                            <a:rPr lang="ar-AE" sz="3200" i="0">
                              <a:latin typeface="Cambria Math" panose="02040503050406030204" pitchFamily="18" charset="0"/>
                            </a:rPr>
                            <m:t>1</m:t>
                          </m:r>
                        </m:den>
                      </m:f>
                      <m:r>
                        <a:rPr lang="ar-AE" sz="3200" i="0">
                          <a:latin typeface="Cambria Math" panose="02040503050406030204" pitchFamily="18" charset="0"/>
                        </a:rPr>
                        <m:t>=</m:t>
                      </m:r>
                      <m:r>
                        <a:rPr lang="ar-AE" sz="3200" i="0">
                          <a:latin typeface="Cambria Math" panose="02040503050406030204" pitchFamily="18" charset="0"/>
                        </a:rPr>
                        <m:t>495</m:t>
                      </m:r>
                    </m:oMath>
                  </m:oMathPara>
                </a14:m>
                <a:endParaRPr lang="ar-AE" sz="3200" dirty="0"/>
              </a:p>
              <a:p>
                <a:pPr>
                  <a:buNone/>
                </a:pPr>
                <a:r>
                  <a:rPr lang="en-IN" sz="3200" dirty="0"/>
                  <a:t>So:</a:t>
                </a:r>
              </a:p>
              <a:p>
                <a:pPr>
                  <a:buNone/>
                </a:pPr>
                <a14:m>
                  <m:oMathPara xmlns:m="http://schemas.openxmlformats.org/officeDocument/2006/math">
                    <m:oMathParaPr>
                      <m:jc m:val="centerGroup"/>
                    </m:oMathParaPr>
                    <m:oMath xmlns:m="http://schemas.openxmlformats.org/officeDocument/2006/math">
                      <m:r>
                        <a:rPr lang="en-IN" sz="3200" i="1">
                          <a:latin typeface="Cambria Math" panose="02040503050406030204" pitchFamily="18" charset="0"/>
                        </a:rPr>
                        <m:t>𝑃</m:t>
                      </m:r>
                      <m:r>
                        <a:rPr lang="en-IN" sz="3200" i="0">
                          <a:latin typeface="Cambria Math" panose="02040503050406030204" pitchFamily="18" charset="0"/>
                        </a:rPr>
                        <m:t>=</m:t>
                      </m:r>
                      <m:f>
                        <m:fPr>
                          <m:ctrlPr>
                            <a:rPr lang="ar-AE" sz="3200" i="1">
                              <a:latin typeface="Cambria Math" panose="02040503050406030204" pitchFamily="18" charset="0"/>
                            </a:rPr>
                          </m:ctrlPr>
                        </m:fPr>
                        <m:num>
                          <m:r>
                            <a:rPr lang="ar-AE" sz="3200" i="0">
                              <a:latin typeface="Cambria Math" panose="02040503050406030204" pitchFamily="18" charset="0"/>
                            </a:rPr>
                            <m:t>15</m:t>
                          </m:r>
                          <m:r>
                            <a:rPr lang="ar-AE" sz="3200" i="0">
                              <a:latin typeface="Cambria Math" panose="02040503050406030204" pitchFamily="18" charset="0"/>
                            </a:rPr>
                            <m:t>×</m:t>
                          </m:r>
                          <m:r>
                            <a:rPr lang="ar-AE" sz="3200" i="0">
                              <a:latin typeface="Cambria Math" panose="02040503050406030204" pitchFamily="18" charset="0"/>
                            </a:rPr>
                            <m:t>15</m:t>
                          </m:r>
                        </m:num>
                        <m:den>
                          <m:r>
                            <a:rPr lang="ar-AE" sz="3200" i="0">
                              <a:latin typeface="Cambria Math" panose="02040503050406030204" pitchFamily="18" charset="0"/>
                            </a:rPr>
                            <m:t>495</m:t>
                          </m:r>
                        </m:den>
                      </m:f>
                      <m:r>
                        <a:rPr lang="ar-AE" sz="3200" i="0">
                          <a:latin typeface="Cambria Math" panose="02040503050406030204" pitchFamily="18" charset="0"/>
                        </a:rPr>
                        <m:t>=</m:t>
                      </m:r>
                      <m:f>
                        <m:fPr>
                          <m:ctrlPr>
                            <a:rPr lang="ar-AE" sz="3200" i="1">
                              <a:latin typeface="Cambria Math" panose="02040503050406030204" pitchFamily="18" charset="0"/>
                            </a:rPr>
                          </m:ctrlPr>
                        </m:fPr>
                        <m:num>
                          <m:r>
                            <a:rPr lang="ar-AE" sz="3200" i="0">
                              <a:latin typeface="Cambria Math" panose="02040503050406030204" pitchFamily="18" charset="0"/>
                            </a:rPr>
                            <m:t>225</m:t>
                          </m:r>
                        </m:num>
                        <m:den>
                          <m:r>
                            <a:rPr lang="ar-AE" sz="3200" i="0">
                              <a:latin typeface="Cambria Math" panose="02040503050406030204" pitchFamily="18" charset="0"/>
                            </a:rPr>
                            <m:t>495</m:t>
                          </m:r>
                        </m:den>
                      </m:f>
                      <m:r>
                        <a:rPr lang="ar-AE" sz="3200" i="0">
                          <a:latin typeface="Cambria Math" panose="02040503050406030204" pitchFamily="18" charset="0"/>
                        </a:rPr>
                        <m:t>=</m:t>
                      </m:r>
                      <m:f>
                        <m:fPr>
                          <m:ctrlPr>
                            <a:rPr lang="ar-AE" sz="3200" i="1">
                              <a:latin typeface="Cambria Math" panose="02040503050406030204" pitchFamily="18" charset="0"/>
                            </a:rPr>
                          </m:ctrlPr>
                        </m:fPr>
                        <m:num>
                          <m:r>
                            <a:rPr lang="ar-AE" sz="3200" i="0">
                              <a:latin typeface="Cambria Math" panose="02040503050406030204" pitchFamily="18" charset="0"/>
                            </a:rPr>
                            <m:t>5</m:t>
                          </m:r>
                        </m:num>
                        <m:den>
                          <m:r>
                            <a:rPr lang="ar-AE" sz="3200" i="0">
                              <a:latin typeface="Cambria Math" panose="02040503050406030204" pitchFamily="18" charset="0"/>
                            </a:rPr>
                            <m:t>11</m:t>
                          </m:r>
                        </m:den>
                      </m:f>
                    </m:oMath>
                  </m:oMathPara>
                </a14:m>
                <a:endParaRPr lang="ar-AE" sz="3200" dirty="0"/>
              </a:p>
            </p:txBody>
          </p:sp>
        </mc:Choice>
        <mc:Fallback>
          <p:sp>
            <p:nvSpPr>
              <p:cNvPr id="9" name="TextBox 8">
                <a:extLst>
                  <a:ext uri="{FF2B5EF4-FFF2-40B4-BE49-F238E27FC236}">
                    <a16:creationId xmlns:a16="http://schemas.microsoft.com/office/drawing/2014/main" id="{38D45EBA-E051-F22D-2B33-E094DD59F960}"/>
                  </a:ext>
                </a:extLst>
              </p:cNvPr>
              <p:cNvSpPr txBox="1">
                <a:spLocks noRot="1" noChangeAspect="1" noMove="1" noResize="1" noEditPoints="1" noAdjustHandles="1" noChangeArrowheads="1" noChangeShapeType="1" noTextEdit="1"/>
              </p:cNvSpPr>
              <p:nvPr/>
            </p:nvSpPr>
            <p:spPr>
              <a:xfrm>
                <a:off x="6097572" y="2332305"/>
                <a:ext cx="6094428" cy="3869585"/>
              </a:xfrm>
              <a:prstGeom prst="rect">
                <a:avLst/>
              </a:prstGeom>
              <a:blipFill>
                <a:blip r:embed="rId3"/>
                <a:stretch>
                  <a:fillRect l="-2500" t="-2050"/>
                </a:stretch>
              </a:blipFill>
            </p:spPr>
            <p:txBody>
              <a:bodyPr/>
              <a:lstStyle/>
              <a:p>
                <a:r>
                  <a:rPr lang="en-IN">
                    <a:noFill/>
                  </a:rPr>
                  <a:t> </a:t>
                </a:r>
              </a:p>
            </p:txBody>
          </p:sp>
        </mc:Fallback>
      </mc:AlternateContent>
    </p:spTree>
    <p:extLst>
      <p:ext uri="{BB962C8B-B14F-4D97-AF65-F5344CB8AC3E}">
        <p14:creationId xmlns:p14="http://schemas.microsoft.com/office/powerpoint/2010/main" val="422761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 calcmode="lin" valueType="num">
                                      <p:cBhvr additive="base">
                                        <p:cTn id="3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 calcmode="lin" valueType="num">
                                      <p:cBhvr additive="base">
                                        <p:cTn id="3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 calcmode="lin" valueType="num">
                                      <p:cBhvr additive="base">
                                        <p:cTn id="4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anim calcmode="lin" valueType="num">
                                      <p:cBhvr additive="base">
                                        <p:cTn id="4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xEl>
                                              <p:pRg st="1" end="1"/>
                                            </p:txEl>
                                          </p:spTgt>
                                        </p:tgtEl>
                                        <p:attrNameLst>
                                          <p:attrName>style.visibility</p:attrName>
                                        </p:attrNameLst>
                                      </p:cBhvr>
                                      <p:to>
                                        <p:strVal val="visible"/>
                                      </p:to>
                                    </p:set>
                                    <p:anim calcmode="lin" valueType="num">
                                      <p:cBhvr additive="base">
                                        <p:cTn id="5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9">
                                            <p:txEl>
                                              <p:pRg st="2" end="2"/>
                                            </p:txEl>
                                          </p:spTgt>
                                        </p:tgtEl>
                                        <p:attrNameLst>
                                          <p:attrName>style.visibility</p:attrName>
                                        </p:attrNameLst>
                                      </p:cBhvr>
                                      <p:to>
                                        <p:strVal val="visible"/>
                                      </p:to>
                                    </p:set>
                                    <p:anim calcmode="lin" valueType="num">
                                      <p:cBhvr additive="base">
                                        <p:cTn id="5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9">
                                            <p:txEl>
                                              <p:pRg st="3" end="3"/>
                                            </p:txEl>
                                          </p:spTgt>
                                        </p:tgtEl>
                                        <p:attrNameLst>
                                          <p:attrName>style.visibility</p:attrName>
                                        </p:attrNameLst>
                                      </p:cBhvr>
                                      <p:to>
                                        <p:strVal val="visible"/>
                                      </p:to>
                                    </p:set>
                                    <p:anim calcmode="lin" valueType="num">
                                      <p:cBhvr additive="base">
                                        <p:cTn id="6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9">
                                            <p:txEl>
                                              <p:pRg st="4" end="4"/>
                                            </p:txEl>
                                          </p:spTgt>
                                        </p:tgtEl>
                                        <p:attrNameLst>
                                          <p:attrName>style.visibility</p:attrName>
                                        </p:attrNameLst>
                                      </p:cBhvr>
                                      <p:to>
                                        <p:strVal val="visible"/>
                                      </p:to>
                                    </p:set>
                                    <p:anim calcmode="lin" valueType="num">
                                      <p:cBhvr additive="base">
                                        <p:cTn id="6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6FFCE4-B2FB-D993-1705-237F47316827}"/>
              </a:ext>
            </a:extLst>
          </p:cNvPr>
          <p:cNvSpPr txBox="1"/>
          <p:nvPr/>
        </p:nvSpPr>
        <p:spPr>
          <a:xfrm>
            <a:off x="266306" y="320759"/>
            <a:ext cx="11404077" cy="830997"/>
          </a:xfrm>
          <a:prstGeom prst="rect">
            <a:avLst/>
          </a:prstGeom>
          <a:noFill/>
        </p:spPr>
        <p:txBody>
          <a:bodyPr wrap="square">
            <a:spAutoFit/>
          </a:bodyPr>
          <a:lstStyle/>
          <a:p>
            <a:r>
              <a:rPr lang="en-US" sz="2400" dirty="0"/>
              <a:t>A bag contains 6 Red balls, 4 Yellow balls and 2 Green Balls. Three balls are picked at random. What is the probability </a:t>
            </a:r>
            <a:r>
              <a:rPr lang="en-US" sz="2400" b="1" dirty="0">
                <a:solidFill>
                  <a:srgbClr val="FF0000"/>
                </a:solidFill>
              </a:rPr>
              <a:t>at most  </a:t>
            </a:r>
            <a:r>
              <a:rPr lang="en-US" sz="2400" b="1" dirty="0"/>
              <a:t>2 are yellow ?</a:t>
            </a:r>
            <a:endParaRPr lang="en-IN" sz="2400"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1506BFA-5535-AE37-C0F6-17A8A5E4C462}"/>
                  </a:ext>
                </a:extLst>
              </p:cNvPr>
              <p:cNvSpPr txBox="1"/>
              <p:nvPr/>
            </p:nvSpPr>
            <p:spPr>
              <a:xfrm>
                <a:off x="1850011" y="1263570"/>
                <a:ext cx="6094428" cy="5448543"/>
              </a:xfrm>
              <a:prstGeom prst="rect">
                <a:avLst/>
              </a:prstGeom>
              <a:noFill/>
            </p:spPr>
            <p:txBody>
              <a:bodyPr wrap="square">
                <a:spAutoFit/>
              </a:bodyPr>
              <a:lstStyle/>
              <a:p>
                <a:pPr>
                  <a:buNone/>
                </a:pPr>
                <a:r>
                  <a:rPr lang="en-IN" sz="2400" b="1" dirty="0"/>
                  <a:t>Step 1: Total ways to pick 3 balls</a:t>
                </a:r>
              </a:p>
              <a:p>
                <a:pPr>
                  <a:buNone/>
                </a:pPr>
                <a14:m>
                  <m:oMathPara xmlns:m="http://schemas.openxmlformats.org/officeDocument/2006/math">
                    <m:oMathParaPr>
                      <m:jc m:val="centerGroup"/>
                    </m:oMathParaPr>
                    <m:oMath xmlns:m="http://schemas.openxmlformats.org/officeDocument/2006/math">
                      <m:sSup>
                        <m:sSupPr>
                          <m:ctrlPr>
                            <a:rPr lang="ar-AE" sz="2400" i="1">
                              <a:latin typeface="Cambria Math" panose="02040503050406030204" pitchFamily="18" charset="0"/>
                            </a:rPr>
                          </m:ctrlPr>
                        </m:sSupPr>
                        <m:e/>
                        <m:sup>
                          <m:r>
                            <a:rPr lang="ar-AE" sz="2400">
                              <a:latin typeface="Cambria Math" panose="02040503050406030204" pitchFamily="18" charset="0"/>
                            </a:rPr>
                            <m:t>12</m:t>
                          </m:r>
                        </m:sup>
                      </m:sSup>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3</m:t>
                          </m:r>
                        </m:sub>
                      </m:sSub>
                      <m:r>
                        <a:rPr lang="ar-AE" sz="2400" i="0">
                          <a:latin typeface="Cambria Math" panose="02040503050406030204" pitchFamily="18" charset="0"/>
                        </a:rPr>
                        <m:t>=</m:t>
                      </m:r>
                      <m:r>
                        <a:rPr lang="ar-AE" sz="2400" i="0">
                          <a:latin typeface="Cambria Math" panose="02040503050406030204" pitchFamily="18" charset="0"/>
                        </a:rPr>
                        <m:t>220</m:t>
                      </m:r>
                    </m:oMath>
                  </m:oMathPara>
                </a14:m>
                <a:endParaRPr lang="ar-AE" sz="2400" dirty="0"/>
              </a:p>
              <a:p>
                <a:pPr>
                  <a:buNone/>
                </a:pPr>
                <a:r>
                  <a:rPr lang="en-IN" sz="2400" b="1" dirty="0"/>
                  <a:t>Step 2: </a:t>
                </a:r>
                <a:r>
                  <a:rPr lang="en-IN" sz="2400" b="1" dirty="0" err="1"/>
                  <a:t>Favorable</a:t>
                </a:r>
                <a:r>
                  <a:rPr lang="en-IN" sz="2400" b="1" dirty="0"/>
                  <a:t> cases (at most 2 yellow)</a:t>
                </a:r>
              </a:p>
              <a:p>
                <a:pPr>
                  <a:buFont typeface="Arial" panose="020B0604020202020204" pitchFamily="34" charset="0"/>
                  <a:buChar char="•"/>
                </a:pPr>
                <a:r>
                  <a:rPr lang="en-IN" sz="2400" b="1" dirty="0"/>
                  <a:t>0 yellow:</a:t>
                </a:r>
                <a:r>
                  <a:rPr lang="en-IN" sz="2400" dirty="0"/>
                  <a:t> pick 3 from 8 (red + green)</a:t>
                </a:r>
              </a:p>
              <a:p>
                <a:pPr>
                  <a:buNone/>
                </a:pPr>
                <a14:m>
                  <m:oMathPara xmlns:m="http://schemas.openxmlformats.org/officeDocument/2006/math">
                    <m:oMathParaPr>
                      <m:jc m:val="centerGroup"/>
                    </m:oMathParaPr>
                    <m:oMath xmlns:m="http://schemas.openxmlformats.org/officeDocument/2006/math">
                      <m:sSup>
                        <m:sSupPr>
                          <m:ctrlPr>
                            <a:rPr lang="ar-AE" sz="2400" i="1">
                              <a:latin typeface="Cambria Math" panose="02040503050406030204" pitchFamily="18" charset="0"/>
                            </a:rPr>
                          </m:ctrlPr>
                        </m:sSupPr>
                        <m:e/>
                        <m:sup>
                          <m:r>
                            <a:rPr lang="ar-AE" sz="2400">
                              <a:latin typeface="Cambria Math" panose="02040503050406030204" pitchFamily="18" charset="0"/>
                            </a:rPr>
                            <m:t>8</m:t>
                          </m:r>
                        </m:sup>
                      </m:sSup>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3</m:t>
                          </m:r>
                        </m:sub>
                      </m:sSub>
                      <m:r>
                        <a:rPr lang="ar-AE" sz="2400" i="0">
                          <a:latin typeface="Cambria Math" panose="02040503050406030204" pitchFamily="18" charset="0"/>
                        </a:rPr>
                        <m:t>=</m:t>
                      </m:r>
                      <m:r>
                        <a:rPr lang="ar-AE" sz="2400" i="0">
                          <a:latin typeface="Cambria Math" panose="02040503050406030204" pitchFamily="18" charset="0"/>
                        </a:rPr>
                        <m:t>56</m:t>
                      </m:r>
                    </m:oMath>
                  </m:oMathPara>
                </a14:m>
                <a:endParaRPr lang="ar-AE" sz="2400" dirty="0"/>
              </a:p>
              <a:p>
                <a:pPr>
                  <a:buFont typeface="Arial" panose="020B0604020202020204" pitchFamily="34" charset="0"/>
                  <a:buChar char="•"/>
                </a:pPr>
                <a:r>
                  <a:rPr lang="ar-AE" sz="2400" b="1" dirty="0"/>
                  <a:t>1 </a:t>
                </a:r>
                <a:r>
                  <a:rPr lang="en-IN" sz="2400" b="1" dirty="0"/>
                  <a:t>yellow:</a:t>
                </a:r>
                <a:r>
                  <a:rPr lang="en-IN" sz="2400" dirty="0"/>
                  <a:t> pick 1 from 4 and 2 from 8</a:t>
                </a:r>
              </a:p>
              <a:p>
                <a:pPr>
                  <a:buNone/>
                </a:pPr>
                <a14:m>
                  <m:oMathPara xmlns:m="http://schemas.openxmlformats.org/officeDocument/2006/math">
                    <m:oMathParaPr>
                      <m:jc m:val="centerGroup"/>
                    </m:oMathParaPr>
                    <m:oMath xmlns:m="http://schemas.openxmlformats.org/officeDocument/2006/math">
                      <m:sSup>
                        <m:sSupPr>
                          <m:ctrlPr>
                            <a:rPr lang="ar-AE" sz="2400" i="1">
                              <a:latin typeface="Cambria Math" panose="02040503050406030204" pitchFamily="18" charset="0"/>
                            </a:rPr>
                          </m:ctrlPr>
                        </m:sSupPr>
                        <m:e/>
                        <m:sup>
                          <m:r>
                            <a:rPr lang="ar-AE" sz="2400">
                              <a:latin typeface="Cambria Math" panose="02040503050406030204" pitchFamily="18" charset="0"/>
                            </a:rPr>
                            <m:t>4</m:t>
                          </m:r>
                        </m:sup>
                      </m:sSup>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1</m:t>
                          </m:r>
                        </m:sub>
                      </m:sSub>
                      <m:sSup>
                        <m:sSupPr>
                          <m:ctrlPr>
                            <a:rPr lang="ar-AE" sz="2400" i="1">
                              <a:latin typeface="Cambria Math" panose="02040503050406030204" pitchFamily="18" charset="0"/>
                            </a:rPr>
                          </m:ctrlPr>
                        </m:sSupPr>
                        <m:e>
                          <m:r>
                            <a:rPr lang="ar-AE" sz="2400" i="0">
                              <a:latin typeface="Cambria Math" panose="02040503050406030204" pitchFamily="18" charset="0"/>
                            </a:rPr>
                            <m:t>⋅</m:t>
                          </m:r>
                        </m:e>
                        <m:sup>
                          <m:r>
                            <a:rPr lang="ar-AE" sz="2400" i="0">
                              <a:latin typeface="Cambria Math" panose="02040503050406030204" pitchFamily="18" charset="0"/>
                            </a:rPr>
                            <m:t>8</m:t>
                          </m:r>
                        </m:sup>
                      </m:sSup>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2</m:t>
                          </m:r>
                        </m:sub>
                      </m:sSub>
                      <m:r>
                        <a:rPr lang="ar-AE" sz="2400" i="0">
                          <a:latin typeface="Cambria Math" panose="02040503050406030204" pitchFamily="18" charset="0"/>
                        </a:rPr>
                        <m:t>=</m:t>
                      </m:r>
                      <m:r>
                        <a:rPr lang="ar-AE" sz="2400" i="0">
                          <a:latin typeface="Cambria Math" panose="02040503050406030204" pitchFamily="18" charset="0"/>
                        </a:rPr>
                        <m:t>4</m:t>
                      </m:r>
                      <m:r>
                        <a:rPr lang="ar-AE" sz="2400" i="0">
                          <a:latin typeface="Cambria Math" panose="02040503050406030204" pitchFamily="18" charset="0"/>
                        </a:rPr>
                        <m:t>⋅</m:t>
                      </m:r>
                      <m:r>
                        <a:rPr lang="ar-AE" sz="2400" i="0">
                          <a:latin typeface="Cambria Math" panose="02040503050406030204" pitchFamily="18" charset="0"/>
                        </a:rPr>
                        <m:t>28</m:t>
                      </m:r>
                      <m:r>
                        <a:rPr lang="ar-AE" sz="2400" i="0">
                          <a:latin typeface="Cambria Math" panose="02040503050406030204" pitchFamily="18" charset="0"/>
                        </a:rPr>
                        <m:t>=</m:t>
                      </m:r>
                      <m:r>
                        <a:rPr lang="ar-AE" sz="2400" i="0">
                          <a:latin typeface="Cambria Math" panose="02040503050406030204" pitchFamily="18" charset="0"/>
                        </a:rPr>
                        <m:t>112</m:t>
                      </m:r>
                    </m:oMath>
                  </m:oMathPara>
                </a14:m>
                <a:endParaRPr lang="ar-AE" sz="2400" dirty="0"/>
              </a:p>
              <a:p>
                <a:pPr>
                  <a:buFont typeface="Arial" panose="020B0604020202020204" pitchFamily="34" charset="0"/>
                  <a:buChar char="•"/>
                </a:pPr>
                <a:r>
                  <a:rPr lang="ar-AE" sz="2400" b="1" dirty="0"/>
                  <a:t>2 </a:t>
                </a:r>
                <a:r>
                  <a:rPr lang="en-IN" sz="2400" b="1" dirty="0"/>
                  <a:t>yellow:</a:t>
                </a:r>
                <a:r>
                  <a:rPr lang="en-IN" sz="2400" dirty="0"/>
                  <a:t> pick 2 from 4 and 1 from 8</a:t>
                </a:r>
              </a:p>
              <a:p>
                <a:pPr>
                  <a:buNone/>
                </a:pPr>
                <a14:m>
                  <m:oMathPara xmlns:m="http://schemas.openxmlformats.org/officeDocument/2006/math">
                    <m:oMathParaPr>
                      <m:jc m:val="centerGroup"/>
                    </m:oMathParaPr>
                    <m:oMath xmlns:m="http://schemas.openxmlformats.org/officeDocument/2006/math">
                      <m:sSup>
                        <m:sSupPr>
                          <m:ctrlPr>
                            <a:rPr lang="ar-AE" sz="2400" i="1">
                              <a:latin typeface="Cambria Math" panose="02040503050406030204" pitchFamily="18" charset="0"/>
                            </a:rPr>
                          </m:ctrlPr>
                        </m:sSupPr>
                        <m:e/>
                        <m:sup>
                          <m:r>
                            <a:rPr lang="ar-AE" sz="2400">
                              <a:latin typeface="Cambria Math" panose="02040503050406030204" pitchFamily="18" charset="0"/>
                            </a:rPr>
                            <m:t>4</m:t>
                          </m:r>
                        </m:sup>
                      </m:sSup>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2</m:t>
                          </m:r>
                        </m:sub>
                      </m:sSub>
                      <m:sSup>
                        <m:sSupPr>
                          <m:ctrlPr>
                            <a:rPr lang="ar-AE" sz="2400" i="1">
                              <a:latin typeface="Cambria Math" panose="02040503050406030204" pitchFamily="18" charset="0"/>
                            </a:rPr>
                          </m:ctrlPr>
                        </m:sSupPr>
                        <m:e>
                          <m:r>
                            <a:rPr lang="ar-AE" sz="2400" i="0">
                              <a:latin typeface="Cambria Math" panose="02040503050406030204" pitchFamily="18" charset="0"/>
                            </a:rPr>
                            <m:t>⋅</m:t>
                          </m:r>
                        </m:e>
                        <m:sup>
                          <m:r>
                            <a:rPr lang="ar-AE" sz="2400" i="0">
                              <a:latin typeface="Cambria Math" panose="02040503050406030204" pitchFamily="18" charset="0"/>
                            </a:rPr>
                            <m:t>8</m:t>
                          </m:r>
                        </m:sup>
                      </m:sSup>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1</m:t>
                          </m:r>
                        </m:sub>
                      </m:sSub>
                      <m:r>
                        <a:rPr lang="ar-AE" sz="2400" i="0">
                          <a:latin typeface="Cambria Math" panose="02040503050406030204" pitchFamily="18" charset="0"/>
                        </a:rPr>
                        <m:t>=</m:t>
                      </m:r>
                      <m:r>
                        <a:rPr lang="ar-AE" sz="2400" i="0">
                          <a:latin typeface="Cambria Math" panose="02040503050406030204" pitchFamily="18" charset="0"/>
                        </a:rPr>
                        <m:t>6</m:t>
                      </m:r>
                      <m:r>
                        <a:rPr lang="ar-AE" sz="2400" i="0">
                          <a:latin typeface="Cambria Math" panose="02040503050406030204" pitchFamily="18" charset="0"/>
                        </a:rPr>
                        <m:t>⋅</m:t>
                      </m:r>
                      <m:r>
                        <a:rPr lang="ar-AE" sz="2400" i="0">
                          <a:latin typeface="Cambria Math" panose="02040503050406030204" pitchFamily="18" charset="0"/>
                        </a:rPr>
                        <m:t>8</m:t>
                      </m:r>
                      <m:r>
                        <a:rPr lang="ar-AE" sz="2400" i="0">
                          <a:latin typeface="Cambria Math" panose="02040503050406030204" pitchFamily="18" charset="0"/>
                        </a:rPr>
                        <m:t>=</m:t>
                      </m:r>
                      <m:r>
                        <a:rPr lang="ar-AE" sz="2400" i="0">
                          <a:latin typeface="Cambria Math" panose="02040503050406030204" pitchFamily="18" charset="0"/>
                        </a:rPr>
                        <m:t>48</m:t>
                      </m:r>
                    </m:oMath>
                  </m:oMathPara>
                </a14:m>
                <a:endParaRPr lang="ar-AE" sz="2400" dirty="0"/>
              </a:p>
              <a:p>
                <a:pPr>
                  <a:buNone/>
                </a:pPr>
                <a:r>
                  <a:rPr lang="en-IN" sz="2400" b="1" dirty="0"/>
                  <a:t>Step 3: Total </a:t>
                </a:r>
                <a:r>
                  <a:rPr lang="en-IN" sz="2400" b="1" dirty="0" err="1"/>
                  <a:t>favorable</a:t>
                </a:r>
                <a:r>
                  <a:rPr lang="en-IN" sz="2400" b="1" dirty="0"/>
                  <a:t> outcomes</a:t>
                </a:r>
              </a:p>
              <a:p>
                <a:pPr>
                  <a:buNone/>
                </a:pPr>
                <a14:m>
                  <m:oMathPara xmlns:m="http://schemas.openxmlformats.org/officeDocument/2006/math">
                    <m:oMathParaPr>
                      <m:jc m:val="centerGroup"/>
                    </m:oMathParaPr>
                    <m:oMath xmlns:m="http://schemas.openxmlformats.org/officeDocument/2006/math">
                      <m:r>
                        <a:rPr lang="en-IN" sz="2400">
                          <a:latin typeface="Cambria Math" panose="02040503050406030204" pitchFamily="18" charset="0"/>
                        </a:rPr>
                        <m:t>56</m:t>
                      </m:r>
                      <m:r>
                        <a:rPr lang="en-IN" sz="2400" i="0">
                          <a:latin typeface="Cambria Math" panose="02040503050406030204" pitchFamily="18" charset="0"/>
                        </a:rPr>
                        <m:t>+</m:t>
                      </m:r>
                      <m:r>
                        <a:rPr lang="en-IN" sz="2400" i="0">
                          <a:latin typeface="Cambria Math" panose="02040503050406030204" pitchFamily="18" charset="0"/>
                        </a:rPr>
                        <m:t>112</m:t>
                      </m:r>
                      <m:r>
                        <a:rPr lang="en-IN" sz="2400" i="0">
                          <a:latin typeface="Cambria Math" panose="02040503050406030204" pitchFamily="18" charset="0"/>
                        </a:rPr>
                        <m:t>+</m:t>
                      </m:r>
                      <m:r>
                        <a:rPr lang="en-IN" sz="2400" i="0">
                          <a:latin typeface="Cambria Math" panose="02040503050406030204" pitchFamily="18" charset="0"/>
                        </a:rPr>
                        <m:t>48</m:t>
                      </m:r>
                      <m:r>
                        <a:rPr lang="en-IN" sz="2400" i="0">
                          <a:latin typeface="Cambria Math" panose="02040503050406030204" pitchFamily="18" charset="0"/>
                        </a:rPr>
                        <m:t>=</m:t>
                      </m:r>
                      <m:r>
                        <a:rPr lang="en-IN" sz="2400" i="0">
                          <a:latin typeface="Cambria Math" panose="02040503050406030204" pitchFamily="18" charset="0"/>
                        </a:rPr>
                        <m:t>216</m:t>
                      </m:r>
                    </m:oMath>
                  </m:oMathPara>
                </a14:m>
                <a:endParaRPr lang="en-IN" sz="2400" dirty="0"/>
              </a:p>
              <a:p>
                <a:pPr>
                  <a:buNone/>
                </a:pPr>
                <a:r>
                  <a:rPr lang="en-IN" sz="2400" b="1" dirty="0"/>
                  <a:t>Step 4: Probability</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𝑃</m:t>
                      </m:r>
                      <m:d>
                        <m:dPr>
                          <m:ctrlPr>
                            <a:rPr lang="ar-AE" sz="2400" i="1">
                              <a:latin typeface="Cambria Math" panose="02040503050406030204" pitchFamily="18" charset="0"/>
                            </a:rPr>
                          </m:ctrlPr>
                        </m:dPr>
                        <m:e>
                          <m:r>
                            <m:rPr>
                              <m:nor/>
                            </m:rPr>
                            <a:rPr lang="en-IN" sz="2400" b="0" i="1">
                              <a:latin typeface="Cambria Math" panose="02040503050406030204" pitchFamily="18" charset="0"/>
                            </a:rPr>
                            <m:t>at</m:t>
                          </m:r>
                          <m:r>
                            <m:rPr>
                              <m:nor/>
                            </m:rPr>
                            <a:rPr lang="en-IN" sz="2400" b="0" i="1">
                              <a:latin typeface="Cambria Math" panose="02040503050406030204" pitchFamily="18" charset="0"/>
                            </a:rPr>
                            <m:t> </m:t>
                          </m:r>
                          <m:r>
                            <m:rPr>
                              <m:nor/>
                            </m:rPr>
                            <a:rPr lang="en-IN" sz="2400" b="0" i="1">
                              <a:latin typeface="Cambria Math" panose="02040503050406030204" pitchFamily="18" charset="0"/>
                            </a:rPr>
                            <m:t>most</m:t>
                          </m:r>
                          <m:r>
                            <m:rPr>
                              <m:nor/>
                            </m:rPr>
                            <a:rPr lang="en-IN" sz="2400" b="0" i="1">
                              <a:latin typeface="Cambria Math" panose="02040503050406030204" pitchFamily="18" charset="0"/>
                            </a:rPr>
                            <m:t> </m:t>
                          </m:r>
                          <m:r>
                            <m:rPr>
                              <m:nor/>
                            </m:rPr>
                            <a:rPr lang="en-IN" sz="2400" b="0" i="1">
                              <a:latin typeface="Cambria Math" panose="02040503050406030204" pitchFamily="18" charset="0"/>
                            </a:rPr>
                            <m:t>2 </m:t>
                          </m:r>
                          <m:r>
                            <m:rPr>
                              <m:nor/>
                            </m:rPr>
                            <a:rPr lang="en-IN" sz="2400" b="0" i="1">
                              <a:latin typeface="Cambria Math" panose="02040503050406030204" pitchFamily="18" charset="0"/>
                            </a:rPr>
                            <m:t>yellow</m:t>
                          </m:r>
                        </m:e>
                      </m:d>
                      <m:r>
                        <a:rPr lang="ar-AE" sz="2400" b="0" i="0">
                          <a:latin typeface="Cambria Math" panose="02040503050406030204" pitchFamily="18" charset="0"/>
                        </a:rPr>
                        <m:t>=</m:t>
                      </m:r>
                      <m:f>
                        <m:fPr>
                          <m:ctrlPr>
                            <a:rPr lang="ar-AE" sz="2400" b="0" i="1">
                              <a:latin typeface="Cambria Math" panose="02040503050406030204" pitchFamily="18" charset="0"/>
                            </a:rPr>
                          </m:ctrlPr>
                        </m:fPr>
                        <m:num>
                          <m:r>
                            <a:rPr lang="ar-AE" sz="2400" b="0" i="0">
                              <a:latin typeface="Cambria Math" panose="02040503050406030204" pitchFamily="18" charset="0"/>
                            </a:rPr>
                            <m:t>216</m:t>
                          </m:r>
                        </m:num>
                        <m:den>
                          <m:r>
                            <a:rPr lang="ar-AE" sz="2400" b="0" i="0">
                              <a:latin typeface="Cambria Math" panose="02040503050406030204" pitchFamily="18" charset="0"/>
                            </a:rPr>
                            <m:t>220</m:t>
                          </m:r>
                        </m:den>
                      </m:f>
                      <m:r>
                        <a:rPr lang="ar-AE" sz="2400" b="0" i="0">
                          <a:latin typeface="Cambria Math" panose="02040503050406030204" pitchFamily="18" charset="0"/>
                        </a:rPr>
                        <m:t>=</m:t>
                      </m:r>
                      <m:f>
                        <m:fPr>
                          <m:ctrlPr>
                            <a:rPr lang="ar-AE" sz="2400" b="0" i="1">
                              <a:latin typeface="Cambria Math" panose="02040503050406030204" pitchFamily="18" charset="0"/>
                            </a:rPr>
                          </m:ctrlPr>
                        </m:fPr>
                        <m:num>
                          <m:r>
                            <a:rPr lang="ar-AE" sz="2400" b="0" i="0">
                              <a:latin typeface="Cambria Math" panose="02040503050406030204" pitchFamily="18" charset="0"/>
                            </a:rPr>
                            <m:t>54</m:t>
                          </m:r>
                        </m:num>
                        <m:den>
                          <m:r>
                            <a:rPr lang="ar-AE" sz="2400" b="0" i="0">
                              <a:latin typeface="Cambria Math" panose="02040503050406030204" pitchFamily="18" charset="0"/>
                            </a:rPr>
                            <m:t>55</m:t>
                          </m:r>
                        </m:den>
                      </m:f>
                    </m:oMath>
                  </m:oMathPara>
                </a14:m>
                <a:endParaRPr lang="ar-AE" sz="2400" b="0" dirty="0"/>
              </a:p>
            </p:txBody>
          </p:sp>
        </mc:Choice>
        <mc:Fallback>
          <p:sp>
            <p:nvSpPr>
              <p:cNvPr id="7" name="TextBox 6">
                <a:extLst>
                  <a:ext uri="{FF2B5EF4-FFF2-40B4-BE49-F238E27FC236}">
                    <a16:creationId xmlns:a16="http://schemas.microsoft.com/office/drawing/2014/main" id="{01506BFA-5535-AE37-C0F6-17A8A5E4C462}"/>
                  </a:ext>
                </a:extLst>
              </p:cNvPr>
              <p:cNvSpPr txBox="1">
                <a:spLocks noRot="1" noChangeAspect="1" noMove="1" noResize="1" noEditPoints="1" noAdjustHandles="1" noChangeArrowheads="1" noChangeShapeType="1" noTextEdit="1"/>
              </p:cNvSpPr>
              <p:nvPr/>
            </p:nvSpPr>
            <p:spPr>
              <a:xfrm>
                <a:off x="1850011" y="1263570"/>
                <a:ext cx="6094428" cy="5448543"/>
              </a:xfrm>
              <a:prstGeom prst="rect">
                <a:avLst/>
              </a:prstGeom>
              <a:blipFill>
                <a:blip r:embed="rId2"/>
                <a:stretch>
                  <a:fillRect l="-1500" t="-895"/>
                </a:stretch>
              </a:blipFill>
            </p:spPr>
            <p:txBody>
              <a:bodyPr/>
              <a:lstStyle/>
              <a:p>
                <a:r>
                  <a:rPr lang="en-IN">
                    <a:noFill/>
                  </a:rPr>
                  <a:t> </a:t>
                </a:r>
              </a:p>
            </p:txBody>
          </p:sp>
        </mc:Fallback>
      </mc:AlternateContent>
    </p:spTree>
    <p:extLst>
      <p:ext uri="{BB962C8B-B14F-4D97-AF65-F5344CB8AC3E}">
        <p14:creationId xmlns:p14="http://schemas.microsoft.com/office/powerpoint/2010/main" val="32173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 calcmode="lin" valueType="num">
                                      <p:cBhvr additive="base">
                                        <p:cTn id="3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 calcmode="lin" valueType="num">
                                      <p:cBhvr additive="base">
                                        <p:cTn id="35"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 calcmode="lin" valueType="num">
                                      <p:cBhvr additive="base">
                                        <p:cTn id="3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 calcmode="lin" valueType="num">
                                      <p:cBhvr additive="base">
                                        <p:cTn id="4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 calcmode="lin" valueType="num">
                                      <p:cBhvr additive="base">
                                        <p:cTn id="4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7">
                                            <p:txEl>
                                              <p:pRg st="11" end="11"/>
                                            </p:txEl>
                                          </p:spTgt>
                                        </p:tgtEl>
                                        <p:attrNameLst>
                                          <p:attrName>style.visibility</p:attrName>
                                        </p:attrNameLst>
                                      </p:cBhvr>
                                      <p:to>
                                        <p:strVal val="visible"/>
                                      </p:to>
                                    </p:set>
                                    <p:anim calcmode="lin" valueType="num">
                                      <p:cBhvr additive="base">
                                        <p:cTn id="51"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anim calcmode="lin" valueType="num">
                                      <p:cBhvr additive="base">
                                        <p:cTn id="55"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3E9E72-1A5F-2293-C5C9-76BFB6738ED7}"/>
              </a:ext>
            </a:extLst>
          </p:cNvPr>
          <p:cNvSpPr txBox="1"/>
          <p:nvPr/>
        </p:nvSpPr>
        <p:spPr>
          <a:xfrm>
            <a:off x="351541" y="1322930"/>
            <a:ext cx="11488918" cy="4893647"/>
          </a:xfrm>
          <a:prstGeom prst="rect">
            <a:avLst/>
          </a:prstGeom>
          <a:noFill/>
        </p:spPr>
        <p:txBody>
          <a:bodyPr wrap="square">
            <a:spAutoFit/>
          </a:bodyPr>
          <a:lstStyle/>
          <a:p>
            <a:r>
              <a:rPr lang="en-IN" sz="2400" dirty="0"/>
              <a:t>1. An urn consists of some green, red and black balls. Total number of balls in the urn is 15. If two balls are picked, Probability that the two balls being green is 2/21. Now one ball is picked from the urn, find the probability that the ball is either red or black.</a:t>
            </a:r>
          </a:p>
          <a:p>
            <a:endParaRPr lang="en-IN" sz="2400" dirty="0"/>
          </a:p>
          <a:p>
            <a:r>
              <a:rPr lang="en-IN" sz="2400" dirty="0"/>
              <a:t>A. Cannot be determined</a:t>
            </a:r>
          </a:p>
          <a:p>
            <a:endParaRPr lang="en-IN" sz="2400" dirty="0"/>
          </a:p>
          <a:p>
            <a:r>
              <a:rPr lang="en-IN" sz="2400" dirty="0"/>
              <a:t>B. 2/15</a:t>
            </a:r>
          </a:p>
          <a:p>
            <a:endParaRPr lang="en-IN" sz="2400" dirty="0"/>
          </a:p>
          <a:p>
            <a:r>
              <a:rPr lang="en-IN" sz="2400" dirty="0"/>
              <a:t>C. 1/5</a:t>
            </a:r>
          </a:p>
          <a:p>
            <a:endParaRPr lang="en-IN" sz="2400" dirty="0"/>
          </a:p>
          <a:p>
            <a:r>
              <a:rPr lang="en-IN" sz="2400" dirty="0"/>
              <a:t>D. 1/10</a:t>
            </a:r>
          </a:p>
          <a:p>
            <a:endParaRPr lang="en-IN" sz="2400" dirty="0"/>
          </a:p>
          <a:p>
            <a:r>
              <a:rPr lang="en-IN" sz="2400" dirty="0"/>
              <a:t>E. 2/3</a:t>
            </a:r>
          </a:p>
        </p:txBody>
      </p:sp>
      <p:sp>
        <p:nvSpPr>
          <p:cNvPr id="6" name="TextBox 5">
            <a:extLst>
              <a:ext uri="{FF2B5EF4-FFF2-40B4-BE49-F238E27FC236}">
                <a16:creationId xmlns:a16="http://schemas.microsoft.com/office/drawing/2014/main" id="{6E4A03D8-2832-0CCD-B414-C83AB0B06ED0}"/>
              </a:ext>
            </a:extLst>
          </p:cNvPr>
          <p:cNvSpPr txBox="1"/>
          <p:nvPr/>
        </p:nvSpPr>
        <p:spPr>
          <a:xfrm>
            <a:off x="1197203" y="504334"/>
            <a:ext cx="10162095" cy="769441"/>
          </a:xfrm>
          <a:prstGeom prst="rect">
            <a:avLst/>
          </a:prstGeom>
          <a:noFill/>
        </p:spPr>
        <p:txBody>
          <a:bodyPr wrap="square" rtlCol="0">
            <a:spAutoFit/>
          </a:bodyPr>
          <a:lstStyle/>
          <a:p>
            <a:pPr algn="ctr"/>
            <a:r>
              <a:rPr lang="en-US" sz="4400" dirty="0">
                <a:solidFill>
                  <a:schemeClr val="accent1"/>
                </a:solidFill>
              </a:rPr>
              <a:t>PRACTISE QUESTIONS </a:t>
            </a:r>
            <a:endParaRPr lang="en-IN" sz="4400" dirty="0">
              <a:solidFill>
                <a:schemeClr val="accent1"/>
              </a:solidFill>
            </a:endParaRPr>
          </a:p>
        </p:txBody>
      </p:sp>
    </p:spTree>
    <p:extLst>
      <p:ext uri="{BB962C8B-B14F-4D97-AF65-F5344CB8AC3E}">
        <p14:creationId xmlns:p14="http://schemas.microsoft.com/office/powerpoint/2010/main" val="3200455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3826D1C-FFB8-0D3F-6D9C-39177F2D0387}"/>
                  </a:ext>
                </a:extLst>
              </p:cNvPr>
              <p:cNvSpPr txBox="1"/>
              <p:nvPr/>
            </p:nvSpPr>
            <p:spPr>
              <a:xfrm>
                <a:off x="322869" y="147573"/>
                <a:ext cx="6094428" cy="2066463"/>
              </a:xfrm>
              <a:prstGeom prst="rect">
                <a:avLst/>
              </a:prstGeom>
              <a:noFill/>
            </p:spPr>
            <p:txBody>
              <a:bodyPr wrap="square">
                <a:spAutoFit/>
              </a:bodyPr>
              <a:lstStyle/>
              <a:p>
                <a:pPr>
                  <a:buNone/>
                </a:pPr>
                <a:r>
                  <a:rPr lang="en-IN" sz="2000" b="1" dirty="0">
                    <a:solidFill>
                      <a:schemeClr val="accent1"/>
                    </a:solidFill>
                  </a:rPr>
                  <a:t>Given:</a:t>
                </a:r>
              </a:p>
              <a:p>
                <a:pPr>
                  <a:buFont typeface="Arial" panose="020B0604020202020204" pitchFamily="34" charset="0"/>
                  <a:buChar char="•"/>
                </a:pPr>
                <a:r>
                  <a:rPr lang="en-IN" sz="2000" dirty="0">
                    <a:solidFill>
                      <a:schemeClr val="accent1"/>
                    </a:solidFill>
                  </a:rPr>
                  <a:t>Total balls = 15</a:t>
                </a:r>
              </a:p>
              <a:p>
                <a:pPr>
                  <a:buFont typeface="Arial" panose="020B0604020202020204" pitchFamily="34" charset="0"/>
                  <a:buChar char="•"/>
                </a:pPr>
                <a:r>
                  <a:rPr lang="en-IN" sz="2000" dirty="0">
                    <a:solidFill>
                      <a:schemeClr val="accent1"/>
                    </a:solidFill>
                  </a:rPr>
                  <a:t>Balls are </a:t>
                </a:r>
                <a:r>
                  <a:rPr lang="en-IN" sz="2000" b="1" dirty="0">
                    <a:solidFill>
                      <a:schemeClr val="accent1"/>
                    </a:solidFill>
                  </a:rPr>
                  <a:t>green (G)</a:t>
                </a:r>
                <a:r>
                  <a:rPr lang="en-IN" sz="2000" dirty="0">
                    <a:solidFill>
                      <a:schemeClr val="accent1"/>
                    </a:solidFill>
                  </a:rPr>
                  <a:t>, red (R), and black (B)</a:t>
                </a:r>
              </a:p>
              <a:p>
                <a:pPr>
                  <a:buFont typeface="Arial" panose="020B0604020202020204" pitchFamily="34" charset="0"/>
                  <a:buChar char="•"/>
                </a:pPr>
                <a:r>
                  <a:rPr lang="en-IN" sz="2000" dirty="0">
                    <a:solidFill>
                      <a:schemeClr val="accent1"/>
                    </a:solidFill>
                  </a:rPr>
                  <a:t>Probability of picking 2 green balls = </a:t>
                </a:r>
                <a14:m>
                  <m:oMath xmlns:m="http://schemas.openxmlformats.org/officeDocument/2006/math">
                    <m:f>
                      <m:fPr>
                        <m:ctrlPr>
                          <a:rPr lang="ar-AE" sz="2000" i="1">
                            <a:solidFill>
                              <a:schemeClr val="accent1"/>
                            </a:solidFill>
                            <a:latin typeface="Cambria Math" panose="02040503050406030204" pitchFamily="18" charset="0"/>
                          </a:rPr>
                        </m:ctrlPr>
                      </m:fPr>
                      <m:num>
                        <m:r>
                          <a:rPr lang="ar-AE" sz="2000">
                            <a:solidFill>
                              <a:schemeClr val="accent1"/>
                            </a:solidFill>
                            <a:latin typeface="Cambria Math" panose="02040503050406030204" pitchFamily="18" charset="0"/>
                          </a:rPr>
                          <m:t>2</m:t>
                        </m:r>
                      </m:num>
                      <m:den>
                        <m:r>
                          <a:rPr lang="ar-AE" sz="2000" i="0">
                            <a:solidFill>
                              <a:schemeClr val="accent1"/>
                            </a:solidFill>
                            <a:latin typeface="Cambria Math" panose="02040503050406030204" pitchFamily="18" charset="0"/>
                          </a:rPr>
                          <m:t>21</m:t>
                        </m:r>
                      </m:den>
                    </m:f>
                  </m:oMath>
                </a14:m>
                <a:endParaRPr lang="ar-AE" sz="2000" dirty="0">
                  <a:solidFill>
                    <a:schemeClr val="accent1"/>
                  </a:solidFill>
                </a:endParaRPr>
              </a:p>
              <a:p>
                <a:pPr>
                  <a:buNone/>
                </a:pPr>
                <a:r>
                  <a:rPr lang="en-IN" sz="2000" dirty="0">
                    <a:solidFill>
                      <a:schemeClr val="accent1"/>
                    </a:solidFill>
                  </a:rPr>
                  <a:t>We are asked: </a:t>
                </a:r>
                <a:r>
                  <a:rPr lang="en-IN" sz="2000" b="1" dirty="0">
                    <a:solidFill>
                      <a:schemeClr val="accent1"/>
                    </a:solidFill>
                  </a:rPr>
                  <a:t>Probability that a single picked ball is red or black.</a:t>
                </a:r>
                <a:endParaRPr lang="en-IN" sz="2000" dirty="0">
                  <a:solidFill>
                    <a:schemeClr val="accent1"/>
                  </a:solidFill>
                </a:endParaRPr>
              </a:p>
            </p:txBody>
          </p:sp>
        </mc:Choice>
        <mc:Fallback>
          <p:sp>
            <p:nvSpPr>
              <p:cNvPr id="5" name="TextBox 4">
                <a:extLst>
                  <a:ext uri="{FF2B5EF4-FFF2-40B4-BE49-F238E27FC236}">
                    <a16:creationId xmlns:a16="http://schemas.microsoft.com/office/drawing/2014/main" id="{13826D1C-FFB8-0D3F-6D9C-39177F2D0387}"/>
                  </a:ext>
                </a:extLst>
              </p:cNvPr>
              <p:cNvSpPr txBox="1">
                <a:spLocks noRot="1" noChangeAspect="1" noMove="1" noResize="1" noEditPoints="1" noAdjustHandles="1" noChangeArrowheads="1" noChangeShapeType="1" noTextEdit="1"/>
              </p:cNvSpPr>
              <p:nvPr/>
            </p:nvSpPr>
            <p:spPr>
              <a:xfrm>
                <a:off x="322869" y="147573"/>
                <a:ext cx="6094428" cy="2066463"/>
              </a:xfrm>
              <a:prstGeom prst="rect">
                <a:avLst/>
              </a:prstGeom>
              <a:blipFill>
                <a:blip r:embed="rId2"/>
                <a:stretch>
                  <a:fillRect l="-1100" t="-1475" r="-400" b="-4425"/>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DFE09F8-4851-7A41-ADB7-F09A1AB76C4E}"/>
                  </a:ext>
                </a:extLst>
              </p:cNvPr>
              <p:cNvSpPr txBox="1"/>
              <p:nvPr/>
            </p:nvSpPr>
            <p:spPr>
              <a:xfrm>
                <a:off x="6591693" y="147573"/>
                <a:ext cx="6094428" cy="6710427"/>
              </a:xfrm>
              <a:prstGeom prst="rect">
                <a:avLst/>
              </a:prstGeom>
              <a:noFill/>
            </p:spPr>
            <p:txBody>
              <a:bodyPr wrap="square">
                <a:spAutoFit/>
              </a:bodyPr>
              <a:lstStyle/>
              <a:p>
                <a:pPr>
                  <a:buNone/>
                </a:pPr>
                <a:r>
                  <a:rPr lang="en-IN" b="1" dirty="0"/>
                  <a:t>Step 1: Let the number of green balls = g</a:t>
                </a:r>
              </a:p>
              <a:p>
                <a:pPr>
                  <a:buNone/>
                </a:pPr>
                <a:r>
                  <a:rPr lang="en-IN" dirty="0"/>
                  <a:t>The probability of picking </a:t>
                </a:r>
                <a:r>
                  <a:rPr lang="en-IN" b="1" dirty="0"/>
                  <a:t>2 green balls</a:t>
                </a:r>
                <a:r>
                  <a:rPr lang="en-IN" dirty="0"/>
                  <a:t> is: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ar-AE" b="0" i="1">
                              <a:latin typeface="Cambria Math" panose="02040503050406030204" pitchFamily="18" charset="0"/>
                            </a:rPr>
                            <m:t>2 </m:t>
                          </m:r>
                          <m:r>
                            <m:rPr>
                              <m:nor/>
                            </m:rPr>
                            <a:rPr lang="en-IN" b="0" i="1">
                              <a:latin typeface="Cambria Math" panose="02040503050406030204" pitchFamily="18" charset="0"/>
                            </a:rPr>
                            <m:t>green</m:t>
                          </m:r>
                        </m:e>
                      </m:d>
                      <m:r>
                        <a:rPr lang="ar-AE" b="0" i="0">
                          <a:latin typeface="Cambria Math" panose="02040503050406030204" pitchFamily="18" charset="0"/>
                        </a:rPr>
                        <m:t>=</m:t>
                      </m:r>
                      <m:f>
                        <m:fPr>
                          <m:ctrlPr>
                            <a:rPr lang="ar-AE" b="0" i="1">
                              <a:latin typeface="Cambria Math" panose="02040503050406030204" pitchFamily="18" charset="0"/>
                            </a:rPr>
                          </m:ctrlPr>
                        </m:fPr>
                        <m:num>
                          <m:sSup>
                            <m:sSupPr>
                              <m:ctrlPr>
                                <a:rPr lang="ar-AE" b="0" i="1">
                                  <a:latin typeface="Cambria Math" panose="02040503050406030204" pitchFamily="18" charset="0"/>
                                </a:rPr>
                              </m:ctrlPr>
                            </m:sSupPr>
                            <m:e/>
                            <m:sup>
                              <m:r>
                                <a:rPr lang="ar-AE" b="0" i="1">
                                  <a:latin typeface="Cambria Math" panose="02040503050406030204" pitchFamily="18" charset="0"/>
                                </a:rPr>
                                <m:t>𝑔</m:t>
                              </m:r>
                            </m:sup>
                          </m:sSup>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2</m:t>
                              </m:r>
                            </m:sub>
                          </m:sSub>
                        </m:num>
                        <m:den>
                          <m:sSup>
                            <m:sSupPr>
                              <m:ctrlPr>
                                <a:rPr lang="ar-AE" b="0" i="1">
                                  <a:latin typeface="Cambria Math" panose="02040503050406030204" pitchFamily="18" charset="0"/>
                                </a:rPr>
                              </m:ctrlPr>
                            </m:sSupPr>
                            <m:e/>
                            <m:sup>
                              <m:r>
                                <a:rPr lang="ar-AE" b="0" i="0">
                                  <a:latin typeface="Cambria Math" panose="02040503050406030204" pitchFamily="18" charset="0"/>
                                </a:rPr>
                                <m:t>15</m:t>
                              </m:r>
                            </m:sup>
                          </m:sSup>
                          <m:sSub>
                            <m:sSubPr>
                              <m:ctrlPr>
                                <a:rPr lang="ar-AE" b="0" i="1">
                                  <a:latin typeface="Cambria Math" panose="02040503050406030204" pitchFamily="18" charset="0"/>
                                </a:rPr>
                              </m:ctrlPr>
                            </m:sSubPr>
                            <m:e>
                              <m:r>
                                <a:rPr lang="ar-AE" b="0" i="1">
                                  <a:latin typeface="Cambria Math" panose="02040503050406030204" pitchFamily="18" charset="0"/>
                                </a:rPr>
                                <m:t>𝐶</m:t>
                              </m:r>
                            </m:e>
                            <m:sub>
                              <m:r>
                                <a:rPr lang="ar-AE" b="0" i="0">
                                  <a:latin typeface="Cambria Math" panose="02040503050406030204" pitchFamily="18" charset="0"/>
                                </a:rPr>
                                <m:t>2</m:t>
                              </m:r>
                            </m:sub>
                          </m:sSub>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2</m:t>
                          </m:r>
                        </m:num>
                        <m:den>
                          <m:r>
                            <a:rPr lang="ar-AE" b="0" i="0">
                              <a:latin typeface="Cambria Math" panose="02040503050406030204" pitchFamily="18" charset="0"/>
                            </a:rPr>
                            <m:t>21</m:t>
                          </m:r>
                        </m:den>
                      </m:f>
                    </m:oMath>
                  </m:oMathPara>
                </a14:m>
                <a:endParaRPr lang="ar-AE" b="0" dirty="0"/>
              </a:p>
              <a:p>
                <a:pPr>
                  <a:buNone/>
                </a:pPr>
                <a:r>
                  <a:rPr lang="en-IN" dirty="0"/>
                  <a:t>We know:</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a:latin typeface="Cambria Math" panose="02040503050406030204" pitchFamily="18" charset="0"/>
                            </a:rPr>
                            <m:t>15</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15</m:t>
                          </m:r>
                          <m:r>
                            <a:rPr lang="ar-AE" i="0">
                              <a:latin typeface="Cambria Math" panose="02040503050406030204" pitchFamily="18" charset="0"/>
                            </a:rPr>
                            <m:t>⋅</m:t>
                          </m:r>
                          <m:r>
                            <a:rPr lang="ar-AE" i="0">
                              <a:latin typeface="Cambria Math" panose="02040503050406030204" pitchFamily="18" charset="0"/>
                            </a:rPr>
                            <m:t>14</m:t>
                          </m:r>
                        </m:num>
                        <m:den>
                          <m:r>
                            <a:rPr lang="ar-AE" i="0">
                              <a:latin typeface="Cambria Math" panose="02040503050406030204" pitchFamily="18" charset="0"/>
                            </a:rPr>
                            <m:t>2</m:t>
                          </m:r>
                        </m:den>
                      </m:f>
                      <m:r>
                        <a:rPr lang="ar-AE" i="0">
                          <a:latin typeface="Cambria Math" panose="02040503050406030204" pitchFamily="18" charset="0"/>
                        </a:rPr>
                        <m:t>=</m:t>
                      </m:r>
                      <m:r>
                        <a:rPr lang="ar-AE" i="0">
                          <a:latin typeface="Cambria Math" panose="02040503050406030204" pitchFamily="18" charset="0"/>
                        </a:rPr>
                        <m:t>105</m:t>
                      </m:r>
                    </m:oMath>
                  </m:oMathPara>
                </a14:m>
                <a:endParaRPr lang="ar-AE" dirty="0"/>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sup>
                          <m:r>
                            <a:rPr lang="ar-AE" i="1">
                              <a:latin typeface="Cambria Math" panose="02040503050406030204" pitchFamily="18" charset="0"/>
                            </a:rPr>
                            <m:t>𝑔</m:t>
                          </m:r>
                        </m:sup>
                      </m:sSup>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𝑔</m:t>
                              </m:r>
                              <m:r>
                                <a:rPr lang="ar-AE" i="0">
                                  <a:latin typeface="Cambria Math" panose="02040503050406030204" pitchFamily="18" charset="0"/>
                                </a:rPr>
                                <m:t>−</m:t>
                              </m:r>
                              <m:r>
                                <a:rPr lang="ar-AE" i="0">
                                  <a:latin typeface="Cambria Math" panose="02040503050406030204" pitchFamily="18" charset="0"/>
                                </a:rPr>
                                <m:t>1</m:t>
                              </m:r>
                            </m:e>
                          </m:d>
                        </m:num>
                        <m:den>
                          <m:r>
                            <a:rPr lang="ar-AE" i="0">
                              <a:latin typeface="Cambria Math" panose="02040503050406030204" pitchFamily="18" charset="0"/>
                            </a:rPr>
                            <m:t>2</m:t>
                          </m:r>
                        </m:den>
                      </m:f>
                    </m:oMath>
                  </m:oMathPara>
                </a14:m>
                <a:endParaRPr lang="ar-AE" dirty="0"/>
              </a:p>
              <a:p>
                <a:pPr>
                  <a:buNone/>
                </a:pPr>
                <a:r>
                  <a:rPr lang="en-IN" dirty="0"/>
                  <a:t>So:</a:t>
                </a:r>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f>
                            <m:fPr>
                              <m:ctrlPr>
                                <a:rPr lang="ar-AE" i="1">
                                  <a:latin typeface="Cambria Math" panose="02040503050406030204" pitchFamily="18" charset="0"/>
                                </a:rPr>
                              </m:ctrlPr>
                            </m:fPr>
                            <m:num>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𝑔</m:t>
                                  </m:r>
                                  <m:r>
                                    <a:rPr lang="ar-AE" i="0">
                                      <a:latin typeface="Cambria Math" panose="02040503050406030204" pitchFamily="18" charset="0"/>
                                    </a:rPr>
                                    <m:t>−</m:t>
                                  </m:r>
                                  <m:r>
                                    <a:rPr lang="ar-AE" i="0">
                                      <a:latin typeface="Cambria Math" panose="02040503050406030204" pitchFamily="18" charset="0"/>
                                    </a:rPr>
                                    <m:t>1</m:t>
                                  </m:r>
                                </m:e>
                              </m:d>
                            </m:num>
                            <m:den>
                              <m:r>
                                <a:rPr lang="ar-AE" i="0">
                                  <a:latin typeface="Cambria Math" panose="02040503050406030204" pitchFamily="18" charset="0"/>
                                </a:rPr>
                                <m:t>2</m:t>
                              </m:r>
                            </m:den>
                          </m:f>
                        </m:num>
                        <m:den>
                          <m:r>
                            <a:rPr lang="ar-AE" i="0">
                              <a:latin typeface="Cambria Math" panose="02040503050406030204" pitchFamily="18" charset="0"/>
                            </a:rPr>
                            <m:t>105</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21</m:t>
                          </m:r>
                        </m:den>
                      </m:f>
                    </m:oMath>
                  </m:oMathPara>
                </a14:m>
                <a:endParaRPr lang="ar-AE" dirty="0"/>
              </a:p>
              <a:p>
                <a:pPr>
                  <a:buNone/>
                </a:pPr>
                <a:r>
                  <a:rPr lang="en-IN" dirty="0"/>
                  <a:t>Multiply both sides by 105:</a:t>
                </a:r>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𝑔</m:t>
                              </m:r>
                              <m:r>
                                <a:rPr lang="ar-AE" i="0">
                                  <a:latin typeface="Cambria Math" panose="02040503050406030204" pitchFamily="18" charset="0"/>
                                </a:rPr>
                                <m:t>−</m:t>
                              </m:r>
                              <m:r>
                                <a:rPr lang="ar-AE" i="0">
                                  <a:latin typeface="Cambria Math" panose="02040503050406030204" pitchFamily="18" charset="0"/>
                                </a:rPr>
                                <m:t>1</m:t>
                              </m:r>
                            </m:e>
                          </m:d>
                        </m:num>
                        <m:den>
                          <m:r>
                            <a:rPr lang="ar-AE" i="0">
                              <a:latin typeface="Cambria Math" panose="02040503050406030204" pitchFamily="18" charset="0"/>
                            </a:rPr>
                            <m:t>2</m:t>
                          </m:r>
                        </m:den>
                      </m:f>
                      <m:r>
                        <a:rPr lang="ar-AE" i="0">
                          <a:latin typeface="Cambria Math" panose="02040503050406030204" pitchFamily="18" charset="0"/>
                        </a:rPr>
                        <m:t>=</m:t>
                      </m:r>
                      <m:r>
                        <a:rPr lang="ar-AE" i="0">
                          <a:latin typeface="Cambria Math" panose="02040503050406030204" pitchFamily="18" charset="0"/>
                        </a:rPr>
                        <m:t>105</m:t>
                      </m:r>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21</m:t>
                          </m:r>
                        </m:den>
                      </m:f>
                      <m:r>
                        <a:rPr lang="ar-AE" i="0">
                          <a:latin typeface="Cambria Math" panose="02040503050406030204" pitchFamily="18" charset="0"/>
                        </a:rPr>
                        <m:t>=</m:t>
                      </m:r>
                      <m:r>
                        <a:rPr lang="ar-AE" i="0">
                          <a:latin typeface="Cambria Math" panose="02040503050406030204" pitchFamily="18" charset="0"/>
                        </a:rPr>
                        <m:t>105</m:t>
                      </m:r>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21</m:t>
                          </m:r>
                        </m:den>
                      </m:f>
                      <m:r>
                        <a:rPr lang="ar-AE" i="0">
                          <a:latin typeface="Cambria Math" panose="02040503050406030204" pitchFamily="18" charset="0"/>
                        </a:rPr>
                        <m:t>=</m:t>
                      </m:r>
                      <m:r>
                        <a:rPr lang="ar-AE" i="0">
                          <a:latin typeface="Cambria Math" panose="02040503050406030204" pitchFamily="18" charset="0"/>
                        </a:rPr>
                        <m:t>10</m:t>
                      </m:r>
                    </m:oMath>
                  </m:oMathPara>
                </a14:m>
                <a:endParaRPr lang="ar-AE" dirty="0"/>
              </a:p>
              <a:p>
                <a:pPr>
                  <a:buNone/>
                </a:pPr>
                <a:r>
                  <a:rPr lang="en-IN" dirty="0"/>
                  <a:t>Multiply both sides by 2:</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𝑔</m:t>
                          </m:r>
                          <m:r>
                            <a:rPr lang="ar-AE" i="0">
                              <a:latin typeface="Cambria Math" panose="02040503050406030204" pitchFamily="18" charset="0"/>
                            </a:rPr>
                            <m:t>−</m:t>
                          </m:r>
                          <m:r>
                            <a:rPr lang="ar-AE" i="0">
                              <a:latin typeface="Cambria Math" panose="02040503050406030204" pitchFamily="18" charset="0"/>
                            </a:rPr>
                            <m:t>1</m:t>
                          </m:r>
                        </m:e>
                      </m:d>
                      <m:r>
                        <a:rPr lang="ar-AE" i="0">
                          <a:latin typeface="Cambria Math" panose="02040503050406030204" pitchFamily="18" charset="0"/>
                        </a:rPr>
                        <m:t>=</m:t>
                      </m:r>
                      <m:r>
                        <a:rPr lang="ar-AE" i="0">
                          <a:latin typeface="Cambria Math" panose="02040503050406030204" pitchFamily="18" charset="0"/>
                        </a:rPr>
                        <m:t>20</m:t>
                      </m:r>
                    </m:oMath>
                  </m:oMathPara>
                </a14:m>
                <a:endParaRPr lang="ar-AE" dirty="0"/>
              </a:p>
              <a:p>
                <a:pPr>
                  <a:buNone/>
                </a:pPr>
                <a:r>
                  <a:rPr lang="en-IN" dirty="0"/>
                  <a:t>Solve the quadratic:</a:t>
                </a:r>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𝑔</m:t>
                          </m:r>
                        </m:e>
                        <m:sup>
                          <m:r>
                            <a:rPr lang="ar-AE" i="0">
                              <a:latin typeface="Cambria Math" panose="02040503050406030204" pitchFamily="18" charset="0"/>
                            </a:rPr>
                            <m:t>2</m:t>
                          </m:r>
                        </m:sup>
                      </m:sSup>
                      <m:r>
                        <a:rPr lang="ar-AE" i="0">
                          <a:latin typeface="Cambria Math" panose="02040503050406030204" pitchFamily="18" charset="0"/>
                        </a:rPr>
                        <m:t>−</m:t>
                      </m:r>
                      <m:r>
                        <a:rPr lang="ar-AE" i="1">
                          <a:latin typeface="Cambria Math" panose="02040503050406030204" pitchFamily="18" charset="0"/>
                        </a:rPr>
                        <m:t>𝑔</m:t>
                      </m:r>
                      <m:r>
                        <a:rPr lang="ar-AE" i="0">
                          <a:latin typeface="Cambria Math" panose="02040503050406030204" pitchFamily="18" charset="0"/>
                        </a:rPr>
                        <m:t>−</m:t>
                      </m:r>
                      <m:r>
                        <a:rPr lang="ar-AE" i="0">
                          <a:latin typeface="Cambria Math" panose="02040503050406030204" pitchFamily="18" charset="0"/>
                        </a:rPr>
                        <m:t>20</m:t>
                      </m:r>
                      <m:r>
                        <a:rPr lang="ar-AE" i="0">
                          <a:latin typeface="Cambria Math" panose="02040503050406030204" pitchFamily="18" charset="0"/>
                        </a:rPr>
                        <m:t>=</m:t>
                      </m:r>
                      <m:r>
                        <a:rPr lang="ar-AE" i="0">
                          <a:latin typeface="Cambria Math" panose="02040503050406030204" pitchFamily="18" charset="0"/>
                        </a:rPr>
                        <m:t>0</m:t>
                      </m:r>
                    </m:oMath>
                  </m:oMathPara>
                </a14:m>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𝑔</m:t>
                      </m:r>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m:t>
                          </m:r>
                          <m:r>
                            <a:rPr lang="ar-AE" i="0">
                              <a:latin typeface="Cambria Math" panose="02040503050406030204" pitchFamily="18" charset="0"/>
                            </a:rPr>
                            <m:t>±</m:t>
                          </m:r>
                          <m:rad>
                            <m:radPr>
                              <m:degHide m:val="on"/>
                              <m:ctrlPr>
                                <a:rPr lang="ar-AE" i="1">
                                  <a:latin typeface="Cambria Math" panose="02040503050406030204" pitchFamily="18" charset="0"/>
                                </a:rPr>
                              </m:ctrlPr>
                            </m:radPr>
                            <m:deg/>
                            <m:e>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80</m:t>
                              </m:r>
                            </m:e>
                          </m:rad>
                        </m:num>
                        <m:den>
                          <m:r>
                            <a:rPr lang="ar-AE" i="0">
                              <a:latin typeface="Cambria Math" panose="02040503050406030204" pitchFamily="18" charset="0"/>
                            </a:rPr>
                            <m:t>2</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9</m:t>
                          </m:r>
                        </m:num>
                        <m:den>
                          <m:r>
                            <a:rPr lang="ar-AE" i="0">
                              <a:latin typeface="Cambria Math" panose="02040503050406030204" pitchFamily="18" charset="0"/>
                            </a:rPr>
                            <m:t>2</m:t>
                          </m:r>
                        </m:den>
                      </m:f>
                    </m:oMath>
                  </m:oMathPara>
                </a14:m>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𝑔</m:t>
                      </m:r>
                      <m:r>
                        <a:rPr lang="ar-AE" i="0">
                          <a:latin typeface="Cambria Math" panose="02040503050406030204" pitchFamily="18" charset="0"/>
                        </a:rPr>
                        <m:t>=</m:t>
                      </m:r>
                      <m:r>
                        <a:rPr lang="ar-AE" i="0">
                          <a:latin typeface="Cambria Math" panose="02040503050406030204" pitchFamily="18" charset="0"/>
                        </a:rPr>
                        <m:t>5</m:t>
                      </m:r>
                      <m:r>
                        <a:rPr lang="ar-AE" i="0">
                          <a:latin typeface="Cambria Math" panose="02040503050406030204" pitchFamily="18" charset="0"/>
                        </a:rPr>
                        <m:t> </m:t>
                      </m:r>
                      <m:r>
                        <m:rPr>
                          <m:nor/>
                        </m:rPr>
                        <a:rPr lang="ar-AE" b="0" i="1">
                          <a:latin typeface="Cambria Math" panose="02040503050406030204" pitchFamily="18" charset="0"/>
                        </a:rPr>
                        <m:t>(</m:t>
                      </m:r>
                      <m:r>
                        <m:rPr>
                          <m:nor/>
                        </m:rPr>
                        <a:rPr lang="en-IN" b="0" i="1">
                          <a:latin typeface="Cambria Math" panose="02040503050406030204" pitchFamily="18" charset="0"/>
                        </a:rPr>
                        <m:t>only</m:t>
                      </m:r>
                      <m:r>
                        <m:rPr>
                          <m:nor/>
                        </m:rPr>
                        <a:rPr lang="en-IN" b="0" i="1">
                          <a:latin typeface="Cambria Math" panose="02040503050406030204" pitchFamily="18" charset="0"/>
                        </a:rPr>
                        <m:t> </m:t>
                      </m:r>
                      <m:r>
                        <m:rPr>
                          <m:nor/>
                        </m:rPr>
                        <a:rPr lang="en-IN" b="0" i="1">
                          <a:latin typeface="Cambria Math" panose="02040503050406030204" pitchFamily="18" charset="0"/>
                        </a:rPr>
                        <m:t>positive</m:t>
                      </m:r>
                      <m:r>
                        <m:rPr>
                          <m:nor/>
                        </m:rPr>
                        <a:rPr lang="en-IN" b="0" i="1">
                          <a:latin typeface="Cambria Math" panose="02040503050406030204" pitchFamily="18" charset="0"/>
                        </a:rPr>
                        <m:t> </m:t>
                      </m:r>
                      <m:r>
                        <m:rPr>
                          <m:nor/>
                        </m:rPr>
                        <a:rPr lang="en-IN" b="0" i="1">
                          <a:latin typeface="Cambria Math" panose="02040503050406030204" pitchFamily="18" charset="0"/>
                        </a:rPr>
                        <m:t>solution</m:t>
                      </m:r>
                      <m:r>
                        <m:rPr>
                          <m:nor/>
                        </m:rPr>
                        <a:rPr lang="en-IN" b="0" i="1">
                          <a:latin typeface="Cambria Math" panose="02040503050406030204" pitchFamily="18" charset="0"/>
                        </a:rPr>
                        <m:t>)</m:t>
                      </m:r>
                    </m:oMath>
                  </m:oMathPara>
                </a14:m>
                <a:endParaRPr lang="en-IN" dirty="0"/>
              </a:p>
              <a:p>
                <a:pPr>
                  <a:buNone/>
                </a:pPr>
                <a:r>
                  <a:rPr lang="en-IN" dirty="0"/>
                  <a:t>So, </a:t>
                </a:r>
                <a:r>
                  <a:rPr lang="en-IN" b="1" dirty="0"/>
                  <a:t>green balls = 5</a:t>
                </a:r>
                <a:endParaRPr lang="en-IN" dirty="0"/>
              </a:p>
            </p:txBody>
          </p:sp>
        </mc:Choice>
        <mc:Fallback>
          <p:sp>
            <p:nvSpPr>
              <p:cNvPr id="7" name="TextBox 6">
                <a:extLst>
                  <a:ext uri="{FF2B5EF4-FFF2-40B4-BE49-F238E27FC236}">
                    <a16:creationId xmlns:a16="http://schemas.microsoft.com/office/drawing/2014/main" id="{0DFE09F8-4851-7A41-ADB7-F09A1AB76C4E}"/>
                  </a:ext>
                </a:extLst>
              </p:cNvPr>
              <p:cNvSpPr txBox="1">
                <a:spLocks noRot="1" noChangeAspect="1" noMove="1" noResize="1" noEditPoints="1" noAdjustHandles="1" noChangeArrowheads="1" noChangeShapeType="1" noTextEdit="1"/>
              </p:cNvSpPr>
              <p:nvPr/>
            </p:nvSpPr>
            <p:spPr>
              <a:xfrm>
                <a:off x="6591693" y="147573"/>
                <a:ext cx="6094428" cy="6710427"/>
              </a:xfrm>
              <a:prstGeom prst="rect">
                <a:avLst/>
              </a:prstGeom>
              <a:blipFill>
                <a:blip r:embed="rId3"/>
                <a:stretch>
                  <a:fillRect l="-800" t="-454" b="-454"/>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622B75B-2EDB-1247-DDE7-1050A30B776A}"/>
                  </a:ext>
                </a:extLst>
              </p:cNvPr>
              <p:cNvSpPr txBox="1"/>
              <p:nvPr/>
            </p:nvSpPr>
            <p:spPr>
              <a:xfrm>
                <a:off x="322869" y="3021032"/>
                <a:ext cx="5277439" cy="3111365"/>
              </a:xfrm>
              <a:prstGeom prst="rect">
                <a:avLst/>
              </a:prstGeom>
              <a:noFill/>
            </p:spPr>
            <p:txBody>
              <a:bodyPr wrap="square">
                <a:spAutoFit/>
              </a:bodyPr>
              <a:lstStyle/>
              <a:p>
                <a:pPr>
                  <a:buNone/>
                </a:pPr>
                <a:r>
                  <a:rPr lang="en-IN" b="1" dirty="0"/>
                  <a:t>Step 2: Find red or black balls</a:t>
                </a:r>
              </a:p>
              <a:p>
                <a:pPr>
                  <a:buNone/>
                </a:pPr>
                <a:r>
                  <a:rPr lang="en-IN" dirty="0"/>
                  <a:t>Total balls = 15, green = 5</a:t>
                </a:r>
              </a:p>
              <a:p>
                <a:pPr>
                  <a:buNone/>
                </a:pPr>
                <a14:m>
                  <m:oMathPara xmlns:m="http://schemas.openxmlformats.org/officeDocument/2006/math">
                    <m:oMathParaPr>
                      <m:jc m:val="centerGroup"/>
                    </m:oMathParaPr>
                    <m:oMath xmlns:m="http://schemas.openxmlformats.org/officeDocument/2006/math">
                      <m:r>
                        <m:rPr>
                          <m:nor/>
                        </m:rPr>
                        <a:rPr lang="en-IN" b="0"/>
                        <m:t>Red</m:t>
                      </m:r>
                      <m:r>
                        <m:rPr>
                          <m:nor/>
                        </m:rPr>
                        <a:rPr lang="en-IN" b="0" i="1"/>
                        <m:t> + </m:t>
                      </m:r>
                      <m:r>
                        <m:rPr>
                          <m:nor/>
                        </m:rPr>
                        <a:rPr lang="en-IN" b="0" i="1"/>
                        <m:t>Black</m:t>
                      </m:r>
                      <m:r>
                        <a:rPr lang="en-IN" b="0" i="0">
                          <a:latin typeface="Cambria Math" panose="02040503050406030204" pitchFamily="18" charset="0"/>
                        </a:rPr>
                        <m:t>=</m:t>
                      </m:r>
                      <m:r>
                        <a:rPr lang="en-IN" b="0" i="0">
                          <a:latin typeface="Cambria Math" panose="02040503050406030204" pitchFamily="18" charset="0"/>
                        </a:rPr>
                        <m:t>15</m:t>
                      </m:r>
                      <m:r>
                        <a:rPr lang="en-IN" b="0" i="0">
                          <a:latin typeface="Cambria Math" panose="02040503050406030204" pitchFamily="18" charset="0"/>
                        </a:rPr>
                        <m:t>−</m:t>
                      </m:r>
                      <m:r>
                        <a:rPr lang="en-IN" b="0" i="0">
                          <a:latin typeface="Cambria Math" panose="02040503050406030204" pitchFamily="18" charset="0"/>
                        </a:rPr>
                        <m:t>5</m:t>
                      </m:r>
                      <m:r>
                        <a:rPr lang="en-IN" b="0" i="0">
                          <a:latin typeface="Cambria Math" panose="02040503050406030204" pitchFamily="18" charset="0"/>
                        </a:rPr>
                        <m:t>=</m:t>
                      </m:r>
                      <m:r>
                        <a:rPr lang="en-IN" b="0" i="0">
                          <a:latin typeface="Cambria Math" panose="02040503050406030204" pitchFamily="18" charset="0"/>
                        </a:rPr>
                        <m:t>10</m:t>
                      </m:r>
                    </m:oMath>
                  </m:oMathPara>
                </a14:m>
                <a:endParaRPr lang="en-IN" b="0" dirty="0"/>
              </a:p>
              <a:p>
                <a:pPr>
                  <a:buNone/>
                </a:pPr>
                <a:br>
                  <a:rPr lang="en-IN" dirty="0"/>
                </a:br>
                <a:endParaRPr lang="en-IN" dirty="0"/>
              </a:p>
              <a:p>
                <a:pPr>
                  <a:buNone/>
                </a:pPr>
                <a:r>
                  <a:rPr lang="en-IN" b="1" dirty="0"/>
                  <a:t>Step 3: Probability of picking red or black</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Red</m:t>
                          </m:r>
                          <m:r>
                            <m:rPr>
                              <m:nor/>
                            </m:rPr>
                            <a:rPr lang="en-IN" b="0" i="1">
                              <a:latin typeface="Cambria Math" panose="02040503050406030204" pitchFamily="18" charset="0"/>
                            </a:rPr>
                            <m:t> </m:t>
                          </m:r>
                          <m:r>
                            <m:rPr>
                              <m:nor/>
                            </m:rPr>
                            <a:rPr lang="en-IN" b="0" i="1">
                              <a:latin typeface="Cambria Math" panose="02040503050406030204" pitchFamily="18" charset="0"/>
                            </a:rPr>
                            <m:t>or</m:t>
                          </m:r>
                          <m:r>
                            <m:rPr>
                              <m:nor/>
                            </m:rPr>
                            <a:rPr lang="en-IN" b="0" i="1">
                              <a:latin typeface="Cambria Math" panose="02040503050406030204" pitchFamily="18" charset="0"/>
                            </a:rPr>
                            <m:t> </m:t>
                          </m:r>
                          <m:r>
                            <m:rPr>
                              <m:nor/>
                            </m:rPr>
                            <a:rPr lang="en-IN" b="0" i="1">
                              <a:latin typeface="Cambria Math" panose="02040503050406030204" pitchFamily="18" charset="0"/>
                            </a:rPr>
                            <m:t>Black</m:t>
                          </m:r>
                        </m:e>
                      </m:d>
                      <m:r>
                        <a:rPr lang="ar-AE" b="0" i="0">
                          <a:latin typeface="Cambria Math" panose="02040503050406030204" pitchFamily="18" charset="0"/>
                        </a:rPr>
                        <m:t>=</m:t>
                      </m:r>
                      <m:f>
                        <m:fPr>
                          <m:ctrlPr>
                            <a:rPr lang="ar-AE" b="0" i="1">
                              <a:latin typeface="Cambria Math" panose="02040503050406030204" pitchFamily="18" charset="0"/>
                            </a:rPr>
                          </m:ctrlPr>
                        </m:fPr>
                        <m:num>
                          <m:r>
                            <m:rPr>
                              <m:nor/>
                            </m:rPr>
                            <a:rPr lang="en-IN" b="0" i="1">
                              <a:latin typeface="Cambria Math" panose="02040503050406030204" pitchFamily="18" charset="0"/>
                            </a:rPr>
                            <m:t>Red</m:t>
                          </m:r>
                          <m:r>
                            <m:rPr>
                              <m:nor/>
                            </m:rPr>
                            <a:rPr lang="en-IN" b="0" i="1">
                              <a:latin typeface="Cambria Math" panose="02040503050406030204" pitchFamily="18" charset="0"/>
                            </a:rPr>
                            <m:t> + </m:t>
                          </m:r>
                          <m:r>
                            <m:rPr>
                              <m:nor/>
                            </m:rPr>
                            <a:rPr lang="en-IN" b="0" i="1">
                              <a:latin typeface="Cambria Math" panose="02040503050406030204" pitchFamily="18" charset="0"/>
                            </a:rPr>
                            <m:t>Black</m:t>
                          </m:r>
                        </m:num>
                        <m:den>
                          <m:r>
                            <m:rPr>
                              <m:nor/>
                            </m:rPr>
                            <a:rPr lang="en-IN" b="0" i="1">
                              <a:latin typeface="Cambria Math" panose="02040503050406030204" pitchFamily="18" charset="0"/>
                            </a:rPr>
                            <m:t>Total</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10</m:t>
                          </m:r>
                        </m:num>
                        <m:den>
                          <m:r>
                            <a:rPr lang="ar-AE" b="0" i="0">
                              <a:latin typeface="Cambria Math" panose="02040503050406030204" pitchFamily="18" charset="0"/>
                            </a:rPr>
                            <m:t>15</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2</m:t>
                          </m:r>
                        </m:num>
                        <m:den>
                          <m:r>
                            <a:rPr lang="ar-AE" b="0" i="0">
                              <a:latin typeface="Cambria Math" panose="02040503050406030204" pitchFamily="18" charset="0"/>
                            </a:rPr>
                            <m:t>3</m:t>
                          </m:r>
                        </m:den>
                      </m:f>
                    </m:oMath>
                  </m:oMathPara>
                </a14:m>
                <a:endParaRPr lang="ar-AE" b="0" dirty="0"/>
              </a:p>
              <a:p>
                <a:pPr>
                  <a:buNone/>
                </a:pPr>
                <a:br>
                  <a:rPr lang="ar-AE" dirty="0"/>
                </a:br>
                <a:endParaRPr lang="ar-AE" dirty="0"/>
              </a:p>
              <a:p>
                <a:pPr>
                  <a:buNone/>
                </a:pPr>
                <a:r>
                  <a:rPr lang="en-IN" b="1" dirty="0"/>
                  <a:t>Answer: E. 2/3</a:t>
                </a:r>
              </a:p>
            </p:txBody>
          </p:sp>
        </mc:Choice>
        <mc:Fallback>
          <p:sp>
            <p:nvSpPr>
              <p:cNvPr id="9" name="TextBox 8">
                <a:extLst>
                  <a:ext uri="{FF2B5EF4-FFF2-40B4-BE49-F238E27FC236}">
                    <a16:creationId xmlns:a16="http://schemas.microsoft.com/office/drawing/2014/main" id="{2622B75B-2EDB-1247-DDE7-1050A30B776A}"/>
                  </a:ext>
                </a:extLst>
              </p:cNvPr>
              <p:cNvSpPr txBox="1">
                <a:spLocks noRot="1" noChangeAspect="1" noMove="1" noResize="1" noEditPoints="1" noAdjustHandles="1" noChangeArrowheads="1" noChangeShapeType="1" noTextEdit="1"/>
              </p:cNvSpPr>
              <p:nvPr/>
            </p:nvSpPr>
            <p:spPr>
              <a:xfrm>
                <a:off x="322869" y="3021032"/>
                <a:ext cx="5277439" cy="3111365"/>
              </a:xfrm>
              <a:prstGeom prst="rect">
                <a:avLst/>
              </a:prstGeom>
              <a:blipFill>
                <a:blip r:embed="rId4"/>
                <a:stretch>
                  <a:fillRect l="-1039" t="-1176" b="-2353"/>
                </a:stretch>
              </a:blipFill>
            </p:spPr>
            <p:txBody>
              <a:bodyPr/>
              <a:lstStyle/>
              <a:p>
                <a:r>
                  <a:rPr lang="en-IN">
                    <a:noFill/>
                  </a:rPr>
                  <a:t> </a:t>
                </a:r>
              </a:p>
            </p:txBody>
          </p:sp>
        </mc:Fallback>
      </mc:AlternateContent>
    </p:spTree>
    <p:extLst>
      <p:ext uri="{BB962C8B-B14F-4D97-AF65-F5344CB8AC3E}">
        <p14:creationId xmlns:p14="http://schemas.microsoft.com/office/powerpoint/2010/main" val="28289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 calcmode="lin" valueType="num">
                                      <p:cBhvr additive="base">
                                        <p:cTn id="2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 calcmode="lin" valueType="num">
                                      <p:cBhvr additive="base">
                                        <p:cTn id="3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 calcmode="lin" valueType="num">
                                      <p:cBhvr additive="base">
                                        <p:cTn id="3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 calcmode="lin" valueType="num">
                                      <p:cBhvr additive="base">
                                        <p:cTn id="4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3" end="3"/>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7">
                                            <p:txEl>
                                              <p:pRg st="4" end="4"/>
                                            </p:txEl>
                                          </p:spTgt>
                                        </p:tgtEl>
                                        <p:attrNameLst>
                                          <p:attrName>style.visibility</p:attrName>
                                        </p:attrNameLst>
                                      </p:cBhvr>
                                      <p:to>
                                        <p:strVal val="visible"/>
                                      </p:to>
                                    </p:set>
                                    <p:anim calcmode="lin" valueType="num">
                                      <p:cBhvr additive="base">
                                        <p:cTn id="4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
                                            <p:txEl>
                                              <p:pRg st="4" end="4"/>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 calcmode="lin" valueType="num">
                                      <p:cBhvr additive="base">
                                        <p:cTn id="49"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5" end="5"/>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7">
                                            <p:txEl>
                                              <p:pRg st="6" end="6"/>
                                            </p:txEl>
                                          </p:spTgt>
                                        </p:tgtEl>
                                        <p:attrNameLst>
                                          <p:attrName>style.visibility</p:attrName>
                                        </p:attrNameLst>
                                      </p:cBhvr>
                                      <p:to>
                                        <p:strVal val="visible"/>
                                      </p:to>
                                    </p:set>
                                    <p:anim calcmode="lin" valueType="num">
                                      <p:cBhvr additive="base">
                                        <p:cTn id="5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7">
                                            <p:txEl>
                                              <p:pRg st="6" end="6"/>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7">
                                            <p:txEl>
                                              <p:pRg st="7" end="7"/>
                                            </p:txEl>
                                          </p:spTgt>
                                        </p:tgtEl>
                                        <p:attrNameLst>
                                          <p:attrName>style.visibility</p:attrName>
                                        </p:attrNameLst>
                                      </p:cBhvr>
                                      <p:to>
                                        <p:strVal val="visible"/>
                                      </p:to>
                                    </p:set>
                                    <p:anim calcmode="lin" valueType="num">
                                      <p:cBhvr additive="base">
                                        <p:cTn id="5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7">
                                            <p:txEl>
                                              <p:pRg st="7" end="7"/>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7">
                                            <p:txEl>
                                              <p:pRg st="8" end="8"/>
                                            </p:txEl>
                                          </p:spTgt>
                                        </p:tgtEl>
                                        <p:attrNameLst>
                                          <p:attrName>style.visibility</p:attrName>
                                        </p:attrNameLst>
                                      </p:cBhvr>
                                      <p:to>
                                        <p:strVal val="visible"/>
                                      </p:to>
                                    </p:set>
                                    <p:anim calcmode="lin" valueType="num">
                                      <p:cBhvr additive="base">
                                        <p:cTn id="6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8" end="8"/>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7">
                                            <p:txEl>
                                              <p:pRg st="9" end="9"/>
                                            </p:txEl>
                                          </p:spTgt>
                                        </p:tgtEl>
                                        <p:attrNameLst>
                                          <p:attrName>style.visibility</p:attrName>
                                        </p:attrNameLst>
                                      </p:cBhvr>
                                      <p:to>
                                        <p:strVal val="visible"/>
                                      </p:to>
                                    </p:set>
                                    <p:anim calcmode="lin" valueType="num">
                                      <p:cBhvr additive="base">
                                        <p:cTn id="6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7">
                                            <p:txEl>
                                              <p:pRg st="9" end="9"/>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7">
                                            <p:txEl>
                                              <p:pRg st="10" end="10"/>
                                            </p:txEl>
                                          </p:spTgt>
                                        </p:tgtEl>
                                        <p:attrNameLst>
                                          <p:attrName>style.visibility</p:attrName>
                                        </p:attrNameLst>
                                      </p:cBhvr>
                                      <p:to>
                                        <p:strVal val="visible"/>
                                      </p:to>
                                    </p:set>
                                    <p:anim calcmode="lin" valueType="num">
                                      <p:cBhvr additive="base">
                                        <p:cTn id="6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7">
                                            <p:txEl>
                                              <p:pRg st="11" end="11"/>
                                            </p:txEl>
                                          </p:spTgt>
                                        </p:tgtEl>
                                        <p:attrNameLst>
                                          <p:attrName>style.visibility</p:attrName>
                                        </p:attrNameLst>
                                      </p:cBhvr>
                                      <p:to>
                                        <p:strVal val="visible"/>
                                      </p:to>
                                    </p:set>
                                    <p:anim calcmode="lin" valueType="num">
                                      <p:cBhvr additive="base">
                                        <p:cTn id="73"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7">
                                            <p:txEl>
                                              <p:pRg st="12" end="12"/>
                                            </p:txEl>
                                          </p:spTgt>
                                        </p:tgtEl>
                                        <p:attrNameLst>
                                          <p:attrName>style.visibility</p:attrName>
                                        </p:attrNameLst>
                                      </p:cBhvr>
                                      <p:to>
                                        <p:strVal val="visible"/>
                                      </p:to>
                                    </p:set>
                                    <p:anim calcmode="lin" valueType="num">
                                      <p:cBhvr additive="base">
                                        <p:cTn id="77"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7">
                                            <p:txEl>
                                              <p:pRg st="12" end="12"/>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7">
                                            <p:txEl>
                                              <p:pRg st="13" end="13"/>
                                            </p:txEl>
                                          </p:spTgt>
                                        </p:tgtEl>
                                        <p:attrNameLst>
                                          <p:attrName>style.visibility</p:attrName>
                                        </p:attrNameLst>
                                      </p:cBhvr>
                                      <p:to>
                                        <p:strVal val="visible"/>
                                      </p:to>
                                    </p:set>
                                    <p:anim calcmode="lin" valueType="num">
                                      <p:cBhvr additive="base">
                                        <p:cTn id="81"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7">
                                            <p:txEl>
                                              <p:pRg st="13" end="13"/>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7">
                                            <p:txEl>
                                              <p:pRg st="14" end="14"/>
                                            </p:txEl>
                                          </p:spTgt>
                                        </p:tgtEl>
                                        <p:attrNameLst>
                                          <p:attrName>style.visibility</p:attrName>
                                        </p:attrNameLst>
                                      </p:cBhvr>
                                      <p:to>
                                        <p:strVal val="visible"/>
                                      </p:to>
                                    </p:set>
                                    <p:anim calcmode="lin" valueType="num">
                                      <p:cBhvr additive="base">
                                        <p:cTn id="85"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7">
                                            <p:txEl>
                                              <p:pRg st="14" end="14"/>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7">
                                            <p:txEl>
                                              <p:pRg st="15" end="15"/>
                                            </p:txEl>
                                          </p:spTgt>
                                        </p:tgtEl>
                                        <p:attrNameLst>
                                          <p:attrName>style.visibility</p:attrName>
                                        </p:attrNameLst>
                                      </p:cBhvr>
                                      <p:to>
                                        <p:strVal val="visible"/>
                                      </p:to>
                                    </p:set>
                                    <p:anim calcmode="lin" valueType="num">
                                      <p:cBhvr additive="base">
                                        <p:cTn id="89" dur="500" fill="hold"/>
                                        <p:tgtEl>
                                          <p:spTgt spid="7">
                                            <p:txEl>
                                              <p:pRg st="15" end="15"/>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7">
                                            <p:txEl>
                                              <p:pRg st="15" end="15"/>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7">
                                            <p:txEl>
                                              <p:pRg st="16" end="16"/>
                                            </p:txEl>
                                          </p:spTgt>
                                        </p:tgtEl>
                                        <p:attrNameLst>
                                          <p:attrName>style.visibility</p:attrName>
                                        </p:attrNameLst>
                                      </p:cBhvr>
                                      <p:to>
                                        <p:strVal val="visible"/>
                                      </p:to>
                                    </p:set>
                                    <p:anim calcmode="lin" valueType="num">
                                      <p:cBhvr additive="base">
                                        <p:cTn id="93" dur="500" fill="hold"/>
                                        <p:tgtEl>
                                          <p:spTgt spid="7">
                                            <p:txEl>
                                              <p:pRg st="16" end="16"/>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7">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9">
                                            <p:txEl>
                                              <p:pRg st="0" end="0"/>
                                            </p:txEl>
                                          </p:spTgt>
                                        </p:tgtEl>
                                        <p:attrNameLst>
                                          <p:attrName>style.visibility</p:attrName>
                                        </p:attrNameLst>
                                      </p:cBhvr>
                                      <p:to>
                                        <p:strVal val="visible"/>
                                      </p:to>
                                    </p:set>
                                    <p:anim calcmode="lin" valueType="num">
                                      <p:cBhvr additive="base">
                                        <p:cTn id="9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9">
                                            <p:txEl>
                                              <p:pRg st="1" end="1"/>
                                            </p:txEl>
                                          </p:spTgt>
                                        </p:tgtEl>
                                        <p:attrNameLst>
                                          <p:attrName>style.visibility</p:attrName>
                                        </p:attrNameLst>
                                      </p:cBhvr>
                                      <p:to>
                                        <p:strVal val="visible"/>
                                      </p:to>
                                    </p:set>
                                    <p:anim calcmode="lin" valueType="num">
                                      <p:cBhvr additive="base">
                                        <p:cTn id="10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9">
                                            <p:txEl>
                                              <p:pRg st="2" end="2"/>
                                            </p:txEl>
                                          </p:spTgt>
                                        </p:tgtEl>
                                        <p:attrNameLst>
                                          <p:attrName>style.visibility</p:attrName>
                                        </p:attrNameLst>
                                      </p:cBhvr>
                                      <p:to>
                                        <p:strVal val="visible"/>
                                      </p:to>
                                    </p:set>
                                    <p:anim calcmode="lin" valueType="num">
                                      <p:cBhvr additive="base">
                                        <p:cTn id="10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9">
                                            <p:txEl>
                                              <p:pRg st="3" end="3"/>
                                            </p:txEl>
                                          </p:spTgt>
                                        </p:tgtEl>
                                        <p:attrNameLst>
                                          <p:attrName>style.visibility</p:attrName>
                                        </p:attrNameLst>
                                      </p:cBhvr>
                                      <p:to>
                                        <p:strVal val="visible"/>
                                      </p:to>
                                    </p:set>
                                    <p:anim calcmode="lin" valueType="num">
                                      <p:cBhvr additive="base">
                                        <p:cTn id="11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9">
                                            <p:txEl>
                                              <p:pRg st="4" end="4"/>
                                            </p:txEl>
                                          </p:spTgt>
                                        </p:tgtEl>
                                        <p:attrNameLst>
                                          <p:attrName>style.visibility</p:attrName>
                                        </p:attrNameLst>
                                      </p:cBhvr>
                                      <p:to>
                                        <p:strVal val="visible"/>
                                      </p:to>
                                    </p:set>
                                    <p:anim calcmode="lin" valueType="num">
                                      <p:cBhvr additive="base">
                                        <p:cTn id="11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9">
                                            <p:txEl>
                                              <p:pRg st="4" end="4"/>
                                            </p:txEl>
                                          </p:spTgt>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9">
                                            <p:txEl>
                                              <p:pRg st="5" end="5"/>
                                            </p:txEl>
                                          </p:spTgt>
                                        </p:tgtEl>
                                        <p:attrNameLst>
                                          <p:attrName>style.visibility</p:attrName>
                                        </p:attrNameLst>
                                      </p:cBhvr>
                                      <p:to>
                                        <p:strVal val="visible"/>
                                      </p:to>
                                    </p:set>
                                    <p:anim calcmode="lin" valueType="num">
                                      <p:cBhvr additive="base">
                                        <p:cTn id="119"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9">
                                            <p:txEl>
                                              <p:pRg st="5" end="5"/>
                                            </p:txEl>
                                          </p:spTgt>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9">
                                            <p:txEl>
                                              <p:pRg st="6" end="6"/>
                                            </p:txEl>
                                          </p:spTgt>
                                        </p:tgtEl>
                                        <p:attrNameLst>
                                          <p:attrName>style.visibility</p:attrName>
                                        </p:attrNameLst>
                                      </p:cBhvr>
                                      <p:to>
                                        <p:strVal val="visible"/>
                                      </p:to>
                                    </p:set>
                                    <p:anim calcmode="lin" valueType="num">
                                      <p:cBhvr additive="base">
                                        <p:cTn id="123"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124" dur="500" fill="hold"/>
                                        <p:tgtEl>
                                          <p:spTgt spid="9">
                                            <p:txEl>
                                              <p:pRg st="6" end="6"/>
                                            </p:txEl>
                                          </p:spTgt>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9">
                                            <p:txEl>
                                              <p:pRg st="7" end="7"/>
                                            </p:txEl>
                                          </p:spTgt>
                                        </p:tgtEl>
                                        <p:attrNameLst>
                                          <p:attrName>style.visibility</p:attrName>
                                        </p:attrNameLst>
                                      </p:cBhvr>
                                      <p:to>
                                        <p:strVal val="visible"/>
                                      </p:to>
                                    </p:set>
                                    <p:anim calcmode="lin" valueType="num">
                                      <p:cBhvr additive="base">
                                        <p:cTn id="127"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459EE4-D64A-4499-D096-A855A08BECD7}"/>
              </a:ext>
            </a:extLst>
          </p:cNvPr>
          <p:cNvSpPr txBox="1"/>
          <p:nvPr/>
        </p:nvSpPr>
        <p:spPr>
          <a:xfrm>
            <a:off x="238028" y="492626"/>
            <a:ext cx="11441782" cy="4401205"/>
          </a:xfrm>
          <a:prstGeom prst="rect">
            <a:avLst/>
          </a:prstGeom>
          <a:noFill/>
        </p:spPr>
        <p:txBody>
          <a:bodyPr wrap="square">
            <a:spAutoFit/>
          </a:bodyPr>
          <a:lstStyle/>
          <a:p>
            <a:r>
              <a:rPr lang="en-US" sz="2800" b="1" dirty="0"/>
              <a:t>2.There are three groups of fire extinguishers in a city i.e. P, Q and R. In group P there are (x-6) females and (x+21) males. In group Q, there are 3 females and 12 males whereas in group R, there are 5 females and 7 males. One person is selected at random from each group. Find the number of females in group P, if the probability of selecting all three males is 4/15. </a:t>
            </a:r>
          </a:p>
          <a:p>
            <a:r>
              <a:rPr lang="en-US" sz="2800" b="1" dirty="0"/>
              <a:t>A. 81</a:t>
            </a:r>
          </a:p>
          <a:p>
            <a:r>
              <a:rPr lang="en-US" sz="2800" b="1" dirty="0"/>
              <a:t> B. 85 </a:t>
            </a:r>
          </a:p>
          <a:p>
            <a:r>
              <a:rPr lang="en-US" sz="2800" b="1" dirty="0"/>
              <a:t>C. 83</a:t>
            </a:r>
          </a:p>
          <a:p>
            <a:r>
              <a:rPr lang="en-US" sz="2800" b="1" dirty="0"/>
              <a:t> D. 71 </a:t>
            </a:r>
          </a:p>
          <a:p>
            <a:r>
              <a:rPr lang="en-US" sz="2800" b="1" dirty="0"/>
              <a:t>E. 89.</a:t>
            </a:r>
            <a:endParaRPr lang="en-IN" sz="2800" b="1" dirty="0"/>
          </a:p>
        </p:txBody>
      </p:sp>
    </p:spTree>
    <p:extLst>
      <p:ext uri="{BB962C8B-B14F-4D97-AF65-F5344CB8AC3E}">
        <p14:creationId xmlns:p14="http://schemas.microsoft.com/office/powerpoint/2010/main" val="1368839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9CC161B-051C-9AD3-3A16-E11FB63FF11A}"/>
                  </a:ext>
                </a:extLst>
              </p:cNvPr>
              <p:cNvSpPr txBox="1"/>
              <p:nvPr/>
            </p:nvSpPr>
            <p:spPr>
              <a:xfrm>
                <a:off x="313442" y="447310"/>
                <a:ext cx="6341882" cy="2146613"/>
              </a:xfrm>
              <a:prstGeom prst="rect">
                <a:avLst/>
              </a:prstGeom>
              <a:noFill/>
            </p:spPr>
            <p:txBody>
              <a:bodyPr wrap="square">
                <a:spAutoFit/>
              </a:bodyPr>
              <a:lstStyle/>
              <a:p>
                <a:pPr>
                  <a:buNone/>
                </a:pPr>
                <a:r>
                  <a:rPr lang="en-IN" b="1" dirty="0">
                    <a:solidFill>
                      <a:schemeClr val="accent1"/>
                    </a:solidFill>
                  </a:rPr>
                  <a:t>Given:</a:t>
                </a:r>
              </a:p>
              <a:p>
                <a:pPr>
                  <a:buFont typeface="Arial" panose="020B0604020202020204" pitchFamily="34" charset="0"/>
                  <a:buChar char="•"/>
                </a:pPr>
                <a:r>
                  <a:rPr lang="en-IN" b="1" dirty="0">
                    <a:solidFill>
                      <a:schemeClr val="accent1"/>
                    </a:solidFill>
                  </a:rPr>
                  <a:t>Group P:</a:t>
                </a:r>
                <a:r>
                  <a:rPr lang="en-IN" dirty="0">
                    <a:solidFill>
                      <a:schemeClr val="accent1"/>
                    </a:solidFill>
                  </a:rPr>
                  <a:t> Females = </a:t>
                </a:r>
                <a14:m>
                  <m:oMath xmlns:m="http://schemas.openxmlformats.org/officeDocument/2006/math">
                    <m:r>
                      <a:rPr lang="en-IN" i="1">
                        <a:solidFill>
                          <a:schemeClr val="accent1"/>
                        </a:solidFill>
                        <a:latin typeface="Cambria Math" panose="02040503050406030204" pitchFamily="18" charset="0"/>
                      </a:rPr>
                      <m:t>𝑥</m:t>
                    </m:r>
                    <m:r>
                      <a:rPr lang="en-IN" i="0">
                        <a:solidFill>
                          <a:schemeClr val="accent1"/>
                        </a:solidFill>
                        <a:latin typeface="Cambria Math" panose="02040503050406030204" pitchFamily="18" charset="0"/>
                      </a:rPr>
                      <m:t>−</m:t>
                    </m:r>
                    <m:r>
                      <a:rPr lang="en-IN" i="0">
                        <a:solidFill>
                          <a:schemeClr val="accent1"/>
                        </a:solidFill>
                        <a:latin typeface="Cambria Math" panose="02040503050406030204" pitchFamily="18" charset="0"/>
                      </a:rPr>
                      <m:t>6</m:t>
                    </m:r>
                  </m:oMath>
                </a14:m>
                <a:r>
                  <a:rPr lang="en-IN" dirty="0">
                    <a:solidFill>
                      <a:schemeClr val="accent1"/>
                    </a:solidFill>
                  </a:rPr>
                  <a:t>, Males = </a:t>
                </a:r>
                <a14:m>
                  <m:oMath xmlns:m="http://schemas.openxmlformats.org/officeDocument/2006/math">
                    <m:r>
                      <a:rPr lang="en-IN" i="1">
                        <a:solidFill>
                          <a:schemeClr val="accent1"/>
                        </a:solidFill>
                        <a:latin typeface="Cambria Math" panose="02040503050406030204" pitchFamily="18" charset="0"/>
                      </a:rPr>
                      <m:t>𝑥</m:t>
                    </m:r>
                    <m:r>
                      <a:rPr lang="en-IN" i="0">
                        <a:solidFill>
                          <a:schemeClr val="accent1"/>
                        </a:solidFill>
                        <a:latin typeface="Cambria Math" panose="02040503050406030204" pitchFamily="18" charset="0"/>
                      </a:rPr>
                      <m:t>+</m:t>
                    </m:r>
                    <m:r>
                      <a:rPr lang="en-IN" i="0">
                        <a:solidFill>
                          <a:schemeClr val="accent1"/>
                        </a:solidFill>
                        <a:latin typeface="Cambria Math" panose="02040503050406030204" pitchFamily="18" charset="0"/>
                      </a:rPr>
                      <m:t>21</m:t>
                    </m:r>
                  </m:oMath>
                </a14:m>
                <a:endParaRPr lang="en-IN" dirty="0">
                  <a:solidFill>
                    <a:schemeClr val="accent1"/>
                  </a:solidFill>
                </a:endParaRPr>
              </a:p>
              <a:p>
                <a:pPr>
                  <a:buFont typeface="Arial" panose="020B0604020202020204" pitchFamily="34" charset="0"/>
                  <a:buChar char="•"/>
                </a:pPr>
                <a:r>
                  <a:rPr lang="en-IN" b="1" dirty="0">
                    <a:solidFill>
                      <a:schemeClr val="accent1"/>
                    </a:solidFill>
                  </a:rPr>
                  <a:t>Group Q:</a:t>
                </a:r>
                <a:r>
                  <a:rPr lang="en-IN" dirty="0">
                    <a:solidFill>
                      <a:schemeClr val="accent1"/>
                    </a:solidFill>
                  </a:rPr>
                  <a:t> Females = 3, Males = 12</a:t>
                </a:r>
              </a:p>
              <a:p>
                <a:pPr>
                  <a:buFont typeface="Arial" panose="020B0604020202020204" pitchFamily="34" charset="0"/>
                  <a:buChar char="•"/>
                </a:pPr>
                <a:r>
                  <a:rPr lang="en-IN" b="1" dirty="0">
                    <a:solidFill>
                      <a:schemeClr val="accent1"/>
                    </a:solidFill>
                  </a:rPr>
                  <a:t>Group R:</a:t>
                </a:r>
                <a:r>
                  <a:rPr lang="en-IN" dirty="0">
                    <a:solidFill>
                      <a:schemeClr val="accent1"/>
                    </a:solidFill>
                  </a:rPr>
                  <a:t> Females = 5, Males = 7</a:t>
                </a:r>
              </a:p>
              <a:p>
                <a:pPr>
                  <a:buFont typeface="Arial" panose="020B0604020202020204" pitchFamily="34" charset="0"/>
                  <a:buChar char="•"/>
                </a:pPr>
                <a:r>
                  <a:rPr lang="en-IN" dirty="0">
                    <a:solidFill>
                      <a:schemeClr val="accent1"/>
                    </a:solidFill>
                  </a:rPr>
                  <a:t>One person is selected from each group.</a:t>
                </a:r>
              </a:p>
              <a:p>
                <a:pPr>
                  <a:buFont typeface="Arial" panose="020B0604020202020204" pitchFamily="34" charset="0"/>
                  <a:buChar char="•"/>
                </a:pPr>
                <a:r>
                  <a:rPr lang="en-IN" dirty="0">
                    <a:solidFill>
                      <a:schemeClr val="accent1"/>
                    </a:solidFill>
                  </a:rPr>
                  <a:t>Probability of selecting </a:t>
                </a:r>
                <a:r>
                  <a:rPr lang="en-IN" b="1" dirty="0">
                    <a:solidFill>
                      <a:schemeClr val="accent1"/>
                    </a:solidFill>
                  </a:rPr>
                  <a:t>all three males</a:t>
                </a:r>
                <a:r>
                  <a:rPr lang="en-IN" dirty="0">
                    <a:solidFill>
                      <a:schemeClr val="accent1"/>
                    </a:solidFill>
                  </a:rPr>
                  <a:t> = </a:t>
                </a:r>
                <a14:m>
                  <m:oMath xmlns:m="http://schemas.openxmlformats.org/officeDocument/2006/math">
                    <m:f>
                      <m:fPr>
                        <m:ctrlPr>
                          <a:rPr lang="ar-AE" i="1">
                            <a:solidFill>
                              <a:schemeClr val="accent1"/>
                            </a:solidFill>
                            <a:latin typeface="Cambria Math" panose="02040503050406030204" pitchFamily="18" charset="0"/>
                          </a:rPr>
                        </m:ctrlPr>
                      </m:fPr>
                      <m:num>
                        <m:r>
                          <a:rPr lang="ar-AE">
                            <a:solidFill>
                              <a:schemeClr val="accent1"/>
                            </a:solidFill>
                            <a:latin typeface="Cambria Math" panose="02040503050406030204" pitchFamily="18" charset="0"/>
                          </a:rPr>
                          <m:t>4</m:t>
                        </m:r>
                      </m:num>
                      <m:den>
                        <m:r>
                          <a:rPr lang="ar-AE" i="0">
                            <a:solidFill>
                              <a:schemeClr val="accent1"/>
                            </a:solidFill>
                            <a:latin typeface="Cambria Math" panose="02040503050406030204" pitchFamily="18" charset="0"/>
                          </a:rPr>
                          <m:t>15</m:t>
                        </m:r>
                      </m:den>
                    </m:f>
                  </m:oMath>
                </a14:m>
                <a:endParaRPr lang="ar-AE" dirty="0">
                  <a:solidFill>
                    <a:schemeClr val="accent1"/>
                  </a:solidFill>
                </a:endParaRPr>
              </a:p>
              <a:p>
                <a:pPr>
                  <a:buNone/>
                </a:pPr>
                <a:r>
                  <a:rPr lang="en-IN" dirty="0">
                    <a:solidFill>
                      <a:schemeClr val="accent1"/>
                    </a:solidFill>
                  </a:rPr>
                  <a:t>We are asked: Find the number of females in group P, i.e., </a:t>
                </a:r>
                <a14:m>
                  <m:oMath xmlns:m="http://schemas.openxmlformats.org/officeDocument/2006/math">
                    <m:r>
                      <a:rPr lang="en-IN" i="1">
                        <a:solidFill>
                          <a:schemeClr val="accent1"/>
                        </a:solidFill>
                        <a:latin typeface="Cambria Math" panose="02040503050406030204" pitchFamily="18" charset="0"/>
                      </a:rPr>
                      <m:t>𝑥</m:t>
                    </m:r>
                    <m:r>
                      <a:rPr lang="en-IN" i="0">
                        <a:solidFill>
                          <a:schemeClr val="accent1"/>
                        </a:solidFill>
                        <a:latin typeface="Cambria Math" panose="02040503050406030204" pitchFamily="18" charset="0"/>
                      </a:rPr>
                      <m:t>−</m:t>
                    </m:r>
                    <m:r>
                      <a:rPr lang="en-IN" i="0">
                        <a:solidFill>
                          <a:schemeClr val="accent1"/>
                        </a:solidFill>
                        <a:latin typeface="Cambria Math" panose="02040503050406030204" pitchFamily="18" charset="0"/>
                      </a:rPr>
                      <m:t>6</m:t>
                    </m:r>
                  </m:oMath>
                </a14:m>
                <a:r>
                  <a:rPr lang="en-IN" dirty="0">
                    <a:solidFill>
                      <a:schemeClr val="accent1"/>
                    </a:solidFill>
                  </a:rPr>
                  <a:t>.</a:t>
                </a:r>
              </a:p>
            </p:txBody>
          </p:sp>
        </mc:Choice>
        <mc:Fallback>
          <p:sp>
            <p:nvSpPr>
              <p:cNvPr id="5" name="TextBox 4">
                <a:extLst>
                  <a:ext uri="{FF2B5EF4-FFF2-40B4-BE49-F238E27FC236}">
                    <a16:creationId xmlns:a16="http://schemas.microsoft.com/office/drawing/2014/main" id="{D9CC161B-051C-9AD3-3A16-E11FB63FF11A}"/>
                  </a:ext>
                </a:extLst>
              </p:cNvPr>
              <p:cNvSpPr txBox="1">
                <a:spLocks noRot="1" noChangeAspect="1" noMove="1" noResize="1" noEditPoints="1" noAdjustHandles="1" noChangeArrowheads="1" noChangeShapeType="1" noTextEdit="1"/>
              </p:cNvSpPr>
              <p:nvPr/>
            </p:nvSpPr>
            <p:spPr>
              <a:xfrm>
                <a:off x="313442" y="447310"/>
                <a:ext cx="6341882" cy="2146613"/>
              </a:xfrm>
              <a:prstGeom prst="rect">
                <a:avLst/>
              </a:prstGeom>
              <a:blipFill>
                <a:blip r:embed="rId2"/>
                <a:stretch>
                  <a:fillRect l="-768" t="-1416" b="-3399"/>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66799C1-1EFB-5512-AD13-4C7B75CEC730}"/>
                  </a:ext>
                </a:extLst>
              </p:cNvPr>
              <p:cNvSpPr txBox="1"/>
              <p:nvPr/>
            </p:nvSpPr>
            <p:spPr>
              <a:xfrm>
                <a:off x="228601" y="2728304"/>
                <a:ext cx="6094428" cy="2524794"/>
              </a:xfrm>
              <a:prstGeom prst="rect">
                <a:avLst/>
              </a:prstGeom>
              <a:noFill/>
            </p:spPr>
            <p:txBody>
              <a:bodyPr wrap="square">
                <a:spAutoFit/>
              </a:bodyPr>
              <a:lstStyle/>
              <a:p>
                <a:pPr>
                  <a:buNone/>
                </a:pPr>
                <a:r>
                  <a:rPr lang="en-IN" b="1" dirty="0"/>
                  <a:t>Step 1: Probability formula</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all</m:t>
                          </m:r>
                          <m:r>
                            <m:rPr>
                              <m:nor/>
                            </m:rPr>
                            <a:rPr lang="en-IN" b="0" i="1">
                              <a:latin typeface="Cambria Math" panose="02040503050406030204" pitchFamily="18" charset="0"/>
                            </a:rPr>
                            <m:t> </m:t>
                          </m:r>
                          <m:r>
                            <m:rPr>
                              <m:nor/>
                            </m:rPr>
                            <a:rPr lang="en-IN" b="0" i="1">
                              <a:latin typeface="Cambria Math" panose="02040503050406030204" pitchFamily="18" charset="0"/>
                            </a:rPr>
                            <m:t>males</m:t>
                          </m:r>
                        </m:e>
                      </m:d>
                      <m:r>
                        <a:rPr lang="ar-AE" b="0" i="0">
                          <a:latin typeface="Cambria Math" panose="02040503050406030204" pitchFamily="18" charset="0"/>
                        </a:rPr>
                        <m:t>=</m:t>
                      </m:r>
                      <m:r>
                        <a:rPr lang="ar-AE" b="0" i="1">
                          <a:latin typeface="Cambria Math" panose="02040503050406030204" pitchFamily="18" charset="0"/>
                        </a:rPr>
                        <m:t>𝑃</m:t>
                      </m:r>
                      <m:d>
                        <m:dPr>
                          <m:ctrlPr>
                            <a:rPr lang="ar-AE" b="0" i="1">
                              <a:latin typeface="Cambria Math" panose="02040503050406030204" pitchFamily="18" charset="0"/>
                            </a:rPr>
                          </m:ctrlPr>
                        </m:dPr>
                        <m:e>
                          <m:r>
                            <m:rPr>
                              <m:nor/>
                            </m:rPr>
                            <a:rPr lang="en-IN" b="0" i="1">
                              <a:latin typeface="Cambria Math" panose="02040503050406030204" pitchFamily="18" charset="0"/>
                            </a:rPr>
                            <m:t>male</m:t>
                          </m:r>
                          <m:r>
                            <m:rPr>
                              <m:nor/>
                            </m:rPr>
                            <a:rPr lang="en-IN" b="0" i="1">
                              <a:latin typeface="Cambria Math" panose="02040503050406030204" pitchFamily="18" charset="0"/>
                            </a:rPr>
                            <m:t> </m:t>
                          </m:r>
                          <m:r>
                            <m:rPr>
                              <m:nor/>
                            </m:rPr>
                            <a:rPr lang="en-IN" b="0" i="1">
                              <a:latin typeface="Cambria Math" panose="02040503050406030204" pitchFamily="18" charset="0"/>
                            </a:rPr>
                            <m:t>from</m:t>
                          </m:r>
                          <m:r>
                            <m:rPr>
                              <m:nor/>
                            </m:rPr>
                            <a:rPr lang="en-IN" b="0" i="1">
                              <a:latin typeface="Cambria Math" panose="02040503050406030204" pitchFamily="18" charset="0"/>
                            </a:rPr>
                            <m:t> </m:t>
                          </m:r>
                          <m:r>
                            <m:rPr>
                              <m:nor/>
                            </m:rPr>
                            <a:rPr lang="en-IN" b="0" i="1">
                              <a:latin typeface="Cambria Math" panose="02040503050406030204" pitchFamily="18" charset="0"/>
                            </a:rPr>
                            <m:t>P</m:t>
                          </m:r>
                        </m:e>
                      </m:d>
                      <m:r>
                        <a:rPr lang="ar-AE" b="0" i="0">
                          <a:latin typeface="Cambria Math" panose="02040503050406030204" pitchFamily="18" charset="0"/>
                        </a:rPr>
                        <m:t>⋅</m:t>
                      </m:r>
                      <m:r>
                        <a:rPr lang="ar-AE" b="0" i="1">
                          <a:latin typeface="Cambria Math" panose="02040503050406030204" pitchFamily="18" charset="0"/>
                        </a:rPr>
                        <m:t>𝑃</m:t>
                      </m:r>
                      <m:d>
                        <m:dPr>
                          <m:ctrlPr>
                            <a:rPr lang="ar-AE" b="0" i="1">
                              <a:latin typeface="Cambria Math" panose="02040503050406030204" pitchFamily="18" charset="0"/>
                            </a:rPr>
                          </m:ctrlPr>
                        </m:dPr>
                        <m:e>
                          <m:r>
                            <m:rPr>
                              <m:nor/>
                            </m:rPr>
                            <a:rPr lang="en-IN" b="0" i="1">
                              <a:latin typeface="Cambria Math" panose="02040503050406030204" pitchFamily="18" charset="0"/>
                            </a:rPr>
                            <m:t>male</m:t>
                          </m:r>
                          <m:r>
                            <m:rPr>
                              <m:nor/>
                            </m:rPr>
                            <a:rPr lang="en-IN" b="0" i="1">
                              <a:latin typeface="Cambria Math" panose="02040503050406030204" pitchFamily="18" charset="0"/>
                            </a:rPr>
                            <m:t> </m:t>
                          </m:r>
                          <m:r>
                            <m:rPr>
                              <m:nor/>
                            </m:rPr>
                            <a:rPr lang="en-IN" b="0" i="1">
                              <a:latin typeface="Cambria Math" panose="02040503050406030204" pitchFamily="18" charset="0"/>
                            </a:rPr>
                            <m:t>from</m:t>
                          </m:r>
                          <m:r>
                            <m:rPr>
                              <m:nor/>
                            </m:rPr>
                            <a:rPr lang="en-IN" b="0" i="1">
                              <a:latin typeface="Cambria Math" panose="02040503050406030204" pitchFamily="18" charset="0"/>
                            </a:rPr>
                            <m:t> </m:t>
                          </m:r>
                          <m:r>
                            <m:rPr>
                              <m:nor/>
                            </m:rPr>
                            <a:rPr lang="en-IN" b="0" i="1">
                              <a:latin typeface="Cambria Math" panose="02040503050406030204" pitchFamily="18" charset="0"/>
                            </a:rPr>
                            <m:t>Q</m:t>
                          </m:r>
                        </m:e>
                      </m:d>
                      <m:r>
                        <a:rPr lang="ar-AE" b="0" i="0">
                          <a:latin typeface="Cambria Math" panose="02040503050406030204" pitchFamily="18" charset="0"/>
                        </a:rPr>
                        <m:t>⋅</m:t>
                      </m:r>
                      <m:r>
                        <a:rPr lang="ar-AE" b="0" i="1">
                          <a:latin typeface="Cambria Math" panose="02040503050406030204" pitchFamily="18" charset="0"/>
                        </a:rPr>
                        <m:t>𝑃</m:t>
                      </m:r>
                      <m:d>
                        <m:dPr>
                          <m:ctrlPr>
                            <a:rPr lang="ar-AE" b="0" i="1">
                              <a:latin typeface="Cambria Math" panose="02040503050406030204" pitchFamily="18" charset="0"/>
                            </a:rPr>
                          </m:ctrlPr>
                        </m:dPr>
                        <m:e>
                          <m:r>
                            <m:rPr>
                              <m:nor/>
                            </m:rPr>
                            <a:rPr lang="en-IN" b="0" i="1">
                              <a:latin typeface="Cambria Math" panose="02040503050406030204" pitchFamily="18" charset="0"/>
                            </a:rPr>
                            <m:t>male</m:t>
                          </m:r>
                          <m:r>
                            <m:rPr>
                              <m:nor/>
                            </m:rPr>
                            <a:rPr lang="en-IN" b="0" i="1">
                              <a:latin typeface="Cambria Math" panose="02040503050406030204" pitchFamily="18" charset="0"/>
                            </a:rPr>
                            <m:t> </m:t>
                          </m:r>
                          <m:r>
                            <m:rPr>
                              <m:nor/>
                            </m:rPr>
                            <a:rPr lang="en-IN" b="0" i="1">
                              <a:latin typeface="Cambria Math" panose="02040503050406030204" pitchFamily="18" charset="0"/>
                            </a:rPr>
                            <m:t>from</m:t>
                          </m:r>
                          <m:r>
                            <m:rPr>
                              <m:nor/>
                            </m:rPr>
                            <a:rPr lang="en-IN" b="0" i="1">
                              <a:latin typeface="Cambria Math" panose="02040503050406030204" pitchFamily="18" charset="0"/>
                            </a:rPr>
                            <m:t> </m:t>
                          </m:r>
                          <m:r>
                            <m:rPr>
                              <m:nor/>
                            </m:rPr>
                            <a:rPr lang="en-IN" b="0" i="1">
                              <a:latin typeface="Cambria Math" panose="02040503050406030204" pitchFamily="18" charset="0"/>
                            </a:rPr>
                            <m:t>R</m:t>
                          </m:r>
                        </m:e>
                      </m:d>
                    </m:oMath>
                  </m:oMathPara>
                </a14:m>
                <a:endParaRPr lang="ar-AE" b="0"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male</m:t>
                          </m:r>
                          <m:r>
                            <m:rPr>
                              <m:nor/>
                            </m:rPr>
                            <a:rPr lang="en-IN" b="0" i="1">
                              <a:latin typeface="Cambria Math" panose="02040503050406030204" pitchFamily="18" charset="0"/>
                            </a:rPr>
                            <m:t> </m:t>
                          </m:r>
                          <m:r>
                            <m:rPr>
                              <m:nor/>
                            </m:rPr>
                            <a:rPr lang="en-IN" b="0" i="1">
                              <a:latin typeface="Cambria Math" panose="02040503050406030204" pitchFamily="18" charset="0"/>
                            </a:rPr>
                            <m:t>from</m:t>
                          </m:r>
                          <m:r>
                            <m:rPr>
                              <m:nor/>
                            </m:rPr>
                            <a:rPr lang="en-IN" b="0" i="1">
                              <a:latin typeface="Cambria Math" panose="02040503050406030204" pitchFamily="18" charset="0"/>
                            </a:rPr>
                            <m:t> </m:t>
                          </m:r>
                          <m:r>
                            <m:rPr>
                              <m:nor/>
                            </m:rPr>
                            <a:rPr lang="en-IN" b="0" i="1">
                              <a:latin typeface="Cambria Math" panose="02040503050406030204" pitchFamily="18" charset="0"/>
                            </a:rPr>
                            <m:t>P</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1">
                              <a:latin typeface="Cambria Math" panose="02040503050406030204" pitchFamily="18" charset="0"/>
                            </a:rPr>
                            <m:t>𝑥</m:t>
                          </m:r>
                          <m:r>
                            <a:rPr lang="ar-AE" b="0" i="0">
                              <a:latin typeface="Cambria Math" panose="02040503050406030204" pitchFamily="18" charset="0"/>
                            </a:rPr>
                            <m:t>+</m:t>
                          </m:r>
                          <m:r>
                            <a:rPr lang="ar-AE" b="0" i="0">
                              <a:latin typeface="Cambria Math" panose="02040503050406030204" pitchFamily="18" charset="0"/>
                            </a:rPr>
                            <m:t>21</m:t>
                          </m:r>
                        </m:num>
                        <m:den>
                          <m:d>
                            <m:dPr>
                              <m:ctrlPr>
                                <a:rPr lang="ar-AE" b="0" i="1">
                                  <a:latin typeface="Cambria Math" panose="02040503050406030204" pitchFamily="18" charset="0"/>
                                </a:rPr>
                              </m:ctrlPr>
                            </m:dPr>
                            <m:e>
                              <m:r>
                                <a:rPr lang="ar-AE" b="0" i="1">
                                  <a:latin typeface="Cambria Math" panose="02040503050406030204" pitchFamily="18" charset="0"/>
                                </a:rPr>
                                <m:t>𝑥</m:t>
                              </m:r>
                              <m:r>
                                <a:rPr lang="ar-AE" b="0" i="0">
                                  <a:latin typeface="Cambria Math" panose="02040503050406030204" pitchFamily="18" charset="0"/>
                                </a:rPr>
                                <m:t>−</m:t>
                              </m:r>
                              <m:r>
                                <a:rPr lang="ar-AE" b="0" i="0">
                                  <a:latin typeface="Cambria Math" panose="02040503050406030204" pitchFamily="18" charset="0"/>
                                </a:rPr>
                                <m:t>6</m:t>
                              </m:r>
                            </m:e>
                          </m:d>
                          <m:r>
                            <a:rPr lang="ar-AE" b="0" i="0">
                              <a:latin typeface="Cambria Math" panose="02040503050406030204" pitchFamily="18" charset="0"/>
                            </a:rPr>
                            <m:t>+</m:t>
                          </m:r>
                          <m:d>
                            <m:dPr>
                              <m:ctrlPr>
                                <a:rPr lang="ar-AE" b="0" i="1">
                                  <a:latin typeface="Cambria Math" panose="02040503050406030204" pitchFamily="18" charset="0"/>
                                </a:rPr>
                              </m:ctrlPr>
                            </m:dPr>
                            <m:e>
                              <m:r>
                                <a:rPr lang="ar-AE" b="0" i="1">
                                  <a:latin typeface="Cambria Math" panose="02040503050406030204" pitchFamily="18" charset="0"/>
                                </a:rPr>
                                <m:t>𝑥</m:t>
                              </m:r>
                              <m:r>
                                <a:rPr lang="ar-AE" b="0" i="0">
                                  <a:latin typeface="Cambria Math" panose="02040503050406030204" pitchFamily="18" charset="0"/>
                                </a:rPr>
                                <m:t>+</m:t>
                              </m:r>
                              <m:r>
                                <a:rPr lang="ar-AE" b="0" i="0">
                                  <a:latin typeface="Cambria Math" panose="02040503050406030204" pitchFamily="18" charset="0"/>
                                </a:rPr>
                                <m:t>21</m:t>
                              </m:r>
                            </m:e>
                          </m:d>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1">
                              <a:latin typeface="Cambria Math" panose="02040503050406030204" pitchFamily="18" charset="0"/>
                            </a:rPr>
                            <m:t>𝑥</m:t>
                          </m:r>
                          <m:r>
                            <a:rPr lang="ar-AE" b="0" i="0">
                              <a:latin typeface="Cambria Math" panose="02040503050406030204" pitchFamily="18" charset="0"/>
                            </a:rPr>
                            <m:t>+</m:t>
                          </m:r>
                          <m:r>
                            <a:rPr lang="ar-AE" b="0" i="0">
                              <a:latin typeface="Cambria Math" panose="02040503050406030204" pitchFamily="18" charset="0"/>
                            </a:rPr>
                            <m:t>21</m:t>
                          </m:r>
                        </m:num>
                        <m:den>
                          <m:r>
                            <a:rPr lang="ar-AE" b="0" i="0">
                              <a:latin typeface="Cambria Math" panose="02040503050406030204" pitchFamily="18" charset="0"/>
                            </a:rPr>
                            <m:t>2</m:t>
                          </m:r>
                          <m:r>
                            <a:rPr lang="ar-AE" b="0" i="1">
                              <a:latin typeface="Cambria Math" panose="02040503050406030204" pitchFamily="18" charset="0"/>
                            </a:rPr>
                            <m:t>𝑥</m:t>
                          </m:r>
                          <m:r>
                            <a:rPr lang="ar-AE" b="0" i="0">
                              <a:latin typeface="Cambria Math" panose="02040503050406030204" pitchFamily="18" charset="0"/>
                            </a:rPr>
                            <m:t>+</m:t>
                          </m:r>
                          <m:r>
                            <a:rPr lang="ar-AE" b="0" i="0">
                              <a:latin typeface="Cambria Math" panose="02040503050406030204" pitchFamily="18" charset="0"/>
                            </a:rPr>
                            <m:t>15</m:t>
                          </m:r>
                        </m:den>
                      </m:f>
                    </m:oMath>
                  </m:oMathPara>
                </a14:m>
                <a:endParaRPr lang="ar-AE" b="0"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male</m:t>
                          </m:r>
                          <m:r>
                            <m:rPr>
                              <m:nor/>
                            </m:rPr>
                            <a:rPr lang="en-IN" b="0" i="1">
                              <a:latin typeface="Cambria Math" panose="02040503050406030204" pitchFamily="18" charset="0"/>
                            </a:rPr>
                            <m:t> </m:t>
                          </m:r>
                          <m:r>
                            <m:rPr>
                              <m:nor/>
                            </m:rPr>
                            <a:rPr lang="en-IN" b="0" i="1">
                              <a:latin typeface="Cambria Math" panose="02040503050406030204" pitchFamily="18" charset="0"/>
                            </a:rPr>
                            <m:t>from</m:t>
                          </m:r>
                          <m:r>
                            <m:rPr>
                              <m:nor/>
                            </m:rPr>
                            <a:rPr lang="en-IN" b="0" i="1">
                              <a:latin typeface="Cambria Math" panose="02040503050406030204" pitchFamily="18" charset="0"/>
                            </a:rPr>
                            <m:t> </m:t>
                          </m:r>
                          <m:r>
                            <m:rPr>
                              <m:nor/>
                            </m:rPr>
                            <a:rPr lang="en-IN" b="0" i="1">
                              <a:latin typeface="Cambria Math" panose="02040503050406030204" pitchFamily="18" charset="0"/>
                            </a:rPr>
                            <m:t>Q</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12</m:t>
                          </m:r>
                        </m:num>
                        <m:den>
                          <m:r>
                            <a:rPr lang="ar-AE" b="0" i="0">
                              <a:latin typeface="Cambria Math" panose="02040503050406030204" pitchFamily="18" charset="0"/>
                            </a:rPr>
                            <m:t>3</m:t>
                          </m:r>
                          <m:r>
                            <a:rPr lang="ar-AE" b="0" i="0">
                              <a:latin typeface="Cambria Math" panose="02040503050406030204" pitchFamily="18" charset="0"/>
                            </a:rPr>
                            <m:t>+</m:t>
                          </m:r>
                          <m:r>
                            <a:rPr lang="ar-AE" b="0" i="0">
                              <a:latin typeface="Cambria Math" panose="02040503050406030204" pitchFamily="18" charset="0"/>
                            </a:rPr>
                            <m:t>12</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12</m:t>
                          </m:r>
                        </m:num>
                        <m:den>
                          <m:r>
                            <a:rPr lang="ar-AE" b="0" i="0">
                              <a:latin typeface="Cambria Math" panose="02040503050406030204" pitchFamily="18" charset="0"/>
                            </a:rPr>
                            <m:t>15</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4</m:t>
                          </m:r>
                        </m:num>
                        <m:den>
                          <m:r>
                            <a:rPr lang="ar-AE" b="0" i="0">
                              <a:latin typeface="Cambria Math" panose="02040503050406030204" pitchFamily="18" charset="0"/>
                            </a:rPr>
                            <m:t>5</m:t>
                          </m:r>
                        </m:den>
                      </m:f>
                    </m:oMath>
                  </m:oMathPara>
                </a14:m>
                <a:endParaRPr lang="ar-AE" b="0"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male</m:t>
                          </m:r>
                          <m:r>
                            <m:rPr>
                              <m:nor/>
                            </m:rPr>
                            <a:rPr lang="en-IN" b="0" i="1">
                              <a:latin typeface="Cambria Math" panose="02040503050406030204" pitchFamily="18" charset="0"/>
                            </a:rPr>
                            <m:t> </m:t>
                          </m:r>
                          <m:r>
                            <m:rPr>
                              <m:nor/>
                            </m:rPr>
                            <a:rPr lang="en-IN" b="0" i="1">
                              <a:latin typeface="Cambria Math" panose="02040503050406030204" pitchFamily="18" charset="0"/>
                            </a:rPr>
                            <m:t>from</m:t>
                          </m:r>
                          <m:r>
                            <m:rPr>
                              <m:nor/>
                            </m:rPr>
                            <a:rPr lang="en-IN" b="0" i="1">
                              <a:latin typeface="Cambria Math" panose="02040503050406030204" pitchFamily="18" charset="0"/>
                            </a:rPr>
                            <m:t> </m:t>
                          </m:r>
                          <m:r>
                            <m:rPr>
                              <m:nor/>
                            </m:rPr>
                            <a:rPr lang="en-IN" b="0" i="1">
                              <a:latin typeface="Cambria Math" panose="02040503050406030204" pitchFamily="18" charset="0"/>
                            </a:rPr>
                            <m:t>R</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7</m:t>
                          </m:r>
                        </m:num>
                        <m:den>
                          <m:r>
                            <a:rPr lang="ar-AE" b="0" i="0">
                              <a:latin typeface="Cambria Math" panose="02040503050406030204" pitchFamily="18" charset="0"/>
                            </a:rPr>
                            <m:t>5</m:t>
                          </m:r>
                          <m:r>
                            <a:rPr lang="ar-AE" b="0" i="0">
                              <a:latin typeface="Cambria Math" panose="02040503050406030204" pitchFamily="18" charset="0"/>
                            </a:rPr>
                            <m:t>+</m:t>
                          </m:r>
                          <m:r>
                            <a:rPr lang="ar-AE" b="0" i="0">
                              <a:latin typeface="Cambria Math" panose="02040503050406030204" pitchFamily="18" charset="0"/>
                            </a:rPr>
                            <m:t>7</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7</m:t>
                          </m:r>
                        </m:num>
                        <m:den>
                          <m:r>
                            <a:rPr lang="ar-AE" b="0" i="0">
                              <a:latin typeface="Cambria Math" panose="02040503050406030204" pitchFamily="18" charset="0"/>
                            </a:rPr>
                            <m:t>12</m:t>
                          </m:r>
                        </m:den>
                      </m:f>
                    </m:oMath>
                  </m:oMathPara>
                </a14:m>
                <a:endParaRPr lang="ar-AE" b="0" dirty="0"/>
              </a:p>
            </p:txBody>
          </p:sp>
        </mc:Choice>
        <mc:Fallback>
          <p:sp>
            <p:nvSpPr>
              <p:cNvPr id="7" name="TextBox 6">
                <a:extLst>
                  <a:ext uri="{FF2B5EF4-FFF2-40B4-BE49-F238E27FC236}">
                    <a16:creationId xmlns:a16="http://schemas.microsoft.com/office/drawing/2014/main" id="{466799C1-1EFB-5512-AD13-4C7B75CEC730}"/>
                  </a:ext>
                </a:extLst>
              </p:cNvPr>
              <p:cNvSpPr txBox="1">
                <a:spLocks noRot="1" noChangeAspect="1" noMove="1" noResize="1" noEditPoints="1" noAdjustHandles="1" noChangeArrowheads="1" noChangeShapeType="1" noTextEdit="1"/>
              </p:cNvSpPr>
              <p:nvPr/>
            </p:nvSpPr>
            <p:spPr>
              <a:xfrm>
                <a:off x="228601" y="2728304"/>
                <a:ext cx="6094428" cy="2524794"/>
              </a:xfrm>
              <a:prstGeom prst="rect">
                <a:avLst/>
              </a:prstGeom>
              <a:blipFill>
                <a:blip r:embed="rId3"/>
                <a:stretch>
                  <a:fillRect l="-901" t="-1449"/>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033DB4B-A2B4-6415-9AEF-52F55BF3BA6E}"/>
                  </a:ext>
                </a:extLst>
              </p:cNvPr>
              <p:cNvSpPr txBox="1"/>
              <p:nvPr/>
            </p:nvSpPr>
            <p:spPr>
              <a:xfrm>
                <a:off x="681087" y="5516343"/>
                <a:ext cx="6094428" cy="894347"/>
              </a:xfrm>
              <a:prstGeom prst="rect">
                <a:avLst/>
              </a:prstGeom>
              <a:noFill/>
            </p:spPr>
            <p:txBody>
              <a:bodyPr wrap="square">
                <a:spAutoFit/>
              </a:bodyPr>
              <a:lstStyle/>
              <a:p>
                <a:pPr>
                  <a:buNone/>
                </a:pPr>
                <a:r>
                  <a:rPr lang="en-IN" dirty="0"/>
                  <a:t>So:</a:t>
                </a:r>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21</m:t>
                          </m:r>
                        </m:num>
                        <m:den>
                          <m:r>
                            <a:rPr lang="ar-AE" i="0">
                              <a:latin typeface="Cambria Math" panose="02040503050406030204" pitchFamily="18" charset="0"/>
                            </a:rPr>
                            <m:t>2</m:t>
                          </m:r>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15</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4</m:t>
                          </m:r>
                        </m:num>
                        <m:den>
                          <m:r>
                            <a:rPr lang="ar-AE" i="0">
                              <a:latin typeface="Cambria Math" panose="02040503050406030204" pitchFamily="18" charset="0"/>
                            </a:rPr>
                            <m:t>5</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7</m:t>
                          </m:r>
                        </m:num>
                        <m:den>
                          <m:r>
                            <a:rPr lang="ar-AE" i="0">
                              <a:latin typeface="Cambria Math" panose="02040503050406030204" pitchFamily="18" charset="0"/>
                            </a:rPr>
                            <m:t>12</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4</m:t>
                          </m:r>
                        </m:num>
                        <m:den>
                          <m:r>
                            <a:rPr lang="ar-AE" i="0">
                              <a:latin typeface="Cambria Math" panose="02040503050406030204" pitchFamily="18" charset="0"/>
                            </a:rPr>
                            <m:t>15</m:t>
                          </m:r>
                        </m:den>
                      </m:f>
                    </m:oMath>
                  </m:oMathPara>
                </a14:m>
                <a:endParaRPr lang="ar-AE" dirty="0"/>
              </a:p>
            </p:txBody>
          </p:sp>
        </mc:Choice>
        <mc:Fallback>
          <p:sp>
            <p:nvSpPr>
              <p:cNvPr id="11" name="TextBox 10">
                <a:extLst>
                  <a:ext uri="{FF2B5EF4-FFF2-40B4-BE49-F238E27FC236}">
                    <a16:creationId xmlns:a16="http://schemas.microsoft.com/office/drawing/2014/main" id="{8033DB4B-A2B4-6415-9AEF-52F55BF3BA6E}"/>
                  </a:ext>
                </a:extLst>
              </p:cNvPr>
              <p:cNvSpPr txBox="1">
                <a:spLocks noRot="1" noChangeAspect="1" noMove="1" noResize="1" noEditPoints="1" noAdjustHandles="1" noChangeArrowheads="1" noChangeShapeType="1" noTextEdit="1"/>
              </p:cNvSpPr>
              <p:nvPr/>
            </p:nvSpPr>
            <p:spPr>
              <a:xfrm>
                <a:off x="681087" y="5516343"/>
                <a:ext cx="6094428" cy="894347"/>
              </a:xfrm>
              <a:prstGeom prst="rect">
                <a:avLst/>
              </a:prstGeom>
              <a:blipFill>
                <a:blip r:embed="rId4"/>
                <a:stretch>
                  <a:fillRect l="-901" t="-408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29FC5C4-F464-56A5-7B69-3B1D3F28039D}"/>
                  </a:ext>
                </a:extLst>
              </p:cNvPr>
              <p:cNvSpPr txBox="1"/>
              <p:nvPr/>
            </p:nvSpPr>
            <p:spPr>
              <a:xfrm>
                <a:off x="6096000" y="2802156"/>
                <a:ext cx="6094428" cy="2585323"/>
              </a:xfrm>
              <a:prstGeom prst="rect">
                <a:avLst/>
              </a:prstGeom>
              <a:noFill/>
            </p:spPr>
            <p:txBody>
              <a:bodyPr wrap="square">
                <a:spAutoFit/>
              </a:bodyPr>
              <a:lstStyle/>
              <a:p>
                <a:pPr>
                  <a:buNone/>
                </a:pPr>
                <a:r>
                  <a:rPr lang="en-IN" b="1" dirty="0"/>
                  <a:t>Solve for x</a:t>
                </a: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7</m:t>
                      </m:r>
                      <m:d>
                        <m:dPr>
                          <m:ctrlPr>
                            <a:rPr lang="ar-AE" i="1">
                              <a:latin typeface="Cambria Math" panose="02040503050406030204" pitchFamily="18" charset="0"/>
                            </a:rPr>
                          </m:ctrlPr>
                        </m:dPr>
                        <m:e>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21</m:t>
                          </m:r>
                        </m:e>
                      </m:d>
                      <m:r>
                        <a:rPr lang="ar-AE" i="0">
                          <a:latin typeface="Cambria Math" panose="02040503050406030204" pitchFamily="18" charset="0"/>
                        </a:rPr>
                        <m:t>=</m:t>
                      </m:r>
                      <m:r>
                        <a:rPr lang="ar-AE" i="0">
                          <a:latin typeface="Cambria Math" panose="02040503050406030204" pitchFamily="18" charset="0"/>
                        </a:rPr>
                        <m:t>4</m:t>
                      </m:r>
                      <m:d>
                        <m:dPr>
                          <m:ctrlPr>
                            <a:rPr lang="ar-AE" i="1">
                              <a:latin typeface="Cambria Math" panose="02040503050406030204" pitchFamily="18" charset="0"/>
                            </a:rPr>
                          </m:ctrlPr>
                        </m:dPr>
                        <m:e>
                          <m:r>
                            <a:rPr lang="ar-AE" i="0">
                              <a:latin typeface="Cambria Math" panose="02040503050406030204" pitchFamily="18" charset="0"/>
                            </a:rPr>
                            <m:t>2</m:t>
                          </m:r>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15</m:t>
                          </m:r>
                        </m:e>
                      </m:d>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7</m:t>
                      </m:r>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147</m:t>
                      </m:r>
                      <m:r>
                        <a:rPr lang="ar-AE" i="0">
                          <a:latin typeface="Cambria Math" panose="02040503050406030204" pitchFamily="18" charset="0"/>
                        </a:rPr>
                        <m:t>=</m:t>
                      </m:r>
                      <m:r>
                        <a:rPr lang="ar-AE" i="0">
                          <a:latin typeface="Cambria Math" panose="02040503050406030204" pitchFamily="18" charset="0"/>
                        </a:rPr>
                        <m:t>8</m:t>
                      </m:r>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60</m:t>
                      </m:r>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147</m:t>
                      </m:r>
                      <m:r>
                        <a:rPr lang="ar-AE" i="0">
                          <a:latin typeface="Cambria Math" panose="02040503050406030204" pitchFamily="18" charset="0"/>
                        </a:rPr>
                        <m:t>−</m:t>
                      </m:r>
                      <m:r>
                        <a:rPr lang="ar-AE" i="0">
                          <a:latin typeface="Cambria Math" panose="02040503050406030204" pitchFamily="18" charset="0"/>
                        </a:rPr>
                        <m:t>60</m:t>
                      </m:r>
                      <m:r>
                        <a:rPr lang="ar-AE" i="0">
                          <a:latin typeface="Cambria Math" panose="02040503050406030204" pitchFamily="18" charset="0"/>
                        </a:rPr>
                        <m:t>=</m:t>
                      </m:r>
                      <m:r>
                        <a:rPr lang="ar-AE" i="0">
                          <a:latin typeface="Cambria Math" panose="02040503050406030204" pitchFamily="18" charset="0"/>
                        </a:rPr>
                        <m:t>8</m:t>
                      </m:r>
                      <m:r>
                        <a:rPr lang="ar-AE" i="1">
                          <a:latin typeface="Cambria Math" panose="02040503050406030204" pitchFamily="18" charset="0"/>
                        </a:rPr>
                        <m:t>𝑥</m:t>
                      </m:r>
                      <m:r>
                        <a:rPr lang="ar-AE" i="0">
                          <a:latin typeface="Cambria Math" panose="02040503050406030204" pitchFamily="18" charset="0"/>
                        </a:rPr>
                        <m:t>−</m:t>
                      </m:r>
                      <m:r>
                        <a:rPr lang="ar-AE" i="0">
                          <a:latin typeface="Cambria Math" panose="02040503050406030204" pitchFamily="18" charset="0"/>
                        </a:rPr>
                        <m:t>7</m:t>
                      </m:r>
                      <m:r>
                        <a:rPr lang="ar-AE" i="1">
                          <a:latin typeface="Cambria Math" panose="02040503050406030204" pitchFamily="18" charset="0"/>
                        </a:rPr>
                        <m:t>𝑥</m:t>
                      </m:r>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87</m:t>
                      </m:r>
                      <m:r>
                        <a:rPr lang="ar-AE" i="0">
                          <a:latin typeface="Cambria Math" panose="02040503050406030204" pitchFamily="18" charset="0"/>
                        </a:rPr>
                        <m:t>=</m:t>
                      </m:r>
                      <m:r>
                        <a:rPr lang="ar-AE" i="1">
                          <a:latin typeface="Cambria Math" panose="02040503050406030204" pitchFamily="18" charset="0"/>
                        </a:rPr>
                        <m:t>𝑥</m:t>
                      </m:r>
                    </m:oMath>
                  </m:oMathPara>
                </a14:m>
                <a:endParaRPr lang="ar-AE" dirty="0"/>
              </a:p>
              <a:p>
                <a:pPr>
                  <a:buNone/>
                </a:pPr>
                <a:br>
                  <a:rPr lang="ar-AE" dirty="0"/>
                </a:br>
                <a:endParaRPr lang="ar-AE" dirty="0"/>
              </a:p>
              <a:p>
                <a:pPr>
                  <a:buNone/>
                </a:pPr>
                <a:r>
                  <a:rPr lang="en-IN" b="1" dirty="0"/>
                  <a:t>Step 2: Number of females in group P</a:t>
                </a:r>
              </a:p>
              <a:p>
                <a:pPr>
                  <a:buNone/>
                </a:pPr>
                <a14:m>
                  <m:oMathPara xmlns:m="http://schemas.openxmlformats.org/officeDocument/2006/math">
                    <m:oMathParaPr>
                      <m:jc m:val="centerGroup"/>
                    </m:oMathParaPr>
                    <m:oMath xmlns:m="http://schemas.openxmlformats.org/officeDocument/2006/math">
                      <m:r>
                        <m:rPr>
                          <m:nor/>
                        </m:rPr>
                        <a:rPr lang="en-IN" b="0"/>
                        <m:t>Females</m:t>
                      </m:r>
                      <m:r>
                        <m:rPr>
                          <m:nor/>
                        </m:rPr>
                        <a:rPr lang="en-IN" b="0" i="1"/>
                        <m:t> </m:t>
                      </m:r>
                      <m:r>
                        <m:rPr>
                          <m:nor/>
                        </m:rPr>
                        <a:rPr lang="en-IN" b="0" i="1"/>
                        <m:t>in</m:t>
                      </m:r>
                      <m:r>
                        <m:rPr>
                          <m:nor/>
                        </m:rPr>
                        <a:rPr lang="en-IN" b="0" i="1"/>
                        <m:t> </m:t>
                      </m:r>
                      <m:r>
                        <m:rPr>
                          <m:nor/>
                        </m:rPr>
                        <a:rPr lang="en-IN" b="0" i="1"/>
                        <m:t>P</m:t>
                      </m:r>
                      <m:r>
                        <a:rPr lang="en-IN" b="0" i="0">
                          <a:latin typeface="Cambria Math" panose="02040503050406030204" pitchFamily="18" charset="0"/>
                        </a:rPr>
                        <m:t>=</m:t>
                      </m:r>
                      <m:r>
                        <a:rPr lang="en-IN" b="0" i="1">
                          <a:latin typeface="Cambria Math" panose="02040503050406030204" pitchFamily="18" charset="0"/>
                        </a:rPr>
                        <m:t>𝑥</m:t>
                      </m:r>
                      <m:r>
                        <a:rPr lang="en-IN" b="0" i="0">
                          <a:latin typeface="Cambria Math" panose="02040503050406030204" pitchFamily="18" charset="0"/>
                        </a:rPr>
                        <m:t>−</m:t>
                      </m:r>
                      <m:r>
                        <a:rPr lang="en-IN" b="0" i="0">
                          <a:latin typeface="Cambria Math" panose="02040503050406030204" pitchFamily="18" charset="0"/>
                        </a:rPr>
                        <m:t>6</m:t>
                      </m:r>
                      <m:r>
                        <a:rPr lang="en-IN" b="0" i="0">
                          <a:latin typeface="Cambria Math" panose="02040503050406030204" pitchFamily="18" charset="0"/>
                        </a:rPr>
                        <m:t>=</m:t>
                      </m:r>
                      <m:r>
                        <a:rPr lang="en-IN" b="0" i="0">
                          <a:latin typeface="Cambria Math" panose="02040503050406030204" pitchFamily="18" charset="0"/>
                        </a:rPr>
                        <m:t>87</m:t>
                      </m:r>
                      <m:r>
                        <a:rPr lang="en-IN" b="0" i="0">
                          <a:latin typeface="Cambria Math" panose="02040503050406030204" pitchFamily="18" charset="0"/>
                        </a:rPr>
                        <m:t>−</m:t>
                      </m:r>
                      <m:r>
                        <a:rPr lang="en-IN" b="0" i="0">
                          <a:latin typeface="Cambria Math" panose="02040503050406030204" pitchFamily="18" charset="0"/>
                        </a:rPr>
                        <m:t>6</m:t>
                      </m:r>
                      <m:r>
                        <a:rPr lang="en-IN" b="0" i="0">
                          <a:latin typeface="Cambria Math" panose="02040503050406030204" pitchFamily="18" charset="0"/>
                        </a:rPr>
                        <m:t>=</m:t>
                      </m:r>
                      <m:r>
                        <a:rPr lang="en-IN" b="0" i="0">
                          <a:latin typeface="Cambria Math" panose="02040503050406030204" pitchFamily="18" charset="0"/>
                        </a:rPr>
                        <m:t>81</m:t>
                      </m:r>
                    </m:oMath>
                  </m:oMathPara>
                </a14:m>
                <a:endParaRPr lang="en-IN" b="0" dirty="0"/>
              </a:p>
            </p:txBody>
          </p:sp>
        </mc:Choice>
        <mc:Fallback>
          <p:sp>
            <p:nvSpPr>
              <p:cNvPr id="13" name="TextBox 12">
                <a:extLst>
                  <a:ext uri="{FF2B5EF4-FFF2-40B4-BE49-F238E27FC236}">
                    <a16:creationId xmlns:a16="http://schemas.microsoft.com/office/drawing/2014/main" id="{C29FC5C4-F464-56A5-7B69-3B1D3F28039D}"/>
                  </a:ext>
                </a:extLst>
              </p:cNvPr>
              <p:cNvSpPr txBox="1">
                <a:spLocks noRot="1" noChangeAspect="1" noMove="1" noResize="1" noEditPoints="1" noAdjustHandles="1" noChangeArrowheads="1" noChangeShapeType="1" noTextEdit="1"/>
              </p:cNvSpPr>
              <p:nvPr/>
            </p:nvSpPr>
            <p:spPr>
              <a:xfrm>
                <a:off x="6096000" y="2802156"/>
                <a:ext cx="6094428" cy="2585323"/>
              </a:xfrm>
              <a:prstGeom prst="rect">
                <a:avLst/>
              </a:prstGeom>
              <a:blipFill>
                <a:blip r:embed="rId5"/>
                <a:stretch>
                  <a:fillRect l="-800" t="-1415"/>
                </a:stretch>
              </a:blipFill>
            </p:spPr>
            <p:txBody>
              <a:bodyPr/>
              <a:lstStyle/>
              <a:p>
                <a:r>
                  <a:rPr lang="en-IN">
                    <a:noFill/>
                  </a:rPr>
                  <a:t> </a:t>
                </a:r>
              </a:p>
            </p:txBody>
          </p:sp>
        </mc:Fallback>
      </mc:AlternateContent>
    </p:spTree>
    <p:extLst>
      <p:ext uri="{BB962C8B-B14F-4D97-AF65-F5344CB8AC3E}">
        <p14:creationId xmlns:p14="http://schemas.microsoft.com/office/powerpoint/2010/main" val="1804034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2849</Words>
  <Application>Microsoft Office PowerPoint</Application>
  <PresentationFormat>Widescreen</PresentationFormat>
  <Paragraphs>466</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Cambria Math</vt:lpstr>
      <vt:lpstr>Wingdings</vt:lpstr>
      <vt:lpstr>Office Theme</vt:lpstr>
      <vt:lpstr>Probability  </vt:lpstr>
      <vt:lpstr>COIN BASED  </vt:lpstr>
      <vt:lpstr>Two coins are tossed simultaneously.                               Sample Space S={HH,HT, TH, TT} </vt:lpstr>
      <vt:lpstr>Three coins are tossed simultaneously </vt:lpstr>
      <vt:lpstr>Four coins are tossed once..</vt:lpstr>
      <vt:lpstr>DICE BASED PROBLEMS </vt:lpstr>
      <vt:lpstr>PowerPoint Presentation</vt:lpstr>
      <vt:lpstr>Rolling two Dice</vt:lpstr>
      <vt:lpstr>General Formula (Dice) For n dice: "Total number of outcomes"=6^n  where 6 = outcomes on one die{1,2,3,4,5,6}  n = number of dice </vt:lpstr>
      <vt:lpstr>PowerPoint Presentation</vt:lpstr>
      <vt:lpstr>3. In a single throw of 3 dices , probability of getting a total of 5 ...</vt:lpstr>
      <vt:lpstr>Problems based on playing CARDS </vt:lpstr>
      <vt:lpstr>General Probability Formula P("Event" )="Number of favorable outcomes" /"Total number of outcomes"  </vt:lpstr>
      <vt:lpstr>PowerPoint Presentation</vt:lpstr>
      <vt:lpstr>3.A card is drawn at random from a well-shuffled standard deck of 52 playing cards. What is the probability that the card drawn is either a red card or a king?</vt:lpstr>
      <vt:lpstr>4.A card is drawn at random from a well-shuffled deck of 52 playing cards. What is the probability that the card drawn is either a heart or a 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LOCUS VISIONS</dc:creator>
  <cp:lastModifiedBy>SHARMILA SAMBASIVAM</cp:lastModifiedBy>
  <cp:revision>69</cp:revision>
  <dcterms:created xsi:type="dcterms:W3CDTF">2026-01-28T06:48:22Z</dcterms:created>
  <dcterms:modified xsi:type="dcterms:W3CDTF">2026-01-30T07:29:21Z</dcterms:modified>
</cp:coreProperties>
</file>