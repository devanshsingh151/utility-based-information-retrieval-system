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64" r:id="rId3"/>
    <p:sldId id="257" r:id="rId4"/>
    <p:sldId id="258" r:id="rId5"/>
    <p:sldId id="259" r:id="rId6"/>
    <p:sldId id="260" r:id="rId7"/>
    <p:sldId id="261" r:id="rId8"/>
    <p:sldId id="262" r:id="rId9"/>
    <p:sldId id="263" r:id="rId10"/>
    <p:sldId id="265" r:id="rId11"/>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2" d="100"/>
          <a:sy n="72" d="100"/>
        </p:scale>
        <p:origin x="523"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94461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4211391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40799478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image" Target="../media/image1.png"/><Relationship Id="rId7" Type="http://schemas.openxmlformats.org/officeDocument/2006/relationships/image" Target="../media/image8.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sp>
        <p:nvSpPr>
          <p:cNvPr id="7" name="Shape 3"/>
          <p:cNvSpPr/>
          <p:nvPr/>
        </p:nvSpPr>
        <p:spPr>
          <a:xfrm>
            <a:off x="833199" y="7087553"/>
            <a:ext cx="355402" cy="355402"/>
          </a:xfrm>
          <a:prstGeom prst="roundRect">
            <a:avLst>
              <a:gd name="adj" fmla="val 25726039"/>
            </a:avLst>
          </a:prstGeom>
          <a:noFill/>
          <a:ln w="7620">
            <a:solidFill>
              <a:srgbClr val="FFFFFF"/>
            </a:solidFill>
            <a:prstDash val="solid"/>
          </a:ln>
        </p:spPr>
      </p:sp>
      <p:pic>
        <p:nvPicPr>
          <p:cNvPr id="11" name="Picture 10">
            <a:extLst>
              <a:ext uri="{FF2B5EF4-FFF2-40B4-BE49-F238E27FC236}">
                <a16:creationId xmlns:a16="http://schemas.microsoft.com/office/drawing/2014/main" id="{D1832EC3-EC0D-9D28-BE78-52C82870ACF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88969" y="2647082"/>
            <a:ext cx="4652462" cy="275425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pic>
        <p:nvPicPr>
          <p:cNvPr id="4" name="Image 1" descr="preencoded.png"/>
          <p:cNvPicPr>
            <a:picLocks noChangeAspect="1"/>
          </p:cNvPicPr>
          <p:nvPr/>
        </p:nvPicPr>
        <p:blipFill>
          <a:blip r:embed="rId4"/>
          <a:stretch>
            <a:fillRect/>
          </a:stretch>
        </p:blipFill>
        <p:spPr>
          <a:xfrm>
            <a:off x="9144000" y="0"/>
            <a:ext cx="5486400" cy="8229600"/>
          </a:xfrm>
          <a:prstGeom prst="rect">
            <a:avLst/>
          </a:prstGeom>
        </p:spPr>
      </p:pic>
      <p:sp>
        <p:nvSpPr>
          <p:cNvPr id="5" name="Text 1"/>
          <p:cNvSpPr/>
          <p:nvPr/>
        </p:nvSpPr>
        <p:spPr>
          <a:xfrm>
            <a:off x="833199" y="769858"/>
            <a:ext cx="7477601" cy="2874645"/>
          </a:xfrm>
          <a:prstGeom prst="rect">
            <a:avLst/>
          </a:prstGeom>
          <a:noFill/>
          <a:ln/>
        </p:spPr>
        <p:txBody>
          <a:bodyPr wrap="square" rtlCol="0" anchor="t"/>
          <a:lstStyle/>
          <a:p>
            <a:pPr marL="0" indent="0">
              <a:lnSpc>
                <a:spcPts val="7545"/>
              </a:lnSpc>
              <a:buNone/>
            </a:pPr>
            <a:r>
              <a:rPr lang="en-US" sz="6036" dirty="0">
                <a:solidFill>
                  <a:srgbClr val="1B1B27"/>
                </a:solidFill>
                <a:latin typeface="Corben" pitchFamily="34" charset="0"/>
                <a:ea typeface="Corben" pitchFamily="34" charset="-122"/>
                <a:cs typeface="Corben" pitchFamily="34" charset="-120"/>
              </a:rPr>
              <a:t>The Transformative Power of Customer Centricity</a:t>
            </a:r>
            <a:endParaRPr lang="en-US" sz="6036" dirty="0"/>
          </a:p>
        </p:txBody>
      </p:sp>
      <p:sp>
        <p:nvSpPr>
          <p:cNvPr id="6" name="Text 2"/>
          <p:cNvSpPr/>
          <p:nvPr/>
        </p:nvSpPr>
        <p:spPr>
          <a:xfrm>
            <a:off x="833199" y="3977759"/>
            <a:ext cx="7477601" cy="2843213"/>
          </a:xfrm>
          <a:prstGeom prst="rect">
            <a:avLst/>
          </a:prstGeom>
          <a:noFill/>
          <a:ln/>
        </p:spPr>
        <p:txBody>
          <a:bodyPr wrap="square" rtlCol="0" anchor="t"/>
          <a:lstStyle/>
          <a:p>
            <a:pPr marL="0" indent="0">
              <a:lnSpc>
                <a:spcPts val="2799"/>
              </a:lnSpc>
              <a:buNone/>
            </a:pPr>
            <a:r>
              <a:rPr lang="en-US" sz="1750" dirty="0">
                <a:solidFill>
                  <a:srgbClr val="404155"/>
                </a:solidFill>
                <a:latin typeface="Nobile" pitchFamily="34" charset="0"/>
                <a:ea typeface="Nobile" pitchFamily="34" charset="-122"/>
                <a:cs typeface="Nobile" pitchFamily="34" charset="-120"/>
              </a:rPr>
              <a:t>At the heart of any successful business lies a fundamental commitment to putting customers first. Customer centricity is more than just a buzzword - it's a strategic approach that has the power to transform an organization, driving innovation, fostering loyalty, and ultimately, fueling sustained growth. In this comprehensive exploration, we'll delve into the core principles of customer centricity, unveiling the profound benefits it can unlock and the key components that make it a transformative force in today's competitive landscape.</a:t>
            </a:r>
            <a:endParaRPr lang="en-US" sz="1750" dirty="0"/>
          </a:p>
        </p:txBody>
      </p:sp>
      <p:sp>
        <p:nvSpPr>
          <p:cNvPr id="7" name="Shape 3"/>
          <p:cNvSpPr/>
          <p:nvPr/>
        </p:nvSpPr>
        <p:spPr>
          <a:xfrm>
            <a:off x="833199" y="7087553"/>
            <a:ext cx="355402" cy="355402"/>
          </a:xfrm>
          <a:prstGeom prst="roundRect">
            <a:avLst>
              <a:gd name="adj" fmla="val 25726039"/>
            </a:avLst>
          </a:prstGeom>
          <a:noFill/>
          <a:ln w="7620">
            <a:solidFill>
              <a:srgbClr val="FFFFFF"/>
            </a:solidFill>
            <a:prstDash val="solid"/>
          </a:ln>
        </p:spPr>
      </p:sp>
      <p:pic>
        <p:nvPicPr>
          <p:cNvPr id="11" name="Picture 10">
            <a:extLst>
              <a:ext uri="{FF2B5EF4-FFF2-40B4-BE49-F238E27FC236}">
                <a16:creationId xmlns:a16="http://schemas.microsoft.com/office/drawing/2014/main" id="{D1832EC3-EC0D-9D28-BE78-52C82870ACF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extLst>
      <p:ext uri="{BB962C8B-B14F-4D97-AF65-F5344CB8AC3E}">
        <p14:creationId xmlns:p14="http://schemas.microsoft.com/office/powerpoint/2010/main" val="28616867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sp>
        <p:nvSpPr>
          <p:cNvPr id="4" name="Text 1"/>
          <p:cNvSpPr/>
          <p:nvPr/>
        </p:nvSpPr>
        <p:spPr>
          <a:xfrm>
            <a:off x="2037993" y="972860"/>
            <a:ext cx="9232702" cy="694373"/>
          </a:xfrm>
          <a:prstGeom prst="rect">
            <a:avLst/>
          </a:prstGeom>
          <a:noFill/>
          <a:ln/>
        </p:spPr>
        <p:txBody>
          <a:bodyPr wrap="none" rtlCol="0" anchor="t"/>
          <a:lstStyle/>
          <a:p>
            <a:pPr marL="0" indent="0">
              <a:lnSpc>
                <a:spcPts val="5468"/>
              </a:lnSpc>
              <a:buNone/>
            </a:pPr>
            <a:r>
              <a:rPr lang="en-US" sz="4374" dirty="0">
                <a:solidFill>
                  <a:srgbClr val="1B1B27"/>
                </a:solidFill>
                <a:latin typeface="Corben" pitchFamily="34" charset="0"/>
                <a:ea typeface="Corben" pitchFamily="34" charset="-122"/>
                <a:cs typeface="Corben" pitchFamily="34" charset="-120"/>
              </a:rPr>
              <a:t>The Benefits of Customer Centricity</a:t>
            </a:r>
            <a:endParaRPr lang="en-US" sz="4374" dirty="0"/>
          </a:p>
        </p:txBody>
      </p:sp>
      <p:sp>
        <p:nvSpPr>
          <p:cNvPr id="5" name="Text 2"/>
          <p:cNvSpPr/>
          <p:nvPr/>
        </p:nvSpPr>
        <p:spPr>
          <a:xfrm>
            <a:off x="2037993" y="2222659"/>
            <a:ext cx="3156347" cy="694373"/>
          </a:xfrm>
          <a:prstGeom prst="rect">
            <a:avLst/>
          </a:prstGeom>
          <a:noFill/>
          <a:ln/>
        </p:spPr>
        <p:txBody>
          <a:bodyPr wrap="square" rtlCol="0" anchor="t"/>
          <a:lstStyle/>
          <a:p>
            <a:pPr marL="0" indent="0">
              <a:lnSpc>
                <a:spcPts val="2734"/>
              </a:lnSpc>
              <a:buNone/>
            </a:pPr>
            <a:r>
              <a:rPr lang="en-US" sz="2187" dirty="0">
                <a:solidFill>
                  <a:srgbClr val="1B1B27"/>
                </a:solidFill>
                <a:latin typeface="Corben" pitchFamily="34" charset="0"/>
                <a:ea typeface="Corben" pitchFamily="34" charset="-122"/>
                <a:cs typeface="Corben" pitchFamily="34" charset="-120"/>
              </a:rPr>
              <a:t>Enhanced Customer Loyalty</a:t>
            </a:r>
            <a:endParaRPr lang="en-US" sz="2187" dirty="0"/>
          </a:p>
        </p:txBody>
      </p:sp>
      <p:sp>
        <p:nvSpPr>
          <p:cNvPr id="6" name="Text 3"/>
          <p:cNvSpPr/>
          <p:nvPr/>
        </p:nvSpPr>
        <p:spPr>
          <a:xfrm>
            <a:off x="2037993" y="3139202"/>
            <a:ext cx="3156347" cy="3554016"/>
          </a:xfrm>
          <a:prstGeom prst="rect">
            <a:avLst/>
          </a:prstGeom>
          <a:noFill/>
          <a:ln/>
        </p:spPr>
        <p:txBody>
          <a:bodyPr wrap="square" rtlCol="0" anchor="t"/>
          <a:lstStyle/>
          <a:p>
            <a:pPr marL="0" indent="0">
              <a:lnSpc>
                <a:spcPts val="2799"/>
              </a:lnSpc>
              <a:buNone/>
            </a:pPr>
            <a:r>
              <a:rPr lang="en-US" sz="1750" dirty="0">
                <a:solidFill>
                  <a:srgbClr val="404155"/>
                </a:solidFill>
                <a:latin typeface="Nobile" pitchFamily="34" charset="0"/>
                <a:ea typeface="Nobile" pitchFamily="34" charset="-122"/>
                <a:cs typeface="Nobile" pitchFamily="34" charset="-120"/>
              </a:rPr>
              <a:t>When organizations prioritize the needs and preferences of their customers, they cultivate a deep sense of trust and loyalty. Customers feel valued, appreciated, and more inclined to remain loyal to a brand that consistently delivers exceptional experiences.</a:t>
            </a:r>
            <a:endParaRPr lang="en-US" sz="1750" dirty="0"/>
          </a:p>
        </p:txBody>
      </p:sp>
      <p:sp>
        <p:nvSpPr>
          <p:cNvPr id="7" name="Text 4"/>
          <p:cNvSpPr/>
          <p:nvPr/>
        </p:nvSpPr>
        <p:spPr>
          <a:xfrm>
            <a:off x="5743932" y="2222659"/>
            <a:ext cx="3156347" cy="694373"/>
          </a:xfrm>
          <a:prstGeom prst="rect">
            <a:avLst/>
          </a:prstGeom>
          <a:noFill/>
          <a:ln/>
        </p:spPr>
        <p:txBody>
          <a:bodyPr wrap="square" rtlCol="0" anchor="t"/>
          <a:lstStyle/>
          <a:p>
            <a:pPr marL="0" indent="0">
              <a:lnSpc>
                <a:spcPts val="2734"/>
              </a:lnSpc>
              <a:buNone/>
            </a:pPr>
            <a:r>
              <a:rPr lang="en-US" sz="2187" dirty="0">
                <a:solidFill>
                  <a:srgbClr val="1B1B27"/>
                </a:solidFill>
                <a:latin typeface="Corben" pitchFamily="34" charset="0"/>
                <a:ea typeface="Corben" pitchFamily="34" charset="-122"/>
                <a:cs typeface="Corben" pitchFamily="34" charset="-120"/>
              </a:rPr>
              <a:t>Increased Revenue and Profitability</a:t>
            </a:r>
            <a:endParaRPr lang="en-US" sz="2187" dirty="0"/>
          </a:p>
        </p:txBody>
      </p:sp>
      <p:sp>
        <p:nvSpPr>
          <p:cNvPr id="8" name="Text 5"/>
          <p:cNvSpPr/>
          <p:nvPr/>
        </p:nvSpPr>
        <p:spPr>
          <a:xfrm>
            <a:off x="5743932" y="3139202"/>
            <a:ext cx="3156347" cy="3554016"/>
          </a:xfrm>
          <a:prstGeom prst="rect">
            <a:avLst/>
          </a:prstGeom>
          <a:noFill/>
          <a:ln/>
        </p:spPr>
        <p:txBody>
          <a:bodyPr wrap="square" rtlCol="0" anchor="t"/>
          <a:lstStyle/>
          <a:p>
            <a:pPr marL="0" indent="0">
              <a:lnSpc>
                <a:spcPts val="2799"/>
              </a:lnSpc>
              <a:buNone/>
            </a:pPr>
            <a:r>
              <a:rPr lang="en-US" sz="1750" dirty="0">
                <a:solidFill>
                  <a:srgbClr val="404155"/>
                </a:solidFill>
                <a:latin typeface="Nobile" pitchFamily="34" charset="0"/>
                <a:ea typeface="Nobile" pitchFamily="34" charset="-122"/>
                <a:cs typeface="Nobile" pitchFamily="34" charset="-120"/>
              </a:rPr>
              <a:t>Customer-centric businesses often enjoy higher customer lifetime value, as satisfied customers are more likely to make repeat purchases and refer others. This translates into sustainable revenue growth and improved profitability over the long term.</a:t>
            </a:r>
            <a:endParaRPr lang="en-US" sz="1750" dirty="0"/>
          </a:p>
        </p:txBody>
      </p:sp>
      <p:sp>
        <p:nvSpPr>
          <p:cNvPr id="9" name="Text 6"/>
          <p:cNvSpPr/>
          <p:nvPr/>
        </p:nvSpPr>
        <p:spPr>
          <a:xfrm>
            <a:off x="9449872" y="2222659"/>
            <a:ext cx="3047643" cy="347186"/>
          </a:xfrm>
          <a:prstGeom prst="rect">
            <a:avLst/>
          </a:prstGeom>
          <a:noFill/>
          <a:ln/>
        </p:spPr>
        <p:txBody>
          <a:bodyPr wrap="none" rtlCol="0" anchor="t"/>
          <a:lstStyle/>
          <a:p>
            <a:pPr marL="0" indent="0">
              <a:lnSpc>
                <a:spcPts val="2734"/>
              </a:lnSpc>
              <a:buNone/>
            </a:pPr>
            <a:r>
              <a:rPr lang="en-US" sz="2187" dirty="0">
                <a:solidFill>
                  <a:srgbClr val="1B1B27"/>
                </a:solidFill>
                <a:latin typeface="Corben" pitchFamily="34" charset="0"/>
                <a:ea typeface="Corben" pitchFamily="34" charset="-122"/>
                <a:cs typeface="Corben" pitchFamily="34" charset="-120"/>
              </a:rPr>
              <a:t>Competitive Advantage</a:t>
            </a:r>
            <a:endParaRPr lang="en-US" sz="2187" dirty="0"/>
          </a:p>
        </p:txBody>
      </p:sp>
      <p:sp>
        <p:nvSpPr>
          <p:cNvPr id="10" name="Text 7"/>
          <p:cNvSpPr/>
          <p:nvPr/>
        </p:nvSpPr>
        <p:spPr>
          <a:xfrm>
            <a:off x="9449872" y="2792016"/>
            <a:ext cx="3156347" cy="4264819"/>
          </a:xfrm>
          <a:prstGeom prst="rect">
            <a:avLst/>
          </a:prstGeom>
          <a:noFill/>
          <a:ln/>
        </p:spPr>
        <p:txBody>
          <a:bodyPr wrap="square" rtlCol="0" anchor="t"/>
          <a:lstStyle/>
          <a:p>
            <a:pPr marL="0" indent="0">
              <a:lnSpc>
                <a:spcPts val="2799"/>
              </a:lnSpc>
              <a:buNone/>
            </a:pPr>
            <a:r>
              <a:rPr lang="en-US" sz="1750" dirty="0">
                <a:solidFill>
                  <a:srgbClr val="404155"/>
                </a:solidFill>
                <a:latin typeface="Nobile" pitchFamily="34" charset="0"/>
                <a:ea typeface="Nobile" pitchFamily="34" charset="-122"/>
                <a:cs typeface="Nobile" pitchFamily="34" charset="-120"/>
              </a:rPr>
              <a:t>In today's crowded marketplace, customer centricity can be a powerful differentiator. By truly understanding and catering to the unique needs of their target audience, organizations can set themselves apart from the competition and become the preferred choice for consumers.</a:t>
            </a:r>
            <a:endParaRPr lang="en-US" sz="1750" dirty="0"/>
          </a:p>
        </p:txBody>
      </p:sp>
      <p:pic>
        <p:nvPicPr>
          <p:cNvPr id="12" name="Picture 11">
            <a:extLst>
              <a:ext uri="{FF2B5EF4-FFF2-40B4-BE49-F238E27FC236}">
                <a16:creationId xmlns:a16="http://schemas.microsoft.com/office/drawing/2014/main" id="{BF15372F-BC33-63B4-DFF1-C5FCB38BBC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sp>
        <p:nvSpPr>
          <p:cNvPr id="4" name="Text 1"/>
          <p:cNvSpPr/>
          <p:nvPr/>
        </p:nvSpPr>
        <p:spPr>
          <a:xfrm>
            <a:off x="3148965" y="482918"/>
            <a:ext cx="8246031" cy="548045"/>
          </a:xfrm>
          <a:prstGeom prst="rect">
            <a:avLst/>
          </a:prstGeom>
          <a:noFill/>
          <a:ln/>
        </p:spPr>
        <p:txBody>
          <a:bodyPr wrap="none" rtlCol="0" anchor="t"/>
          <a:lstStyle/>
          <a:p>
            <a:pPr marL="0" indent="0">
              <a:lnSpc>
                <a:spcPts val="4316"/>
              </a:lnSpc>
              <a:buNone/>
            </a:pPr>
            <a:r>
              <a:rPr lang="en-US" sz="3453" dirty="0">
                <a:solidFill>
                  <a:srgbClr val="1B1B27"/>
                </a:solidFill>
                <a:latin typeface="Corben" pitchFamily="34" charset="0"/>
                <a:ea typeface="Corben" pitchFamily="34" charset="-122"/>
                <a:cs typeface="Corben" pitchFamily="34" charset="-120"/>
              </a:rPr>
              <a:t>Key Components of Customer Centricity</a:t>
            </a:r>
            <a:endParaRPr lang="en-US" sz="3453" dirty="0"/>
          </a:p>
        </p:txBody>
      </p:sp>
      <p:sp>
        <p:nvSpPr>
          <p:cNvPr id="5" name="Shape 2"/>
          <p:cNvSpPr/>
          <p:nvPr/>
        </p:nvSpPr>
        <p:spPr>
          <a:xfrm>
            <a:off x="3148965" y="1518761"/>
            <a:ext cx="394692" cy="394692"/>
          </a:xfrm>
          <a:prstGeom prst="roundRect">
            <a:avLst>
              <a:gd name="adj" fmla="val 20000"/>
            </a:avLst>
          </a:prstGeom>
          <a:solidFill>
            <a:srgbClr val="D2D9F9"/>
          </a:solidFill>
          <a:ln w="7620">
            <a:solidFill>
              <a:srgbClr val="B8BFDF"/>
            </a:solidFill>
            <a:prstDash val="solid"/>
          </a:ln>
        </p:spPr>
      </p:sp>
      <p:sp>
        <p:nvSpPr>
          <p:cNvPr id="6" name="Text 3"/>
          <p:cNvSpPr/>
          <p:nvPr/>
        </p:nvSpPr>
        <p:spPr>
          <a:xfrm>
            <a:off x="3307437" y="1551623"/>
            <a:ext cx="77748" cy="328851"/>
          </a:xfrm>
          <a:prstGeom prst="rect">
            <a:avLst/>
          </a:prstGeom>
          <a:noFill/>
          <a:ln/>
        </p:spPr>
        <p:txBody>
          <a:bodyPr wrap="none" rtlCol="0" anchor="t"/>
          <a:lstStyle/>
          <a:p>
            <a:pPr marL="0" indent="0" algn="ctr">
              <a:lnSpc>
                <a:spcPts val="2590"/>
              </a:lnSpc>
              <a:buNone/>
            </a:pPr>
            <a:r>
              <a:rPr lang="en-US" sz="2072" dirty="0">
                <a:solidFill>
                  <a:srgbClr val="404155"/>
                </a:solidFill>
                <a:latin typeface="Corben" pitchFamily="34" charset="0"/>
                <a:ea typeface="Corben" pitchFamily="34" charset="-122"/>
                <a:cs typeface="Corben" pitchFamily="34" charset="-120"/>
              </a:rPr>
              <a:t>1</a:t>
            </a:r>
            <a:endParaRPr lang="en-US" sz="2072" dirty="0"/>
          </a:p>
        </p:txBody>
      </p:sp>
      <p:sp>
        <p:nvSpPr>
          <p:cNvPr id="7" name="Text 4"/>
          <p:cNvSpPr/>
          <p:nvPr/>
        </p:nvSpPr>
        <p:spPr>
          <a:xfrm>
            <a:off x="3719036" y="1579007"/>
            <a:ext cx="3508534" cy="548164"/>
          </a:xfrm>
          <a:prstGeom prst="rect">
            <a:avLst/>
          </a:prstGeom>
          <a:noFill/>
          <a:ln/>
        </p:spPr>
        <p:txBody>
          <a:bodyPr wrap="square" rtlCol="0" anchor="t"/>
          <a:lstStyle/>
          <a:p>
            <a:pPr marL="0" indent="0">
              <a:lnSpc>
                <a:spcPts val="2158"/>
              </a:lnSpc>
              <a:buNone/>
            </a:pPr>
            <a:r>
              <a:rPr lang="en-US" sz="1727" dirty="0">
                <a:solidFill>
                  <a:srgbClr val="404155"/>
                </a:solidFill>
                <a:latin typeface="Corben" pitchFamily="34" charset="0"/>
                <a:ea typeface="Corben" pitchFamily="34" charset="-122"/>
                <a:cs typeface="Corben" pitchFamily="34" charset="-120"/>
              </a:rPr>
              <a:t>Comprehensive Customer Understanding</a:t>
            </a:r>
            <a:endParaRPr lang="en-US" sz="1727" dirty="0"/>
          </a:p>
        </p:txBody>
      </p:sp>
      <p:sp>
        <p:nvSpPr>
          <p:cNvPr id="8" name="Text 5"/>
          <p:cNvSpPr/>
          <p:nvPr/>
        </p:nvSpPr>
        <p:spPr>
          <a:xfrm>
            <a:off x="3719036" y="2232422"/>
            <a:ext cx="3508534" cy="2244090"/>
          </a:xfrm>
          <a:prstGeom prst="rect">
            <a:avLst/>
          </a:prstGeom>
          <a:noFill/>
          <a:ln/>
        </p:spPr>
        <p:txBody>
          <a:bodyPr wrap="square" rtlCol="0" anchor="t"/>
          <a:lstStyle/>
          <a:p>
            <a:pPr marL="0" indent="0">
              <a:lnSpc>
                <a:spcPts val="2210"/>
              </a:lnSpc>
              <a:buNone/>
            </a:pPr>
            <a:r>
              <a:rPr lang="en-US" sz="1381" dirty="0">
                <a:solidFill>
                  <a:srgbClr val="404155"/>
                </a:solidFill>
                <a:latin typeface="Nobile" pitchFamily="34" charset="0"/>
                <a:ea typeface="Nobile" pitchFamily="34" charset="-122"/>
                <a:cs typeface="Nobile" pitchFamily="34" charset="-120"/>
              </a:rPr>
              <a:t>Successful customer-centric organizations invest heavily in understanding their customers' needs, pain points, preferences, and behaviors. This deep understanding enables them to tailor their offerings and experiences to meet the unique requirements of each customer segment.</a:t>
            </a:r>
            <a:endParaRPr lang="en-US" sz="1381" dirty="0"/>
          </a:p>
        </p:txBody>
      </p:sp>
      <p:sp>
        <p:nvSpPr>
          <p:cNvPr id="9" name="Shape 6"/>
          <p:cNvSpPr/>
          <p:nvPr/>
        </p:nvSpPr>
        <p:spPr>
          <a:xfrm>
            <a:off x="7402949" y="1518761"/>
            <a:ext cx="394692" cy="394692"/>
          </a:xfrm>
          <a:prstGeom prst="roundRect">
            <a:avLst>
              <a:gd name="adj" fmla="val 20000"/>
            </a:avLst>
          </a:prstGeom>
          <a:solidFill>
            <a:srgbClr val="D2D9F9"/>
          </a:solidFill>
          <a:ln w="7620">
            <a:solidFill>
              <a:srgbClr val="B8BFDF"/>
            </a:solidFill>
            <a:prstDash val="solid"/>
          </a:ln>
        </p:spPr>
      </p:sp>
      <p:sp>
        <p:nvSpPr>
          <p:cNvPr id="10" name="Text 7"/>
          <p:cNvSpPr/>
          <p:nvPr/>
        </p:nvSpPr>
        <p:spPr>
          <a:xfrm>
            <a:off x="7531656" y="1551623"/>
            <a:ext cx="137160" cy="328851"/>
          </a:xfrm>
          <a:prstGeom prst="rect">
            <a:avLst/>
          </a:prstGeom>
          <a:noFill/>
          <a:ln/>
        </p:spPr>
        <p:txBody>
          <a:bodyPr wrap="none" rtlCol="0" anchor="t"/>
          <a:lstStyle/>
          <a:p>
            <a:pPr marL="0" indent="0" algn="ctr">
              <a:lnSpc>
                <a:spcPts val="2590"/>
              </a:lnSpc>
              <a:buNone/>
            </a:pPr>
            <a:r>
              <a:rPr lang="en-US" sz="2072" dirty="0">
                <a:solidFill>
                  <a:srgbClr val="404155"/>
                </a:solidFill>
                <a:latin typeface="Corben" pitchFamily="34" charset="0"/>
                <a:ea typeface="Corben" pitchFamily="34" charset="-122"/>
                <a:cs typeface="Corben" pitchFamily="34" charset="-120"/>
              </a:rPr>
              <a:t>2</a:t>
            </a:r>
            <a:endParaRPr lang="en-US" sz="2072" dirty="0"/>
          </a:p>
        </p:txBody>
      </p:sp>
      <p:sp>
        <p:nvSpPr>
          <p:cNvPr id="11" name="Text 8"/>
          <p:cNvSpPr/>
          <p:nvPr/>
        </p:nvSpPr>
        <p:spPr>
          <a:xfrm>
            <a:off x="7973020" y="1579007"/>
            <a:ext cx="3508534" cy="548164"/>
          </a:xfrm>
          <a:prstGeom prst="rect">
            <a:avLst/>
          </a:prstGeom>
          <a:noFill/>
          <a:ln/>
        </p:spPr>
        <p:txBody>
          <a:bodyPr wrap="square" rtlCol="0" anchor="t"/>
          <a:lstStyle/>
          <a:p>
            <a:pPr marL="0" indent="0">
              <a:lnSpc>
                <a:spcPts val="2158"/>
              </a:lnSpc>
              <a:buNone/>
            </a:pPr>
            <a:r>
              <a:rPr lang="en-US" sz="1727" dirty="0">
                <a:solidFill>
                  <a:srgbClr val="404155"/>
                </a:solidFill>
                <a:latin typeface="Corben" pitchFamily="34" charset="0"/>
                <a:ea typeface="Corben" pitchFamily="34" charset="-122"/>
                <a:cs typeface="Corben" pitchFamily="34" charset="-120"/>
              </a:rPr>
              <a:t>Seamless, Personalized Experiences</a:t>
            </a:r>
            <a:endParaRPr lang="en-US" sz="1727" dirty="0"/>
          </a:p>
        </p:txBody>
      </p:sp>
      <p:sp>
        <p:nvSpPr>
          <p:cNvPr id="12" name="Text 9"/>
          <p:cNvSpPr/>
          <p:nvPr/>
        </p:nvSpPr>
        <p:spPr>
          <a:xfrm>
            <a:off x="7973020" y="2232422"/>
            <a:ext cx="3508534" cy="1963579"/>
          </a:xfrm>
          <a:prstGeom prst="rect">
            <a:avLst/>
          </a:prstGeom>
          <a:noFill/>
          <a:ln/>
        </p:spPr>
        <p:txBody>
          <a:bodyPr wrap="square" rtlCol="0" anchor="t"/>
          <a:lstStyle/>
          <a:p>
            <a:pPr marL="0" indent="0">
              <a:lnSpc>
                <a:spcPts val="2210"/>
              </a:lnSpc>
              <a:buNone/>
            </a:pPr>
            <a:r>
              <a:rPr lang="en-US" sz="1381" dirty="0">
                <a:solidFill>
                  <a:srgbClr val="404155"/>
                </a:solidFill>
                <a:latin typeface="Nobile" pitchFamily="34" charset="0"/>
                <a:ea typeface="Nobile" pitchFamily="34" charset="-122"/>
                <a:cs typeface="Nobile" pitchFamily="34" charset="-120"/>
              </a:rPr>
              <a:t>Customer-centric companies strive to deliver seamless, personalized experiences across all touchpoints, from initial awareness to post-purchase support. By anticipating and addressing customer needs at every stage, they foster a sense of trust and loyalty.</a:t>
            </a:r>
            <a:endParaRPr lang="en-US" sz="1381" dirty="0"/>
          </a:p>
        </p:txBody>
      </p:sp>
      <p:sp>
        <p:nvSpPr>
          <p:cNvPr id="13" name="Shape 10"/>
          <p:cNvSpPr/>
          <p:nvPr/>
        </p:nvSpPr>
        <p:spPr>
          <a:xfrm>
            <a:off x="3148965" y="4788932"/>
            <a:ext cx="394692" cy="394692"/>
          </a:xfrm>
          <a:prstGeom prst="roundRect">
            <a:avLst>
              <a:gd name="adj" fmla="val 20000"/>
            </a:avLst>
          </a:prstGeom>
          <a:solidFill>
            <a:srgbClr val="D2D9F9"/>
          </a:solidFill>
          <a:ln w="7620">
            <a:solidFill>
              <a:srgbClr val="B8BFDF"/>
            </a:solidFill>
            <a:prstDash val="solid"/>
          </a:ln>
        </p:spPr>
      </p:sp>
      <p:sp>
        <p:nvSpPr>
          <p:cNvPr id="14" name="Text 11"/>
          <p:cNvSpPr/>
          <p:nvPr/>
        </p:nvSpPr>
        <p:spPr>
          <a:xfrm>
            <a:off x="3272433" y="4821793"/>
            <a:ext cx="147757" cy="328851"/>
          </a:xfrm>
          <a:prstGeom prst="rect">
            <a:avLst/>
          </a:prstGeom>
          <a:noFill/>
          <a:ln/>
        </p:spPr>
        <p:txBody>
          <a:bodyPr wrap="none" rtlCol="0" anchor="t"/>
          <a:lstStyle/>
          <a:p>
            <a:pPr marL="0" indent="0" algn="ctr">
              <a:lnSpc>
                <a:spcPts val="2590"/>
              </a:lnSpc>
              <a:buNone/>
            </a:pPr>
            <a:r>
              <a:rPr lang="en-US" sz="2072" dirty="0">
                <a:solidFill>
                  <a:srgbClr val="404155"/>
                </a:solidFill>
                <a:latin typeface="Corben" pitchFamily="34" charset="0"/>
                <a:ea typeface="Corben" pitchFamily="34" charset="-122"/>
                <a:cs typeface="Corben" pitchFamily="34" charset="-120"/>
              </a:rPr>
              <a:t>3</a:t>
            </a:r>
            <a:endParaRPr lang="en-US" sz="2072" dirty="0"/>
          </a:p>
        </p:txBody>
      </p:sp>
      <p:sp>
        <p:nvSpPr>
          <p:cNvPr id="15" name="Text 12"/>
          <p:cNvSpPr/>
          <p:nvPr/>
        </p:nvSpPr>
        <p:spPr>
          <a:xfrm>
            <a:off x="3719036" y="4849178"/>
            <a:ext cx="3508534" cy="548164"/>
          </a:xfrm>
          <a:prstGeom prst="rect">
            <a:avLst/>
          </a:prstGeom>
          <a:noFill/>
          <a:ln/>
        </p:spPr>
        <p:txBody>
          <a:bodyPr wrap="square" rtlCol="0" anchor="t"/>
          <a:lstStyle/>
          <a:p>
            <a:pPr marL="0" indent="0">
              <a:lnSpc>
                <a:spcPts val="2158"/>
              </a:lnSpc>
              <a:buNone/>
            </a:pPr>
            <a:r>
              <a:rPr lang="en-US" sz="1727" dirty="0">
                <a:solidFill>
                  <a:srgbClr val="404155"/>
                </a:solidFill>
                <a:latin typeface="Corben" pitchFamily="34" charset="0"/>
                <a:ea typeface="Corben" pitchFamily="34" charset="-122"/>
                <a:cs typeface="Corben" pitchFamily="34" charset="-120"/>
              </a:rPr>
              <a:t>Agile, Data-Driven Decision Making</a:t>
            </a:r>
            <a:endParaRPr lang="en-US" sz="1727" dirty="0"/>
          </a:p>
        </p:txBody>
      </p:sp>
      <p:sp>
        <p:nvSpPr>
          <p:cNvPr id="16" name="Text 13"/>
          <p:cNvSpPr/>
          <p:nvPr/>
        </p:nvSpPr>
        <p:spPr>
          <a:xfrm>
            <a:off x="3719036" y="5502593"/>
            <a:ext cx="3508534" cy="2244090"/>
          </a:xfrm>
          <a:prstGeom prst="rect">
            <a:avLst/>
          </a:prstGeom>
          <a:noFill/>
          <a:ln/>
        </p:spPr>
        <p:txBody>
          <a:bodyPr wrap="square" rtlCol="0" anchor="t"/>
          <a:lstStyle/>
          <a:p>
            <a:pPr marL="0" indent="0">
              <a:lnSpc>
                <a:spcPts val="2210"/>
              </a:lnSpc>
              <a:buNone/>
            </a:pPr>
            <a:r>
              <a:rPr lang="en-US" sz="1381" dirty="0">
                <a:solidFill>
                  <a:srgbClr val="404155"/>
                </a:solidFill>
                <a:latin typeface="Nobile" pitchFamily="34" charset="0"/>
                <a:ea typeface="Nobile" pitchFamily="34" charset="-122"/>
                <a:cs typeface="Nobile" pitchFamily="34" charset="-120"/>
              </a:rPr>
              <a:t>Customer-centric organizations leverage data-driven insights to continuously optimize their strategies, products, and services. They foster a culture of agility, where rapid experimentation and data-informed decisions drive ongoing improvements to the customer experience.</a:t>
            </a:r>
            <a:endParaRPr lang="en-US" sz="1381" dirty="0"/>
          </a:p>
        </p:txBody>
      </p:sp>
      <p:sp>
        <p:nvSpPr>
          <p:cNvPr id="17" name="Shape 14"/>
          <p:cNvSpPr/>
          <p:nvPr/>
        </p:nvSpPr>
        <p:spPr>
          <a:xfrm>
            <a:off x="7402949" y="4788932"/>
            <a:ext cx="394692" cy="394692"/>
          </a:xfrm>
          <a:prstGeom prst="roundRect">
            <a:avLst>
              <a:gd name="adj" fmla="val 20000"/>
            </a:avLst>
          </a:prstGeom>
          <a:solidFill>
            <a:srgbClr val="D2D9F9"/>
          </a:solidFill>
          <a:ln w="7620">
            <a:solidFill>
              <a:srgbClr val="B8BFDF"/>
            </a:solidFill>
            <a:prstDash val="solid"/>
          </a:ln>
        </p:spPr>
      </p:sp>
      <p:sp>
        <p:nvSpPr>
          <p:cNvPr id="18" name="Text 15"/>
          <p:cNvSpPr/>
          <p:nvPr/>
        </p:nvSpPr>
        <p:spPr>
          <a:xfrm>
            <a:off x="7533442" y="4821793"/>
            <a:ext cx="133707" cy="328851"/>
          </a:xfrm>
          <a:prstGeom prst="rect">
            <a:avLst/>
          </a:prstGeom>
          <a:noFill/>
          <a:ln/>
        </p:spPr>
        <p:txBody>
          <a:bodyPr wrap="none" rtlCol="0" anchor="t"/>
          <a:lstStyle/>
          <a:p>
            <a:pPr marL="0" indent="0" algn="ctr">
              <a:lnSpc>
                <a:spcPts val="2590"/>
              </a:lnSpc>
              <a:buNone/>
            </a:pPr>
            <a:r>
              <a:rPr lang="en-US" sz="2072" dirty="0">
                <a:solidFill>
                  <a:srgbClr val="404155"/>
                </a:solidFill>
                <a:latin typeface="Corben" pitchFamily="34" charset="0"/>
                <a:ea typeface="Corben" pitchFamily="34" charset="-122"/>
                <a:cs typeface="Corben" pitchFamily="34" charset="-120"/>
              </a:rPr>
              <a:t>4</a:t>
            </a:r>
            <a:endParaRPr lang="en-US" sz="2072" dirty="0"/>
          </a:p>
        </p:txBody>
      </p:sp>
      <p:sp>
        <p:nvSpPr>
          <p:cNvPr id="19" name="Text 16"/>
          <p:cNvSpPr/>
          <p:nvPr/>
        </p:nvSpPr>
        <p:spPr>
          <a:xfrm>
            <a:off x="7973020" y="4849178"/>
            <a:ext cx="3508534" cy="548164"/>
          </a:xfrm>
          <a:prstGeom prst="rect">
            <a:avLst/>
          </a:prstGeom>
          <a:noFill/>
          <a:ln/>
        </p:spPr>
        <p:txBody>
          <a:bodyPr wrap="square" rtlCol="0" anchor="t"/>
          <a:lstStyle/>
          <a:p>
            <a:pPr marL="0" indent="0">
              <a:lnSpc>
                <a:spcPts val="2158"/>
              </a:lnSpc>
              <a:buNone/>
            </a:pPr>
            <a:r>
              <a:rPr lang="en-US" sz="1727" dirty="0">
                <a:solidFill>
                  <a:srgbClr val="404155"/>
                </a:solidFill>
                <a:latin typeface="Corben" pitchFamily="34" charset="0"/>
                <a:ea typeface="Corben" pitchFamily="34" charset="-122"/>
                <a:cs typeface="Corben" pitchFamily="34" charset="-120"/>
              </a:rPr>
              <a:t>Empowered, Customer-Focused Employees</a:t>
            </a:r>
            <a:endParaRPr lang="en-US" sz="1727" dirty="0"/>
          </a:p>
        </p:txBody>
      </p:sp>
      <p:sp>
        <p:nvSpPr>
          <p:cNvPr id="20" name="Text 17"/>
          <p:cNvSpPr/>
          <p:nvPr/>
        </p:nvSpPr>
        <p:spPr>
          <a:xfrm>
            <a:off x="7973020" y="5502593"/>
            <a:ext cx="3508534" cy="1963579"/>
          </a:xfrm>
          <a:prstGeom prst="rect">
            <a:avLst/>
          </a:prstGeom>
          <a:noFill/>
          <a:ln/>
        </p:spPr>
        <p:txBody>
          <a:bodyPr wrap="square" rtlCol="0" anchor="t"/>
          <a:lstStyle/>
          <a:p>
            <a:pPr marL="0" indent="0">
              <a:lnSpc>
                <a:spcPts val="2210"/>
              </a:lnSpc>
              <a:buNone/>
            </a:pPr>
            <a:r>
              <a:rPr lang="en-US" sz="1381" dirty="0">
                <a:solidFill>
                  <a:srgbClr val="404155"/>
                </a:solidFill>
                <a:latin typeface="Nobile" pitchFamily="34" charset="0"/>
                <a:ea typeface="Nobile" pitchFamily="34" charset="-122"/>
                <a:cs typeface="Nobile" pitchFamily="34" charset="-120"/>
              </a:rPr>
              <a:t>Cultivating a customer-centric culture requires empowering employees to prioritize the needs of customers. This includes providing them with the necessary training, resources, and decision-making authority to deliver exceptional experiences.</a:t>
            </a:r>
            <a:endParaRPr lang="en-US" sz="1381" dirty="0"/>
          </a:p>
        </p:txBody>
      </p:sp>
      <p:pic>
        <p:nvPicPr>
          <p:cNvPr id="22" name="Picture 21">
            <a:extLst>
              <a:ext uri="{FF2B5EF4-FFF2-40B4-BE49-F238E27FC236}">
                <a16:creationId xmlns:a16="http://schemas.microsoft.com/office/drawing/2014/main" id="{41446CCC-3700-227E-26E7-12BDBB78AF4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699540"/>
          </a:xfrm>
          <a:prstGeom prst="rect">
            <a:avLst/>
          </a:prstGeom>
          <a:solidFill>
            <a:srgbClr val="F9F9FF">
              <a:alpha val="75000"/>
            </a:srgbClr>
          </a:solidFill>
          <a:ln/>
        </p:spPr>
      </p:sp>
      <p:pic>
        <p:nvPicPr>
          <p:cNvPr id="4" name="Image 1" descr="preencoded.png"/>
          <p:cNvPicPr>
            <a:picLocks noChangeAspect="1"/>
          </p:cNvPicPr>
          <p:nvPr/>
        </p:nvPicPr>
        <p:blipFill>
          <a:blip r:embed="rId4"/>
          <a:stretch>
            <a:fillRect/>
          </a:stretch>
        </p:blipFill>
        <p:spPr>
          <a:xfrm>
            <a:off x="0" y="0"/>
            <a:ext cx="14630400" cy="1944172"/>
          </a:xfrm>
          <a:prstGeom prst="rect">
            <a:avLst/>
          </a:prstGeom>
        </p:spPr>
      </p:pic>
      <p:sp>
        <p:nvSpPr>
          <p:cNvPr id="5" name="Text 1"/>
          <p:cNvSpPr/>
          <p:nvPr/>
        </p:nvSpPr>
        <p:spPr>
          <a:xfrm>
            <a:off x="3621167" y="2371844"/>
            <a:ext cx="5836801" cy="486013"/>
          </a:xfrm>
          <a:prstGeom prst="rect">
            <a:avLst/>
          </a:prstGeom>
          <a:noFill/>
          <a:ln/>
        </p:spPr>
        <p:txBody>
          <a:bodyPr wrap="none" rtlCol="0" anchor="t"/>
          <a:lstStyle/>
          <a:p>
            <a:pPr marL="0" indent="0">
              <a:lnSpc>
                <a:spcPts val="3827"/>
              </a:lnSpc>
              <a:buNone/>
            </a:pPr>
            <a:r>
              <a:rPr lang="en-US" sz="3062" dirty="0">
                <a:solidFill>
                  <a:srgbClr val="1B1B27"/>
                </a:solidFill>
                <a:latin typeface="Corben" pitchFamily="34" charset="0"/>
                <a:ea typeface="Corben" pitchFamily="34" charset="-122"/>
                <a:cs typeface="Corben" pitchFamily="34" charset="-120"/>
              </a:rPr>
              <a:t>Understanding Your Customers</a:t>
            </a:r>
            <a:endParaRPr lang="en-US" sz="3062" dirty="0"/>
          </a:p>
        </p:txBody>
      </p:sp>
      <p:sp>
        <p:nvSpPr>
          <p:cNvPr id="6" name="Shape 2"/>
          <p:cNvSpPr/>
          <p:nvPr/>
        </p:nvSpPr>
        <p:spPr>
          <a:xfrm>
            <a:off x="7299722" y="3091101"/>
            <a:ext cx="31075" cy="5180767"/>
          </a:xfrm>
          <a:prstGeom prst="roundRect">
            <a:avLst>
              <a:gd name="adj" fmla="val 225238"/>
            </a:avLst>
          </a:prstGeom>
          <a:solidFill>
            <a:srgbClr val="B8BFDF"/>
          </a:solidFill>
          <a:ln/>
        </p:spPr>
      </p:sp>
      <p:sp>
        <p:nvSpPr>
          <p:cNvPr id="7" name="Shape 3"/>
          <p:cNvSpPr/>
          <p:nvPr/>
        </p:nvSpPr>
        <p:spPr>
          <a:xfrm>
            <a:off x="6595884" y="3371910"/>
            <a:ext cx="544354" cy="31075"/>
          </a:xfrm>
          <a:prstGeom prst="roundRect">
            <a:avLst>
              <a:gd name="adj" fmla="val 225238"/>
            </a:avLst>
          </a:prstGeom>
          <a:solidFill>
            <a:srgbClr val="B8BFDF"/>
          </a:solidFill>
          <a:ln/>
        </p:spPr>
      </p:sp>
      <p:sp>
        <p:nvSpPr>
          <p:cNvPr id="8" name="Shape 4"/>
          <p:cNvSpPr/>
          <p:nvPr/>
        </p:nvSpPr>
        <p:spPr>
          <a:xfrm>
            <a:off x="7140238" y="3212544"/>
            <a:ext cx="349925" cy="349925"/>
          </a:xfrm>
          <a:prstGeom prst="roundRect">
            <a:avLst>
              <a:gd name="adj" fmla="val 20002"/>
            </a:avLst>
          </a:prstGeom>
          <a:solidFill>
            <a:srgbClr val="D2D9F9"/>
          </a:solidFill>
          <a:ln w="7620">
            <a:solidFill>
              <a:srgbClr val="B8BFDF"/>
            </a:solidFill>
            <a:prstDash val="solid"/>
          </a:ln>
        </p:spPr>
      </p:sp>
      <p:sp>
        <p:nvSpPr>
          <p:cNvPr id="9" name="Text 5"/>
          <p:cNvSpPr/>
          <p:nvPr/>
        </p:nvSpPr>
        <p:spPr>
          <a:xfrm>
            <a:off x="7280731" y="3241596"/>
            <a:ext cx="68937" cy="291703"/>
          </a:xfrm>
          <a:prstGeom prst="rect">
            <a:avLst/>
          </a:prstGeom>
          <a:noFill/>
          <a:ln/>
        </p:spPr>
        <p:txBody>
          <a:bodyPr wrap="none" rtlCol="0" anchor="t"/>
          <a:lstStyle/>
          <a:p>
            <a:pPr marL="0" indent="0" algn="ctr">
              <a:lnSpc>
                <a:spcPts val="2296"/>
              </a:lnSpc>
              <a:buNone/>
            </a:pPr>
            <a:r>
              <a:rPr lang="en-US" sz="1837" dirty="0">
                <a:solidFill>
                  <a:srgbClr val="404155"/>
                </a:solidFill>
                <a:latin typeface="Corben" pitchFamily="34" charset="0"/>
                <a:ea typeface="Corben" pitchFamily="34" charset="-122"/>
                <a:cs typeface="Corben" pitchFamily="34" charset="-120"/>
              </a:rPr>
              <a:t>1</a:t>
            </a:r>
            <a:endParaRPr lang="en-US" sz="1837" dirty="0"/>
          </a:p>
        </p:txBody>
      </p:sp>
      <p:sp>
        <p:nvSpPr>
          <p:cNvPr id="10" name="Text 6"/>
          <p:cNvSpPr/>
          <p:nvPr/>
        </p:nvSpPr>
        <p:spPr>
          <a:xfrm>
            <a:off x="4515564" y="3246596"/>
            <a:ext cx="1944172" cy="243007"/>
          </a:xfrm>
          <a:prstGeom prst="rect">
            <a:avLst/>
          </a:prstGeom>
          <a:noFill/>
          <a:ln/>
        </p:spPr>
        <p:txBody>
          <a:bodyPr wrap="none" rtlCol="0" anchor="t"/>
          <a:lstStyle/>
          <a:p>
            <a:pPr marL="0" indent="0" algn="r">
              <a:lnSpc>
                <a:spcPts val="1914"/>
              </a:lnSpc>
              <a:buNone/>
            </a:pPr>
            <a:r>
              <a:rPr lang="en-US" sz="1531" dirty="0">
                <a:solidFill>
                  <a:srgbClr val="404155"/>
                </a:solidFill>
                <a:latin typeface="Corben" pitchFamily="34" charset="0"/>
                <a:ea typeface="Corben" pitchFamily="34" charset="-122"/>
                <a:cs typeface="Corben" pitchFamily="34" charset="-120"/>
              </a:rPr>
              <a:t>Customer Research</a:t>
            </a:r>
            <a:endParaRPr lang="en-US" sz="1531" dirty="0"/>
          </a:p>
        </p:txBody>
      </p:sp>
      <p:sp>
        <p:nvSpPr>
          <p:cNvPr id="11" name="Text 7"/>
          <p:cNvSpPr/>
          <p:nvPr/>
        </p:nvSpPr>
        <p:spPr>
          <a:xfrm>
            <a:off x="3621167" y="3582829"/>
            <a:ext cx="2838569" cy="1741051"/>
          </a:xfrm>
          <a:prstGeom prst="rect">
            <a:avLst/>
          </a:prstGeom>
          <a:noFill/>
          <a:ln/>
        </p:spPr>
        <p:txBody>
          <a:bodyPr wrap="square" rtlCol="0" anchor="t"/>
          <a:lstStyle/>
          <a:p>
            <a:pPr marL="0" indent="0" algn="r">
              <a:lnSpc>
                <a:spcPts val="1960"/>
              </a:lnSpc>
              <a:buNone/>
            </a:pPr>
            <a:r>
              <a:rPr lang="en-US" sz="1225" dirty="0">
                <a:solidFill>
                  <a:srgbClr val="404155"/>
                </a:solidFill>
                <a:latin typeface="Nobile" pitchFamily="34" charset="0"/>
                <a:ea typeface="Nobile" pitchFamily="34" charset="-122"/>
                <a:cs typeface="Nobile" pitchFamily="34" charset="-120"/>
              </a:rPr>
              <a:t>Conduct in-depth market research to gather insights into your customers' demographics, psychographics, behaviors, pain points, and preferences. This information forms the foundation for a customer-centric strategy.</a:t>
            </a:r>
            <a:endParaRPr lang="en-US" sz="1225" dirty="0"/>
          </a:p>
        </p:txBody>
      </p:sp>
      <p:sp>
        <p:nvSpPr>
          <p:cNvPr id="12" name="Shape 8"/>
          <p:cNvSpPr/>
          <p:nvPr/>
        </p:nvSpPr>
        <p:spPr>
          <a:xfrm>
            <a:off x="7490162" y="4149507"/>
            <a:ext cx="544354" cy="31075"/>
          </a:xfrm>
          <a:prstGeom prst="roundRect">
            <a:avLst>
              <a:gd name="adj" fmla="val 225238"/>
            </a:avLst>
          </a:prstGeom>
          <a:solidFill>
            <a:srgbClr val="B8BFDF"/>
          </a:solidFill>
          <a:ln/>
        </p:spPr>
      </p:sp>
      <p:sp>
        <p:nvSpPr>
          <p:cNvPr id="13" name="Shape 9"/>
          <p:cNvSpPr/>
          <p:nvPr/>
        </p:nvSpPr>
        <p:spPr>
          <a:xfrm>
            <a:off x="7140238" y="3990142"/>
            <a:ext cx="349925" cy="349925"/>
          </a:xfrm>
          <a:prstGeom prst="roundRect">
            <a:avLst>
              <a:gd name="adj" fmla="val 20002"/>
            </a:avLst>
          </a:prstGeom>
          <a:solidFill>
            <a:srgbClr val="D2D9F9"/>
          </a:solidFill>
          <a:ln w="7620">
            <a:solidFill>
              <a:srgbClr val="B8BFDF"/>
            </a:solidFill>
            <a:prstDash val="solid"/>
          </a:ln>
        </p:spPr>
      </p:sp>
      <p:sp>
        <p:nvSpPr>
          <p:cNvPr id="14" name="Text 10"/>
          <p:cNvSpPr/>
          <p:nvPr/>
        </p:nvSpPr>
        <p:spPr>
          <a:xfrm>
            <a:off x="7254300" y="4019193"/>
            <a:ext cx="121682" cy="291703"/>
          </a:xfrm>
          <a:prstGeom prst="rect">
            <a:avLst/>
          </a:prstGeom>
          <a:noFill/>
          <a:ln/>
        </p:spPr>
        <p:txBody>
          <a:bodyPr wrap="none" rtlCol="0" anchor="t"/>
          <a:lstStyle/>
          <a:p>
            <a:pPr marL="0" indent="0" algn="ctr">
              <a:lnSpc>
                <a:spcPts val="2296"/>
              </a:lnSpc>
              <a:buNone/>
            </a:pPr>
            <a:r>
              <a:rPr lang="en-US" sz="1837" dirty="0">
                <a:solidFill>
                  <a:srgbClr val="404155"/>
                </a:solidFill>
                <a:latin typeface="Corben" pitchFamily="34" charset="0"/>
                <a:ea typeface="Corben" pitchFamily="34" charset="-122"/>
                <a:cs typeface="Corben" pitchFamily="34" charset="-120"/>
              </a:rPr>
              <a:t>2</a:t>
            </a:r>
            <a:endParaRPr lang="en-US" sz="1837" dirty="0"/>
          </a:p>
        </p:txBody>
      </p:sp>
      <p:sp>
        <p:nvSpPr>
          <p:cNvPr id="15" name="Text 11"/>
          <p:cNvSpPr/>
          <p:nvPr/>
        </p:nvSpPr>
        <p:spPr>
          <a:xfrm>
            <a:off x="8170664" y="4024193"/>
            <a:ext cx="2001203" cy="243007"/>
          </a:xfrm>
          <a:prstGeom prst="rect">
            <a:avLst/>
          </a:prstGeom>
          <a:noFill/>
          <a:ln/>
        </p:spPr>
        <p:txBody>
          <a:bodyPr wrap="none" rtlCol="0" anchor="t"/>
          <a:lstStyle/>
          <a:p>
            <a:pPr marL="0" indent="0" algn="l">
              <a:lnSpc>
                <a:spcPts val="1914"/>
              </a:lnSpc>
              <a:buNone/>
            </a:pPr>
            <a:r>
              <a:rPr lang="en-US" sz="1531" dirty="0">
                <a:solidFill>
                  <a:srgbClr val="404155"/>
                </a:solidFill>
                <a:latin typeface="Corben" pitchFamily="34" charset="0"/>
                <a:ea typeface="Corben" pitchFamily="34" charset="-122"/>
                <a:cs typeface="Corben" pitchFamily="34" charset="-120"/>
              </a:rPr>
              <a:t>Persona Development</a:t>
            </a:r>
            <a:endParaRPr lang="en-US" sz="1531" dirty="0"/>
          </a:p>
        </p:txBody>
      </p:sp>
      <p:sp>
        <p:nvSpPr>
          <p:cNvPr id="16" name="Text 12"/>
          <p:cNvSpPr/>
          <p:nvPr/>
        </p:nvSpPr>
        <p:spPr>
          <a:xfrm>
            <a:off x="8170664" y="4360426"/>
            <a:ext cx="2838569" cy="1492329"/>
          </a:xfrm>
          <a:prstGeom prst="rect">
            <a:avLst/>
          </a:prstGeom>
          <a:noFill/>
          <a:ln/>
        </p:spPr>
        <p:txBody>
          <a:bodyPr wrap="square" rtlCol="0" anchor="t"/>
          <a:lstStyle/>
          <a:p>
            <a:pPr marL="0" indent="0" algn="l">
              <a:lnSpc>
                <a:spcPts val="1960"/>
              </a:lnSpc>
              <a:buNone/>
            </a:pPr>
            <a:r>
              <a:rPr lang="en-US" sz="1225" dirty="0">
                <a:solidFill>
                  <a:srgbClr val="404155"/>
                </a:solidFill>
                <a:latin typeface="Nobile" pitchFamily="34" charset="0"/>
                <a:ea typeface="Nobile" pitchFamily="34" charset="-122"/>
                <a:cs typeface="Nobile" pitchFamily="34" charset="-120"/>
              </a:rPr>
              <a:t>Create detailed customer personas that represent your target audience. These personas help you tailor your products, services, and experiences to the specific needs and desires of each segment.</a:t>
            </a:r>
            <a:endParaRPr lang="en-US" sz="1225" dirty="0"/>
          </a:p>
        </p:txBody>
      </p:sp>
      <p:sp>
        <p:nvSpPr>
          <p:cNvPr id="17" name="Shape 13"/>
          <p:cNvSpPr/>
          <p:nvPr/>
        </p:nvSpPr>
        <p:spPr>
          <a:xfrm>
            <a:off x="6595884" y="5915680"/>
            <a:ext cx="544354" cy="31075"/>
          </a:xfrm>
          <a:prstGeom prst="roundRect">
            <a:avLst>
              <a:gd name="adj" fmla="val 225238"/>
            </a:avLst>
          </a:prstGeom>
          <a:solidFill>
            <a:srgbClr val="B8BFDF"/>
          </a:solidFill>
          <a:ln/>
        </p:spPr>
      </p:sp>
      <p:sp>
        <p:nvSpPr>
          <p:cNvPr id="18" name="Shape 14"/>
          <p:cNvSpPr/>
          <p:nvPr/>
        </p:nvSpPr>
        <p:spPr>
          <a:xfrm>
            <a:off x="7140238" y="5756315"/>
            <a:ext cx="349925" cy="349925"/>
          </a:xfrm>
          <a:prstGeom prst="roundRect">
            <a:avLst>
              <a:gd name="adj" fmla="val 20002"/>
            </a:avLst>
          </a:prstGeom>
          <a:solidFill>
            <a:srgbClr val="D2D9F9"/>
          </a:solidFill>
          <a:ln w="7620">
            <a:solidFill>
              <a:srgbClr val="B8BFDF"/>
            </a:solidFill>
            <a:prstDash val="solid"/>
          </a:ln>
        </p:spPr>
      </p:sp>
      <p:sp>
        <p:nvSpPr>
          <p:cNvPr id="19" name="Text 15"/>
          <p:cNvSpPr/>
          <p:nvPr/>
        </p:nvSpPr>
        <p:spPr>
          <a:xfrm>
            <a:off x="7249656" y="5785366"/>
            <a:ext cx="131088" cy="291703"/>
          </a:xfrm>
          <a:prstGeom prst="rect">
            <a:avLst/>
          </a:prstGeom>
          <a:noFill/>
          <a:ln/>
        </p:spPr>
        <p:txBody>
          <a:bodyPr wrap="none" rtlCol="0" anchor="t"/>
          <a:lstStyle/>
          <a:p>
            <a:pPr marL="0" indent="0" algn="ctr">
              <a:lnSpc>
                <a:spcPts val="2296"/>
              </a:lnSpc>
              <a:buNone/>
            </a:pPr>
            <a:r>
              <a:rPr lang="en-US" sz="1837" dirty="0">
                <a:solidFill>
                  <a:srgbClr val="404155"/>
                </a:solidFill>
                <a:latin typeface="Corben" pitchFamily="34" charset="0"/>
                <a:ea typeface="Corben" pitchFamily="34" charset="-122"/>
                <a:cs typeface="Corben" pitchFamily="34" charset="-120"/>
              </a:rPr>
              <a:t>3</a:t>
            </a:r>
            <a:endParaRPr lang="en-US" sz="1837" dirty="0"/>
          </a:p>
        </p:txBody>
      </p:sp>
      <p:sp>
        <p:nvSpPr>
          <p:cNvPr id="20" name="Text 16"/>
          <p:cNvSpPr/>
          <p:nvPr/>
        </p:nvSpPr>
        <p:spPr>
          <a:xfrm>
            <a:off x="3884414" y="5790367"/>
            <a:ext cx="2575322" cy="243007"/>
          </a:xfrm>
          <a:prstGeom prst="rect">
            <a:avLst/>
          </a:prstGeom>
          <a:noFill/>
          <a:ln/>
        </p:spPr>
        <p:txBody>
          <a:bodyPr wrap="none" rtlCol="0" anchor="t"/>
          <a:lstStyle/>
          <a:p>
            <a:pPr marL="0" indent="0" algn="r">
              <a:lnSpc>
                <a:spcPts val="1914"/>
              </a:lnSpc>
              <a:buNone/>
            </a:pPr>
            <a:r>
              <a:rPr lang="en-US" sz="1531" dirty="0">
                <a:solidFill>
                  <a:srgbClr val="404155"/>
                </a:solidFill>
                <a:latin typeface="Corben" pitchFamily="34" charset="0"/>
                <a:ea typeface="Corben" pitchFamily="34" charset="-122"/>
                <a:cs typeface="Corben" pitchFamily="34" charset="-120"/>
              </a:rPr>
              <a:t>Continuous Feedback Loops</a:t>
            </a:r>
            <a:endParaRPr lang="en-US" sz="1531" dirty="0"/>
          </a:p>
        </p:txBody>
      </p:sp>
      <p:sp>
        <p:nvSpPr>
          <p:cNvPr id="21" name="Text 17"/>
          <p:cNvSpPr/>
          <p:nvPr/>
        </p:nvSpPr>
        <p:spPr>
          <a:xfrm>
            <a:off x="3621167" y="6126599"/>
            <a:ext cx="2838569" cy="1989773"/>
          </a:xfrm>
          <a:prstGeom prst="rect">
            <a:avLst/>
          </a:prstGeom>
          <a:noFill/>
          <a:ln/>
        </p:spPr>
        <p:txBody>
          <a:bodyPr wrap="square" rtlCol="0" anchor="t"/>
          <a:lstStyle/>
          <a:p>
            <a:pPr marL="0" indent="0" algn="r">
              <a:lnSpc>
                <a:spcPts val="1960"/>
              </a:lnSpc>
              <a:buNone/>
            </a:pPr>
            <a:r>
              <a:rPr lang="en-US" sz="1225" dirty="0">
                <a:solidFill>
                  <a:srgbClr val="404155"/>
                </a:solidFill>
                <a:latin typeface="Nobile" pitchFamily="34" charset="0"/>
                <a:ea typeface="Nobile" pitchFamily="34" charset="-122"/>
                <a:cs typeface="Nobile" pitchFamily="34" charset="-120"/>
              </a:rPr>
              <a:t>Establish ongoing feedback channels, such as surveys, focus groups, and customer interactions, to continuously learn about your customers' evolving needs and preferences. This allows you to respond quickly and adapt your approach accordingly.</a:t>
            </a:r>
            <a:endParaRPr lang="en-US" sz="1225" dirty="0"/>
          </a:p>
        </p:txBody>
      </p:sp>
      <p:pic>
        <p:nvPicPr>
          <p:cNvPr id="23" name="Picture 22">
            <a:extLst>
              <a:ext uri="{FF2B5EF4-FFF2-40B4-BE49-F238E27FC236}">
                <a16:creationId xmlns:a16="http://schemas.microsoft.com/office/drawing/2014/main" id="{3BAF8E30-5182-59D8-23F2-9A05C6E5B08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1029"/>
          </a:xfrm>
          <a:prstGeom prst="rect">
            <a:avLst/>
          </a:prstGeom>
          <a:solidFill>
            <a:srgbClr val="F9F9FF">
              <a:alpha val="75000"/>
            </a:srgbClr>
          </a:solidFill>
          <a:ln/>
        </p:spPr>
      </p:sp>
      <p:pic>
        <p:nvPicPr>
          <p:cNvPr id="4" name="Image 1" descr="preencoded.png"/>
          <p:cNvPicPr>
            <a:picLocks noChangeAspect="1"/>
          </p:cNvPicPr>
          <p:nvPr/>
        </p:nvPicPr>
        <p:blipFill>
          <a:blip r:embed="rId4"/>
          <a:stretch>
            <a:fillRect/>
          </a:stretch>
        </p:blipFill>
        <p:spPr>
          <a:xfrm>
            <a:off x="10972800" y="0"/>
            <a:ext cx="3657600" cy="8231029"/>
          </a:xfrm>
          <a:prstGeom prst="rect">
            <a:avLst/>
          </a:prstGeom>
        </p:spPr>
      </p:pic>
      <p:sp>
        <p:nvSpPr>
          <p:cNvPr id="5" name="Text 1"/>
          <p:cNvSpPr/>
          <p:nvPr/>
        </p:nvSpPr>
        <p:spPr>
          <a:xfrm>
            <a:off x="769144" y="563999"/>
            <a:ext cx="9434512" cy="1281827"/>
          </a:xfrm>
          <a:prstGeom prst="rect">
            <a:avLst/>
          </a:prstGeom>
          <a:noFill/>
          <a:ln/>
        </p:spPr>
        <p:txBody>
          <a:bodyPr wrap="square" rtlCol="0" anchor="t"/>
          <a:lstStyle/>
          <a:p>
            <a:pPr marL="0" indent="0">
              <a:lnSpc>
                <a:spcPts val="5047"/>
              </a:lnSpc>
              <a:buNone/>
            </a:pPr>
            <a:r>
              <a:rPr lang="en-US" sz="4038" dirty="0">
                <a:solidFill>
                  <a:srgbClr val="1B1B27"/>
                </a:solidFill>
                <a:latin typeface="Corben" pitchFamily="34" charset="0"/>
                <a:ea typeface="Corben" pitchFamily="34" charset="-122"/>
                <a:cs typeface="Corben" pitchFamily="34" charset="-120"/>
              </a:rPr>
              <a:t>Designing Customer-Centric Experiences</a:t>
            </a:r>
            <a:endParaRPr lang="en-US" sz="4038" dirty="0"/>
          </a:p>
        </p:txBody>
      </p:sp>
      <p:pic>
        <p:nvPicPr>
          <p:cNvPr id="6" name="Image 2" descr="preencoded.png"/>
          <p:cNvPicPr>
            <a:picLocks noChangeAspect="1"/>
          </p:cNvPicPr>
          <p:nvPr/>
        </p:nvPicPr>
        <p:blipFill>
          <a:blip r:embed="rId5"/>
          <a:stretch>
            <a:fillRect/>
          </a:stretch>
        </p:blipFill>
        <p:spPr>
          <a:xfrm>
            <a:off x="769144" y="2153483"/>
            <a:ext cx="1025485" cy="1837849"/>
          </a:xfrm>
          <a:prstGeom prst="rect">
            <a:avLst/>
          </a:prstGeom>
        </p:spPr>
      </p:pic>
      <p:sp>
        <p:nvSpPr>
          <p:cNvPr id="7" name="Text 2"/>
          <p:cNvSpPr/>
          <p:nvPr/>
        </p:nvSpPr>
        <p:spPr>
          <a:xfrm>
            <a:off x="2102287" y="2358509"/>
            <a:ext cx="2563773" cy="320397"/>
          </a:xfrm>
          <a:prstGeom prst="rect">
            <a:avLst/>
          </a:prstGeom>
          <a:noFill/>
          <a:ln/>
        </p:spPr>
        <p:txBody>
          <a:bodyPr wrap="none" rtlCol="0" anchor="t"/>
          <a:lstStyle/>
          <a:p>
            <a:pPr marL="0" indent="0" algn="l">
              <a:lnSpc>
                <a:spcPts val="2523"/>
              </a:lnSpc>
              <a:buNone/>
            </a:pPr>
            <a:r>
              <a:rPr lang="en-US" sz="2019" dirty="0">
                <a:solidFill>
                  <a:srgbClr val="404155"/>
                </a:solidFill>
                <a:latin typeface="Corben" pitchFamily="34" charset="0"/>
                <a:ea typeface="Corben" pitchFamily="34" charset="-122"/>
                <a:cs typeface="Corben" pitchFamily="34" charset="-120"/>
              </a:rPr>
              <a:t>Journey Mapping</a:t>
            </a:r>
            <a:endParaRPr lang="en-US" sz="2019" dirty="0"/>
          </a:p>
        </p:txBody>
      </p:sp>
      <p:sp>
        <p:nvSpPr>
          <p:cNvPr id="8" name="Text 3"/>
          <p:cNvSpPr/>
          <p:nvPr/>
        </p:nvSpPr>
        <p:spPr>
          <a:xfrm>
            <a:off x="2102287" y="2801898"/>
            <a:ext cx="8101370" cy="984409"/>
          </a:xfrm>
          <a:prstGeom prst="rect">
            <a:avLst/>
          </a:prstGeom>
          <a:noFill/>
          <a:ln/>
        </p:spPr>
        <p:txBody>
          <a:bodyPr wrap="square" rtlCol="0" anchor="t"/>
          <a:lstStyle/>
          <a:p>
            <a:pPr marL="0" indent="0" algn="l">
              <a:lnSpc>
                <a:spcPts val="2584"/>
              </a:lnSpc>
              <a:buNone/>
            </a:pPr>
            <a:r>
              <a:rPr lang="en-US" sz="1615" dirty="0">
                <a:solidFill>
                  <a:srgbClr val="404155"/>
                </a:solidFill>
                <a:latin typeface="Nobile" pitchFamily="34" charset="0"/>
                <a:ea typeface="Nobile" pitchFamily="34" charset="-122"/>
                <a:cs typeface="Nobile" pitchFamily="34" charset="-120"/>
              </a:rPr>
              <a:t>Map out the complete customer journey, identifying key touchpoints and pain points. This holistic view enables you to design seamless, end-to-end experiences that address customer needs at every stage.</a:t>
            </a:r>
            <a:endParaRPr lang="en-US" sz="1615" dirty="0"/>
          </a:p>
        </p:txBody>
      </p:sp>
      <p:pic>
        <p:nvPicPr>
          <p:cNvPr id="9" name="Image 3" descr="preencoded.png"/>
          <p:cNvPicPr>
            <a:picLocks noChangeAspect="1"/>
          </p:cNvPicPr>
          <p:nvPr/>
        </p:nvPicPr>
        <p:blipFill>
          <a:blip r:embed="rId6"/>
          <a:stretch>
            <a:fillRect/>
          </a:stretch>
        </p:blipFill>
        <p:spPr>
          <a:xfrm>
            <a:off x="769144" y="3991332"/>
            <a:ext cx="1025485" cy="1837849"/>
          </a:xfrm>
          <a:prstGeom prst="rect">
            <a:avLst/>
          </a:prstGeom>
        </p:spPr>
      </p:pic>
      <p:sp>
        <p:nvSpPr>
          <p:cNvPr id="10" name="Text 4"/>
          <p:cNvSpPr/>
          <p:nvPr/>
        </p:nvSpPr>
        <p:spPr>
          <a:xfrm>
            <a:off x="2102287" y="4196358"/>
            <a:ext cx="4244697" cy="320397"/>
          </a:xfrm>
          <a:prstGeom prst="rect">
            <a:avLst/>
          </a:prstGeom>
          <a:noFill/>
          <a:ln/>
        </p:spPr>
        <p:txBody>
          <a:bodyPr wrap="none" rtlCol="0" anchor="t"/>
          <a:lstStyle/>
          <a:p>
            <a:pPr marL="0" indent="0" algn="l">
              <a:lnSpc>
                <a:spcPts val="2523"/>
              </a:lnSpc>
              <a:buNone/>
            </a:pPr>
            <a:r>
              <a:rPr lang="en-US" sz="2019" dirty="0">
                <a:solidFill>
                  <a:srgbClr val="404155"/>
                </a:solidFill>
                <a:latin typeface="Corben" pitchFamily="34" charset="0"/>
                <a:ea typeface="Corben" pitchFamily="34" charset="-122"/>
                <a:cs typeface="Corben" pitchFamily="34" charset="-120"/>
              </a:rPr>
              <a:t>Personalization and Customization</a:t>
            </a:r>
            <a:endParaRPr lang="en-US" sz="2019" dirty="0"/>
          </a:p>
        </p:txBody>
      </p:sp>
      <p:sp>
        <p:nvSpPr>
          <p:cNvPr id="11" name="Text 5"/>
          <p:cNvSpPr/>
          <p:nvPr/>
        </p:nvSpPr>
        <p:spPr>
          <a:xfrm>
            <a:off x="2102287" y="4639747"/>
            <a:ext cx="8101370" cy="984409"/>
          </a:xfrm>
          <a:prstGeom prst="rect">
            <a:avLst/>
          </a:prstGeom>
          <a:noFill/>
          <a:ln/>
        </p:spPr>
        <p:txBody>
          <a:bodyPr wrap="square" rtlCol="0" anchor="t"/>
          <a:lstStyle/>
          <a:p>
            <a:pPr marL="0" indent="0" algn="l">
              <a:lnSpc>
                <a:spcPts val="2584"/>
              </a:lnSpc>
              <a:buNone/>
            </a:pPr>
            <a:r>
              <a:rPr lang="en-US" sz="1615" dirty="0">
                <a:solidFill>
                  <a:srgbClr val="404155"/>
                </a:solidFill>
                <a:latin typeface="Nobile" pitchFamily="34" charset="0"/>
                <a:ea typeface="Nobile" pitchFamily="34" charset="-122"/>
                <a:cs typeface="Nobile" pitchFamily="34" charset="-120"/>
              </a:rPr>
              <a:t>Leverage data and technology to personalize the customer experience, tailoring product recommendations, content, and interactions to individual preferences and behaviors.</a:t>
            </a:r>
            <a:endParaRPr lang="en-US" sz="1615" dirty="0"/>
          </a:p>
        </p:txBody>
      </p:sp>
      <p:pic>
        <p:nvPicPr>
          <p:cNvPr id="12" name="Image 4" descr="preencoded.png"/>
          <p:cNvPicPr>
            <a:picLocks noChangeAspect="1"/>
          </p:cNvPicPr>
          <p:nvPr/>
        </p:nvPicPr>
        <p:blipFill>
          <a:blip r:embed="rId7"/>
          <a:stretch>
            <a:fillRect/>
          </a:stretch>
        </p:blipFill>
        <p:spPr>
          <a:xfrm>
            <a:off x="769144" y="5829181"/>
            <a:ext cx="1025485" cy="1837849"/>
          </a:xfrm>
          <a:prstGeom prst="rect">
            <a:avLst/>
          </a:prstGeom>
        </p:spPr>
      </p:pic>
      <p:sp>
        <p:nvSpPr>
          <p:cNvPr id="13" name="Text 6"/>
          <p:cNvSpPr/>
          <p:nvPr/>
        </p:nvSpPr>
        <p:spPr>
          <a:xfrm>
            <a:off x="2102287" y="6034207"/>
            <a:ext cx="3069312" cy="320397"/>
          </a:xfrm>
          <a:prstGeom prst="rect">
            <a:avLst/>
          </a:prstGeom>
          <a:noFill/>
          <a:ln/>
        </p:spPr>
        <p:txBody>
          <a:bodyPr wrap="none" rtlCol="0" anchor="t"/>
          <a:lstStyle/>
          <a:p>
            <a:pPr marL="0" indent="0" algn="l">
              <a:lnSpc>
                <a:spcPts val="2523"/>
              </a:lnSpc>
              <a:buNone/>
            </a:pPr>
            <a:r>
              <a:rPr lang="en-US" sz="2019" dirty="0">
                <a:solidFill>
                  <a:srgbClr val="404155"/>
                </a:solidFill>
                <a:latin typeface="Corben" pitchFamily="34" charset="0"/>
                <a:ea typeface="Corben" pitchFamily="34" charset="-122"/>
                <a:cs typeface="Corben" pitchFamily="34" charset="-120"/>
              </a:rPr>
              <a:t>Omnichannel Integration</a:t>
            </a:r>
            <a:endParaRPr lang="en-US" sz="2019" dirty="0"/>
          </a:p>
        </p:txBody>
      </p:sp>
      <p:sp>
        <p:nvSpPr>
          <p:cNvPr id="14" name="Text 7"/>
          <p:cNvSpPr/>
          <p:nvPr/>
        </p:nvSpPr>
        <p:spPr>
          <a:xfrm>
            <a:off x="2102287" y="6477595"/>
            <a:ext cx="8101370" cy="984409"/>
          </a:xfrm>
          <a:prstGeom prst="rect">
            <a:avLst/>
          </a:prstGeom>
          <a:noFill/>
          <a:ln/>
        </p:spPr>
        <p:txBody>
          <a:bodyPr wrap="square" rtlCol="0" anchor="t"/>
          <a:lstStyle/>
          <a:p>
            <a:pPr marL="0" indent="0" algn="l">
              <a:lnSpc>
                <a:spcPts val="2584"/>
              </a:lnSpc>
              <a:buNone/>
            </a:pPr>
            <a:r>
              <a:rPr lang="en-US" sz="1615" dirty="0">
                <a:solidFill>
                  <a:srgbClr val="404155"/>
                </a:solidFill>
                <a:latin typeface="Nobile" pitchFamily="34" charset="0"/>
                <a:ea typeface="Nobile" pitchFamily="34" charset="-122"/>
                <a:cs typeface="Nobile" pitchFamily="34" charset="-120"/>
              </a:rPr>
              <a:t>Ensure a consistent, seamless experience across all channels, both physical and digital, allowing customers to engage with your brand on their preferred platforms.</a:t>
            </a:r>
            <a:endParaRPr lang="en-US" sz="1615" dirty="0"/>
          </a:p>
        </p:txBody>
      </p:sp>
      <p:pic>
        <p:nvPicPr>
          <p:cNvPr id="16" name="Picture 15">
            <a:extLst>
              <a:ext uri="{FF2B5EF4-FFF2-40B4-BE49-F238E27FC236}">
                <a16:creationId xmlns:a16="http://schemas.microsoft.com/office/drawing/2014/main" id="{25EC0AE0-4C63-5200-7899-E830F0005F3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9F9FF">
              <a:alpha val="75000"/>
            </a:srgbClr>
          </a:solidFill>
          <a:ln/>
        </p:spPr>
      </p:sp>
      <p:sp>
        <p:nvSpPr>
          <p:cNvPr id="4" name="Text 1"/>
          <p:cNvSpPr/>
          <p:nvPr/>
        </p:nvSpPr>
        <p:spPr>
          <a:xfrm>
            <a:off x="2037993" y="1598890"/>
            <a:ext cx="7687389" cy="694373"/>
          </a:xfrm>
          <a:prstGeom prst="rect">
            <a:avLst/>
          </a:prstGeom>
          <a:noFill/>
          <a:ln/>
        </p:spPr>
        <p:txBody>
          <a:bodyPr wrap="none" rtlCol="0" anchor="t"/>
          <a:lstStyle/>
          <a:p>
            <a:pPr marL="0" indent="0">
              <a:lnSpc>
                <a:spcPts val="5468"/>
              </a:lnSpc>
              <a:buNone/>
            </a:pPr>
            <a:r>
              <a:rPr lang="en-US" sz="4374" dirty="0">
                <a:solidFill>
                  <a:srgbClr val="1B1B27"/>
                </a:solidFill>
                <a:latin typeface="Corben" pitchFamily="34" charset="0"/>
                <a:ea typeface="Corben" pitchFamily="34" charset="-122"/>
                <a:cs typeface="Corben" pitchFamily="34" charset="-120"/>
              </a:rPr>
              <a:t>Empowering Your Employees</a:t>
            </a:r>
            <a:endParaRPr lang="en-US" sz="4374" dirty="0"/>
          </a:p>
        </p:txBody>
      </p:sp>
      <p:sp>
        <p:nvSpPr>
          <p:cNvPr id="5" name="Text 2"/>
          <p:cNvSpPr/>
          <p:nvPr/>
        </p:nvSpPr>
        <p:spPr>
          <a:xfrm>
            <a:off x="2037993" y="2959775"/>
            <a:ext cx="2388632" cy="694373"/>
          </a:xfrm>
          <a:prstGeom prst="rect">
            <a:avLst/>
          </a:prstGeom>
          <a:noFill/>
          <a:ln/>
        </p:spPr>
        <p:txBody>
          <a:bodyPr wrap="square" rtlCol="0" anchor="t"/>
          <a:lstStyle/>
          <a:p>
            <a:pPr marL="0" indent="0" algn="l">
              <a:lnSpc>
                <a:spcPts val="2734"/>
              </a:lnSpc>
              <a:buNone/>
            </a:pPr>
            <a:r>
              <a:rPr lang="en-US" sz="2187" dirty="0">
                <a:solidFill>
                  <a:srgbClr val="404155"/>
                </a:solidFill>
                <a:latin typeface="Corben" pitchFamily="34" charset="0"/>
                <a:ea typeface="Corben" pitchFamily="34" charset="-122"/>
                <a:cs typeface="Corben" pitchFamily="34" charset="-120"/>
              </a:rPr>
              <a:t>Comprehensive Training</a:t>
            </a:r>
            <a:endParaRPr lang="en-US" sz="2187" dirty="0"/>
          </a:p>
        </p:txBody>
      </p:sp>
      <p:sp>
        <p:nvSpPr>
          <p:cNvPr id="6" name="Text 3"/>
          <p:cNvSpPr/>
          <p:nvPr/>
        </p:nvSpPr>
        <p:spPr>
          <a:xfrm>
            <a:off x="2037993" y="3787378"/>
            <a:ext cx="2388632" cy="2843213"/>
          </a:xfrm>
          <a:prstGeom prst="rect">
            <a:avLst/>
          </a:prstGeom>
          <a:noFill/>
          <a:ln/>
        </p:spPr>
        <p:txBody>
          <a:bodyPr wrap="square" rtlCol="0" anchor="t"/>
          <a:lstStyle/>
          <a:p>
            <a:pPr marL="0" indent="0" algn="l">
              <a:lnSpc>
                <a:spcPts val="2799"/>
              </a:lnSpc>
              <a:buNone/>
            </a:pPr>
            <a:r>
              <a:rPr lang="en-US" sz="1750" dirty="0">
                <a:solidFill>
                  <a:srgbClr val="404155"/>
                </a:solidFill>
                <a:latin typeface="Nobile" pitchFamily="34" charset="0"/>
                <a:ea typeface="Nobile" pitchFamily="34" charset="-122"/>
                <a:cs typeface="Nobile" pitchFamily="34" charset="-120"/>
              </a:rPr>
              <a:t>Provide thorough training to equip your employees with the knowledge, skills, and tools necessary to deliver exceptional customer experiences.</a:t>
            </a:r>
            <a:endParaRPr lang="en-US" sz="1750" dirty="0"/>
          </a:p>
        </p:txBody>
      </p:sp>
      <p:sp>
        <p:nvSpPr>
          <p:cNvPr id="7" name="Text 4"/>
          <p:cNvSpPr/>
          <p:nvPr/>
        </p:nvSpPr>
        <p:spPr>
          <a:xfrm>
            <a:off x="4759881" y="2959775"/>
            <a:ext cx="2388632" cy="694373"/>
          </a:xfrm>
          <a:prstGeom prst="rect">
            <a:avLst/>
          </a:prstGeom>
          <a:noFill/>
          <a:ln/>
        </p:spPr>
        <p:txBody>
          <a:bodyPr wrap="square" rtlCol="0" anchor="t"/>
          <a:lstStyle/>
          <a:p>
            <a:pPr marL="0" indent="0" algn="l">
              <a:lnSpc>
                <a:spcPts val="2734"/>
              </a:lnSpc>
              <a:buNone/>
            </a:pPr>
            <a:r>
              <a:rPr lang="en-US" sz="2187" dirty="0">
                <a:solidFill>
                  <a:srgbClr val="404155"/>
                </a:solidFill>
                <a:latin typeface="Corben" pitchFamily="34" charset="0"/>
                <a:ea typeface="Corben" pitchFamily="34" charset="-122"/>
                <a:cs typeface="Corben" pitchFamily="34" charset="-120"/>
              </a:rPr>
              <a:t>Empowered Decision-Making</a:t>
            </a:r>
            <a:endParaRPr lang="en-US" sz="2187" dirty="0"/>
          </a:p>
        </p:txBody>
      </p:sp>
      <p:sp>
        <p:nvSpPr>
          <p:cNvPr id="8" name="Text 5"/>
          <p:cNvSpPr/>
          <p:nvPr/>
        </p:nvSpPr>
        <p:spPr>
          <a:xfrm>
            <a:off x="4759881" y="3787378"/>
            <a:ext cx="2388632" cy="2843213"/>
          </a:xfrm>
          <a:prstGeom prst="rect">
            <a:avLst/>
          </a:prstGeom>
          <a:noFill/>
          <a:ln/>
        </p:spPr>
        <p:txBody>
          <a:bodyPr wrap="square" rtlCol="0" anchor="t"/>
          <a:lstStyle/>
          <a:p>
            <a:pPr marL="0" indent="0" algn="l">
              <a:lnSpc>
                <a:spcPts val="2799"/>
              </a:lnSpc>
              <a:buNone/>
            </a:pPr>
            <a:r>
              <a:rPr lang="en-US" sz="1750" dirty="0">
                <a:solidFill>
                  <a:srgbClr val="404155"/>
                </a:solidFill>
                <a:latin typeface="Nobile" pitchFamily="34" charset="0"/>
                <a:ea typeface="Nobile" pitchFamily="34" charset="-122"/>
                <a:cs typeface="Nobile" pitchFamily="34" charset="-120"/>
              </a:rPr>
              <a:t>Empower your frontline employees to make decisions that prioritize customer needs, fostering a sense of ownership and accountability.</a:t>
            </a:r>
            <a:endParaRPr lang="en-US" sz="1750" dirty="0"/>
          </a:p>
        </p:txBody>
      </p:sp>
      <p:sp>
        <p:nvSpPr>
          <p:cNvPr id="9" name="Text 6"/>
          <p:cNvSpPr/>
          <p:nvPr/>
        </p:nvSpPr>
        <p:spPr>
          <a:xfrm>
            <a:off x="7481768" y="2959775"/>
            <a:ext cx="2388632" cy="694373"/>
          </a:xfrm>
          <a:prstGeom prst="rect">
            <a:avLst/>
          </a:prstGeom>
          <a:noFill/>
          <a:ln/>
        </p:spPr>
        <p:txBody>
          <a:bodyPr wrap="square" rtlCol="0" anchor="t"/>
          <a:lstStyle/>
          <a:p>
            <a:pPr marL="0" indent="0" algn="l">
              <a:lnSpc>
                <a:spcPts val="2734"/>
              </a:lnSpc>
              <a:buNone/>
            </a:pPr>
            <a:r>
              <a:rPr lang="en-US" sz="2187" dirty="0">
                <a:solidFill>
                  <a:srgbClr val="404155"/>
                </a:solidFill>
                <a:latin typeface="Corben" pitchFamily="34" charset="0"/>
                <a:ea typeface="Corben" pitchFamily="34" charset="-122"/>
                <a:cs typeface="Corben" pitchFamily="34" charset="-120"/>
              </a:rPr>
              <a:t>Cross-Functional Collaboration</a:t>
            </a:r>
            <a:endParaRPr lang="en-US" sz="2187" dirty="0"/>
          </a:p>
        </p:txBody>
      </p:sp>
      <p:sp>
        <p:nvSpPr>
          <p:cNvPr id="10" name="Text 7"/>
          <p:cNvSpPr/>
          <p:nvPr/>
        </p:nvSpPr>
        <p:spPr>
          <a:xfrm>
            <a:off x="7481768" y="3787378"/>
            <a:ext cx="2388632" cy="2487811"/>
          </a:xfrm>
          <a:prstGeom prst="rect">
            <a:avLst/>
          </a:prstGeom>
          <a:noFill/>
          <a:ln/>
        </p:spPr>
        <p:txBody>
          <a:bodyPr wrap="square" rtlCol="0" anchor="t"/>
          <a:lstStyle/>
          <a:p>
            <a:pPr marL="0" indent="0" algn="l">
              <a:lnSpc>
                <a:spcPts val="2799"/>
              </a:lnSpc>
              <a:buNone/>
            </a:pPr>
            <a:r>
              <a:rPr lang="en-US" sz="1750" dirty="0">
                <a:solidFill>
                  <a:srgbClr val="404155"/>
                </a:solidFill>
                <a:latin typeface="Nobile" pitchFamily="34" charset="0"/>
                <a:ea typeface="Nobile" pitchFamily="34" charset="-122"/>
                <a:cs typeface="Nobile" pitchFamily="34" charset="-120"/>
              </a:rPr>
              <a:t>Encourage cross-functional collaboration, enabling employees to work together to identify and address customer pain points.</a:t>
            </a:r>
            <a:endParaRPr lang="en-US" sz="1750" dirty="0"/>
          </a:p>
        </p:txBody>
      </p:sp>
      <p:sp>
        <p:nvSpPr>
          <p:cNvPr id="11" name="Text 8"/>
          <p:cNvSpPr/>
          <p:nvPr/>
        </p:nvSpPr>
        <p:spPr>
          <a:xfrm>
            <a:off x="10203656" y="2959775"/>
            <a:ext cx="2388751" cy="694373"/>
          </a:xfrm>
          <a:prstGeom prst="rect">
            <a:avLst/>
          </a:prstGeom>
          <a:noFill/>
          <a:ln/>
        </p:spPr>
        <p:txBody>
          <a:bodyPr wrap="square" rtlCol="0" anchor="t"/>
          <a:lstStyle/>
          <a:p>
            <a:pPr marL="0" indent="0" algn="l">
              <a:lnSpc>
                <a:spcPts val="2734"/>
              </a:lnSpc>
              <a:buNone/>
            </a:pPr>
            <a:r>
              <a:rPr lang="en-US" sz="2187" dirty="0">
                <a:solidFill>
                  <a:srgbClr val="404155"/>
                </a:solidFill>
                <a:latin typeface="Corben" pitchFamily="34" charset="0"/>
                <a:ea typeface="Corben" pitchFamily="34" charset="-122"/>
                <a:cs typeface="Corben" pitchFamily="34" charset="-120"/>
              </a:rPr>
              <a:t>Reward and Recognition</a:t>
            </a:r>
            <a:endParaRPr lang="en-US" sz="2187" dirty="0"/>
          </a:p>
        </p:txBody>
      </p:sp>
      <p:sp>
        <p:nvSpPr>
          <p:cNvPr id="12" name="Text 9"/>
          <p:cNvSpPr/>
          <p:nvPr/>
        </p:nvSpPr>
        <p:spPr>
          <a:xfrm>
            <a:off x="10203656" y="3787378"/>
            <a:ext cx="2388751" cy="2487811"/>
          </a:xfrm>
          <a:prstGeom prst="rect">
            <a:avLst/>
          </a:prstGeom>
          <a:noFill/>
          <a:ln/>
        </p:spPr>
        <p:txBody>
          <a:bodyPr wrap="square" rtlCol="0" anchor="t"/>
          <a:lstStyle/>
          <a:p>
            <a:pPr marL="0" indent="0" algn="l">
              <a:lnSpc>
                <a:spcPts val="2799"/>
              </a:lnSpc>
              <a:buNone/>
            </a:pPr>
            <a:r>
              <a:rPr lang="en-US" sz="1750" dirty="0">
                <a:solidFill>
                  <a:srgbClr val="404155"/>
                </a:solidFill>
                <a:latin typeface="Nobile" pitchFamily="34" charset="0"/>
                <a:ea typeface="Nobile" pitchFamily="34" charset="-122"/>
                <a:cs typeface="Nobile" pitchFamily="34" charset="-120"/>
              </a:rPr>
              <a:t>Implement a system that recognizes and rewards employees who consistently deliver outstanding customer experiences.</a:t>
            </a:r>
            <a:endParaRPr lang="en-US" sz="1750" dirty="0"/>
          </a:p>
        </p:txBody>
      </p:sp>
      <p:pic>
        <p:nvPicPr>
          <p:cNvPr id="14" name="Picture 13">
            <a:extLst>
              <a:ext uri="{FF2B5EF4-FFF2-40B4-BE49-F238E27FC236}">
                <a16:creationId xmlns:a16="http://schemas.microsoft.com/office/drawing/2014/main" id="{CCB087A8-5BD5-CB09-AC92-D7A8209CDFE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52579"/>
          </a:xfrm>
          <a:prstGeom prst="rect">
            <a:avLst/>
          </a:prstGeom>
          <a:solidFill>
            <a:srgbClr val="F9F9FF">
              <a:alpha val="75000"/>
            </a:srgbClr>
          </a:solidFill>
          <a:ln/>
        </p:spPr>
      </p:sp>
      <p:sp>
        <p:nvSpPr>
          <p:cNvPr id="4" name="Text 1"/>
          <p:cNvSpPr/>
          <p:nvPr/>
        </p:nvSpPr>
        <p:spPr>
          <a:xfrm>
            <a:off x="3121343" y="485537"/>
            <a:ext cx="6546771" cy="551855"/>
          </a:xfrm>
          <a:prstGeom prst="rect">
            <a:avLst/>
          </a:prstGeom>
          <a:noFill/>
          <a:ln/>
        </p:spPr>
        <p:txBody>
          <a:bodyPr wrap="none" rtlCol="0" anchor="t"/>
          <a:lstStyle/>
          <a:p>
            <a:pPr marL="0" indent="0">
              <a:lnSpc>
                <a:spcPts val="4345"/>
              </a:lnSpc>
              <a:buNone/>
            </a:pPr>
            <a:r>
              <a:rPr lang="en-US" sz="3476" dirty="0">
                <a:solidFill>
                  <a:srgbClr val="1B1B27"/>
                </a:solidFill>
                <a:latin typeface="Corben" pitchFamily="34" charset="0"/>
                <a:ea typeface="Corben" pitchFamily="34" charset="-122"/>
                <a:cs typeface="Corben" pitchFamily="34" charset="-120"/>
              </a:rPr>
              <a:t>Measuring Customer Centricity</a:t>
            </a:r>
            <a:endParaRPr lang="en-US" sz="3476" dirty="0"/>
          </a:p>
        </p:txBody>
      </p:sp>
      <p:sp>
        <p:nvSpPr>
          <p:cNvPr id="5" name="Shape 2"/>
          <p:cNvSpPr/>
          <p:nvPr/>
        </p:nvSpPr>
        <p:spPr>
          <a:xfrm>
            <a:off x="3121343" y="1390531"/>
            <a:ext cx="8387596" cy="5330666"/>
          </a:xfrm>
          <a:prstGeom prst="roundRect">
            <a:avLst>
              <a:gd name="adj" fmla="val 1491"/>
            </a:avLst>
          </a:prstGeom>
          <a:noFill/>
          <a:ln w="7620">
            <a:solidFill>
              <a:srgbClr val="000000">
                <a:alpha val="8000"/>
              </a:srgbClr>
            </a:solidFill>
            <a:prstDash val="solid"/>
          </a:ln>
        </p:spPr>
      </p:sp>
      <p:sp>
        <p:nvSpPr>
          <p:cNvPr id="6" name="Shape 3"/>
          <p:cNvSpPr/>
          <p:nvPr/>
        </p:nvSpPr>
        <p:spPr>
          <a:xfrm>
            <a:off x="3128963" y="1398151"/>
            <a:ext cx="8372356" cy="509349"/>
          </a:xfrm>
          <a:prstGeom prst="rect">
            <a:avLst/>
          </a:prstGeom>
          <a:solidFill>
            <a:srgbClr val="FFFFFF">
              <a:alpha val="4000"/>
            </a:srgbClr>
          </a:solidFill>
          <a:ln/>
        </p:spPr>
      </p:sp>
      <p:sp>
        <p:nvSpPr>
          <p:cNvPr id="7" name="Text 4"/>
          <p:cNvSpPr/>
          <p:nvPr/>
        </p:nvSpPr>
        <p:spPr>
          <a:xfrm>
            <a:off x="3305651" y="1511618"/>
            <a:ext cx="3829169" cy="282416"/>
          </a:xfrm>
          <a:prstGeom prst="rect">
            <a:avLst/>
          </a:prstGeom>
          <a:noFill/>
          <a:ln/>
        </p:spPr>
        <p:txBody>
          <a:bodyPr wrap="non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Metric</a:t>
            </a:r>
            <a:endParaRPr lang="en-US" sz="1390" dirty="0"/>
          </a:p>
        </p:txBody>
      </p:sp>
      <p:sp>
        <p:nvSpPr>
          <p:cNvPr id="8" name="Text 5"/>
          <p:cNvSpPr/>
          <p:nvPr/>
        </p:nvSpPr>
        <p:spPr>
          <a:xfrm>
            <a:off x="7495580" y="1511618"/>
            <a:ext cx="3829169" cy="282416"/>
          </a:xfrm>
          <a:prstGeom prst="rect">
            <a:avLst/>
          </a:prstGeom>
          <a:noFill/>
          <a:ln/>
        </p:spPr>
        <p:txBody>
          <a:bodyPr wrap="non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Description</a:t>
            </a:r>
            <a:endParaRPr lang="en-US" sz="1390" dirty="0"/>
          </a:p>
        </p:txBody>
      </p:sp>
      <p:sp>
        <p:nvSpPr>
          <p:cNvPr id="9" name="Shape 6"/>
          <p:cNvSpPr/>
          <p:nvPr/>
        </p:nvSpPr>
        <p:spPr>
          <a:xfrm>
            <a:off x="3128963" y="1907500"/>
            <a:ext cx="8372356" cy="1074182"/>
          </a:xfrm>
          <a:prstGeom prst="rect">
            <a:avLst/>
          </a:prstGeom>
          <a:solidFill>
            <a:srgbClr val="000000">
              <a:alpha val="4000"/>
            </a:srgbClr>
          </a:solidFill>
          <a:ln/>
        </p:spPr>
      </p:sp>
      <p:sp>
        <p:nvSpPr>
          <p:cNvPr id="10" name="Text 7"/>
          <p:cNvSpPr/>
          <p:nvPr/>
        </p:nvSpPr>
        <p:spPr>
          <a:xfrm>
            <a:off x="3305651" y="2020967"/>
            <a:ext cx="3829169" cy="282416"/>
          </a:xfrm>
          <a:prstGeom prst="rect">
            <a:avLst/>
          </a:prstGeom>
          <a:noFill/>
          <a:ln/>
        </p:spPr>
        <p:txBody>
          <a:bodyPr wrap="non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Customer Satisfaction (CSAT)</a:t>
            </a:r>
            <a:endParaRPr lang="en-US" sz="1390" dirty="0"/>
          </a:p>
        </p:txBody>
      </p:sp>
      <p:sp>
        <p:nvSpPr>
          <p:cNvPr id="11" name="Text 8"/>
          <p:cNvSpPr/>
          <p:nvPr/>
        </p:nvSpPr>
        <p:spPr>
          <a:xfrm>
            <a:off x="7495580" y="2020967"/>
            <a:ext cx="3829169" cy="847249"/>
          </a:xfrm>
          <a:prstGeom prst="rect">
            <a:avLst/>
          </a:prstGeom>
          <a:noFill/>
          <a:ln/>
        </p:spPr>
        <p:txBody>
          <a:bodyPr wrap="squar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Measure how satisfied customers are with your products, services, and overall experience.</a:t>
            </a:r>
            <a:endParaRPr lang="en-US" sz="1390" dirty="0"/>
          </a:p>
        </p:txBody>
      </p:sp>
      <p:sp>
        <p:nvSpPr>
          <p:cNvPr id="12" name="Shape 9"/>
          <p:cNvSpPr/>
          <p:nvPr/>
        </p:nvSpPr>
        <p:spPr>
          <a:xfrm>
            <a:off x="3128963" y="2981682"/>
            <a:ext cx="8372356" cy="791766"/>
          </a:xfrm>
          <a:prstGeom prst="rect">
            <a:avLst/>
          </a:prstGeom>
          <a:solidFill>
            <a:srgbClr val="FFFFFF">
              <a:alpha val="4000"/>
            </a:srgbClr>
          </a:solidFill>
          <a:ln/>
        </p:spPr>
      </p:sp>
      <p:sp>
        <p:nvSpPr>
          <p:cNvPr id="13" name="Text 10"/>
          <p:cNvSpPr/>
          <p:nvPr/>
        </p:nvSpPr>
        <p:spPr>
          <a:xfrm>
            <a:off x="3305651" y="3095149"/>
            <a:ext cx="3829169" cy="282416"/>
          </a:xfrm>
          <a:prstGeom prst="rect">
            <a:avLst/>
          </a:prstGeom>
          <a:noFill/>
          <a:ln/>
        </p:spPr>
        <p:txBody>
          <a:bodyPr wrap="non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Net Promoter Score (NPS)</a:t>
            </a:r>
            <a:endParaRPr lang="en-US" sz="1390" dirty="0"/>
          </a:p>
        </p:txBody>
      </p:sp>
      <p:sp>
        <p:nvSpPr>
          <p:cNvPr id="14" name="Text 11"/>
          <p:cNvSpPr/>
          <p:nvPr/>
        </p:nvSpPr>
        <p:spPr>
          <a:xfrm>
            <a:off x="7495580" y="3095149"/>
            <a:ext cx="3829169" cy="564833"/>
          </a:xfrm>
          <a:prstGeom prst="rect">
            <a:avLst/>
          </a:prstGeom>
          <a:noFill/>
          <a:ln/>
        </p:spPr>
        <p:txBody>
          <a:bodyPr wrap="squar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Gauge the likelihood of customers to recommend your brand to others.</a:t>
            </a:r>
            <a:endParaRPr lang="en-US" sz="1390" dirty="0"/>
          </a:p>
        </p:txBody>
      </p:sp>
      <p:sp>
        <p:nvSpPr>
          <p:cNvPr id="15" name="Shape 12"/>
          <p:cNvSpPr/>
          <p:nvPr/>
        </p:nvSpPr>
        <p:spPr>
          <a:xfrm>
            <a:off x="3128963" y="3773448"/>
            <a:ext cx="8372356" cy="1074182"/>
          </a:xfrm>
          <a:prstGeom prst="rect">
            <a:avLst/>
          </a:prstGeom>
          <a:solidFill>
            <a:srgbClr val="000000">
              <a:alpha val="4000"/>
            </a:srgbClr>
          </a:solidFill>
          <a:ln/>
        </p:spPr>
      </p:sp>
      <p:sp>
        <p:nvSpPr>
          <p:cNvPr id="16" name="Text 13"/>
          <p:cNvSpPr/>
          <p:nvPr/>
        </p:nvSpPr>
        <p:spPr>
          <a:xfrm>
            <a:off x="3305651" y="3886914"/>
            <a:ext cx="3829169" cy="282416"/>
          </a:xfrm>
          <a:prstGeom prst="rect">
            <a:avLst/>
          </a:prstGeom>
          <a:noFill/>
          <a:ln/>
        </p:spPr>
        <p:txBody>
          <a:bodyPr wrap="non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Customer Retention Rate</a:t>
            </a:r>
            <a:endParaRPr lang="en-US" sz="1390" dirty="0"/>
          </a:p>
        </p:txBody>
      </p:sp>
      <p:sp>
        <p:nvSpPr>
          <p:cNvPr id="17" name="Text 14"/>
          <p:cNvSpPr/>
          <p:nvPr/>
        </p:nvSpPr>
        <p:spPr>
          <a:xfrm>
            <a:off x="7495580" y="3886914"/>
            <a:ext cx="3829169" cy="847249"/>
          </a:xfrm>
          <a:prstGeom prst="rect">
            <a:avLst/>
          </a:prstGeom>
          <a:noFill/>
          <a:ln/>
        </p:spPr>
        <p:txBody>
          <a:bodyPr wrap="squar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Track the percentage of customers who continue to do business with your company over time.</a:t>
            </a:r>
            <a:endParaRPr lang="en-US" sz="1390" dirty="0"/>
          </a:p>
        </p:txBody>
      </p:sp>
      <p:sp>
        <p:nvSpPr>
          <p:cNvPr id="18" name="Shape 15"/>
          <p:cNvSpPr/>
          <p:nvPr/>
        </p:nvSpPr>
        <p:spPr>
          <a:xfrm>
            <a:off x="3128963" y="4847630"/>
            <a:ext cx="8372356" cy="1074182"/>
          </a:xfrm>
          <a:prstGeom prst="rect">
            <a:avLst/>
          </a:prstGeom>
          <a:solidFill>
            <a:srgbClr val="FFFFFF">
              <a:alpha val="4000"/>
            </a:srgbClr>
          </a:solidFill>
          <a:ln/>
        </p:spPr>
      </p:sp>
      <p:sp>
        <p:nvSpPr>
          <p:cNvPr id="19" name="Text 16"/>
          <p:cNvSpPr/>
          <p:nvPr/>
        </p:nvSpPr>
        <p:spPr>
          <a:xfrm>
            <a:off x="3305651" y="4961096"/>
            <a:ext cx="3829169" cy="282416"/>
          </a:xfrm>
          <a:prstGeom prst="rect">
            <a:avLst/>
          </a:prstGeom>
          <a:noFill/>
          <a:ln/>
        </p:spPr>
        <p:txBody>
          <a:bodyPr wrap="non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Customer Lifetime Value (CLV)</a:t>
            </a:r>
            <a:endParaRPr lang="en-US" sz="1390" dirty="0"/>
          </a:p>
        </p:txBody>
      </p:sp>
      <p:sp>
        <p:nvSpPr>
          <p:cNvPr id="20" name="Text 17"/>
          <p:cNvSpPr/>
          <p:nvPr/>
        </p:nvSpPr>
        <p:spPr>
          <a:xfrm>
            <a:off x="7495580" y="4961096"/>
            <a:ext cx="3829169" cy="847249"/>
          </a:xfrm>
          <a:prstGeom prst="rect">
            <a:avLst/>
          </a:prstGeom>
          <a:noFill/>
          <a:ln/>
        </p:spPr>
        <p:txBody>
          <a:bodyPr wrap="squar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Estimate the total revenue a customer is expected to generate during their relationship with your brand.</a:t>
            </a:r>
            <a:endParaRPr lang="en-US" sz="1390" dirty="0"/>
          </a:p>
        </p:txBody>
      </p:sp>
      <p:sp>
        <p:nvSpPr>
          <p:cNvPr id="21" name="Shape 18"/>
          <p:cNvSpPr/>
          <p:nvPr/>
        </p:nvSpPr>
        <p:spPr>
          <a:xfrm>
            <a:off x="3128963" y="5921812"/>
            <a:ext cx="8372356" cy="791766"/>
          </a:xfrm>
          <a:prstGeom prst="rect">
            <a:avLst/>
          </a:prstGeom>
          <a:solidFill>
            <a:srgbClr val="000000">
              <a:alpha val="4000"/>
            </a:srgbClr>
          </a:solidFill>
          <a:ln/>
        </p:spPr>
      </p:sp>
      <p:sp>
        <p:nvSpPr>
          <p:cNvPr id="22" name="Text 19"/>
          <p:cNvSpPr/>
          <p:nvPr/>
        </p:nvSpPr>
        <p:spPr>
          <a:xfrm>
            <a:off x="3305651" y="6035278"/>
            <a:ext cx="3829169" cy="282416"/>
          </a:xfrm>
          <a:prstGeom prst="rect">
            <a:avLst/>
          </a:prstGeom>
          <a:noFill/>
          <a:ln/>
        </p:spPr>
        <p:txBody>
          <a:bodyPr wrap="non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First Contact Resolution (FCR)</a:t>
            </a:r>
            <a:endParaRPr lang="en-US" sz="1390" dirty="0"/>
          </a:p>
        </p:txBody>
      </p:sp>
      <p:sp>
        <p:nvSpPr>
          <p:cNvPr id="23" name="Text 20"/>
          <p:cNvSpPr/>
          <p:nvPr/>
        </p:nvSpPr>
        <p:spPr>
          <a:xfrm>
            <a:off x="7495580" y="6035278"/>
            <a:ext cx="3829169" cy="564833"/>
          </a:xfrm>
          <a:prstGeom prst="rect">
            <a:avLst/>
          </a:prstGeom>
          <a:noFill/>
          <a:ln/>
        </p:spPr>
        <p:txBody>
          <a:bodyPr wrap="squar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Measure the percentage of customer inquiries resolved on the first interaction.</a:t>
            </a:r>
            <a:endParaRPr lang="en-US" sz="1390" dirty="0"/>
          </a:p>
        </p:txBody>
      </p:sp>
      <p:sp>
        <p:nvSpPr>
          <p:cNvPr id="24" name="Text 21"/>
          <p:cNvSpPr/>
          <p:nvPr/>
        </p:nvSpPr>
        <p:spPr>
          <a:xfrm>
            <a:off x="3121343" y="6919793"/>
            <a:ext cx="8387596" cy="847249"/>
          </a:xfrm>
          <a:prstGeom prst="rect">
            <a:avLst/>
          </a:prstGeom>
          <a:noFill/>
          <a:ln/>
        </p:spPr>
        <p:txBody>
          <a:bodyPr wrap="square" rtlCol="0" anchor="t"/>
          <a:lstStyle/>
          <a:p>
            <a:pPr marL="0" indent="0">
              <a:lnSpc>
                <a:spcPts val="2225"/>
              </a:lnSpc>
              <a:buNone/>
            </a:pPr>
            <a:r>
              <a:rPr lang="en-US" sz="1390" dirty="0">
                <a:solidFill>
                  <a:srgbClr val="404155"/>
                </a:solidFill>
                <a:latin typeface="Nobile" pitchFamily="34" charset="0"/>
                <a:ea typeface="Nobile" pitchFamily="34" charset="-122"/>
                <a:cs typeface="Nobile" pitchFamily="34" charset="-120"/>
              </a:rPr>
              <a:t>By regularly monitoring and analyzing these key metrics, organizations can gain valuable insights into the effectiveness of their customer-centric strategies and make data-driven decisions to continuously improve the customer experience.</a:t>
            </a:r>
            <a:endParaRPr lang="en-US" sz="1390" dirty="0"/>
          </a:p>
        </p:txBody>
      </p:sp>
      <p:pic>
        <p:nvPicPr>
          <p:cNvPr id="26" name="Picture 25">
            <a:extLst>
              <a:ext uri="{FF2B5EF4-FFF2-40B4-BE49-F238E27FC236}">
                <a16:creationId xmlns:a16="http://schemas.microsoft.com/office/drawing/2014/main" id="{3EB653DD-6D4C-2A9F-7F3D-047A5122FB1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32696"/>
          </a:xfrm>
          <a:prstGeom prst="rect">
            <a:avLst/>
          </a:prstGeom>
          <a:solidFill>
            <a:srgbClr val="F9F9FF">
              <a:alpha val="75000"/>
            </a:srgbClr>
          </a:solidFill>
          <a:ln/>
        </p:spPr>
      </p:sp>
      <p:sp>
        <p:nvSpPr>
          <p:cNvPr id="4" name="Text 1"/>
          <p:cNvSpPr/>
          <p:nvPr/>
        </p:nvSpPr>
        <p:spPr>
          <a:xfrm>
            <a:off x="2472928" y="560665"/>
            <a:ext cx="9324618" cy="637103"/>
          </a:xfrm>
          <a:prstGeom prst="rect">
            <a:avLst/>
          </a:prstGeom>
          <a:noFill/>
          <a:ln/>
        </p:spPr>
        <p:txBody>
          <a:bodyPr wrap="none" rtlCol="0" anchor="t"/>
          <a:lstStyle/>
          <a:p>
            <a:pPr marL="0" indent="0">
              <a:lnSpc>
                <a:spcPts val="5017"/>
              </a:lnSpc>
              <a:buNone/>
            </a:pPr>
            <a:r>
              <a:rPr lang="en-US" sz="4014" dirty="0">
                <a:solidFill>
                  <a:srgbClr val="1B1B27"/>
                </a:solidFill>
                <a:latin typeface="Corben" pitchFamily="34" charset="0"/>
                <a:ea typeface="Corben" pitchFamily="34" charset="-122"/>
                <a:cs typeface="Corben" pitchFamily="34" charset="-120"/>
              </a:rPr>
              <a:t>Sustaining a Customer-Centric Culture</a:t>
            </a:r>
            <a:endParaRPr lang="en-US" sz="4014" dirty="0"/>
          </a:p>
        </p:txBody>
      </p:sp>
      <p:sp>
        <p:nvSpPr>
          <p:cNvPr id="5" name="Shape 2"/>
          <p:cNvSpPr/>
          <p:nvPr/>
        </p:nvSpPr>
        <p:spPr>
          <a:xfrm>
            <a:off x="2472928" y="1605439"/>
            <a:ext cx="4740354" cy="2168247"/>
          </a:xfrm>
          <a:prstGeom prst="roundRect">
            <a:avLst>
              <a:gd name="adj" fmla="val 4231"/>
            </a:avLst>
          </a:prstGeom>
          <a:solidFill>
            <a:srgbClr val="D2D9F9"/>
          </a:solidFill>
          <a:ln w="7620">
            <a:solidFill>
              <a:srgbClr val="B8BFDF"/>
            </a:solidFill>
            <a:prstDash val="solid"/>
          </a:ln>
        </p:spPr>
      </p:sp>
      <p:sp>
        <p:nvSpPr>
          <p:cNvPr id="6" name="Text 3"/>
          <p:cNvSpPr/>
          <p:nvPr/>
        </p:nvSpPr>
        <p:spPr>
          <a:xfrm>
            <a:off x="2684383" y="1816894"/>
            <a:ext cx="2548533" cy="318611"/>
          </a:xfrm>
          <a:prstGeom prst="rect">
            <a:avLst/>
          </a:prstGeom>
          <a:noFill/>
          <a:ln/>
        </p:spPr>
        <p:txBody>
          <a:bodyPr wrap="none" rtlCol="0" anchor="t"/>
          <a:lstStyle/>
          <a:p>
            <a:pPr marL="0" indent="0">
              <a:lnSpc>
                <a:spcPts val="2508"/>
              </a:lnSpc>
              <a:buNone/>
            </a:pPr>
            <a:r>
              <a:rPr lang="en-US" sz="2007" dirty="0">
                <a:solidFill>
                  <a:srgbClr val="404155"/>
                </a:solidFill>
                <a:latin typeface="Corben" pitchFamily="34" charset="0"/>
                <a:ea typeface="Corben" pitchFamily="34" charset="-122"/>
                <a:cs typeface="Corben" pitchFamily="34" charset="-120"/>
              </a:rPr>
              <a:t>Lead by Example</a:t>
            </a:r>
            <a:endParaRPr lang="en-US" sz="2007" dirty="0"/>
          </a:p>
        </p:txBody>
      </p:sp>
      <p:sp>
        <p:nvSpPr>
          <p:cNvPr id="7" name="Text 4"/>
          <p:cNvSpPr/>
          <p:nvPr/>
        </p:nvSpPr>
        <p:spPr>
          <a:xfrm>
            <a:off x="2684383" y="2257782"/>
            <a:ext cx="4317444" cy="1304449"/>
          </a:xfrm>
          <a:prstGeom prst="rect">
            <a:avLst/>
          </a:prstGeom>
          <a:noFill/>
          <a:ln/>
        </p:spPr>
        <p:txBody>
          <a:bodyPr wrap="square" rtlCol="0" anchor="t"/>
          <a:lstStyle/>
          <a:p>
            <a:pPr marL="0" indent="0">
              <a:lnSpc>
                <a:spcPts val="2569"/>
              </a:lnSpc>
              <a:buNone/>
            </a:pPr>
            <a:r>
              <a:rPr lang="en-US" sz="1605" dirty="0">
                <a:solidFill>
                  <a:srgbClr val="404155"/>
                </a:solidFill>
                <a:latin typeface="Nobile" pitchFamily="34" charset="0"/>
                <a:ea typeface="Nobile" pitchFamily="34" charset="-122"/>
                <a:cs typeface="Nobile" pitchFamily="34" charset="-120"/>
              </a:rPr>
              <a:t>Senior leadership must model and champion a customer-centric mindset, ensuring that it permeates throughout the entire organization.</a:t>
            </a:r>
            <a:endParaRPr lang="en-US" sz="1605" dirty="0"/>
          </a:p>
        </p:txBody>
      </p:sp>
      <p:sp>
        <p:nvSpPr>
          <p:cNvPr id="8" name="Shape 5"/>
          <p:cNvSpPr/>
          <p:nvPr/>
        </p:nvSpPr>
        <p:spPr>
          <a:xfrm>
            <a:off x="7417118" y="1605439"/>
            <a:ext cx="4740354" cy="2168247"/>
          </a:xfrm>
          <a:prstGeom prst="roundRect">
            <a:avLst>
              <a:gd name="adj" fmla="val 4231"/>
            </a:avLst>
          </a:prstGeom>
          <a:solidFill>
            <a:srgbClr val="D2D9F9"/>
          </a:solidFill>
          <a:ln w="7620">
            <a:solidFill>
              <a:srgbClr val="B8BFDF"/>
            </a:solidFill>
            <a:prstDash val="solid"/>
          </a:ln>
        </p:spPr>
      </p:sp>
      <p:sp>
        <p:nvSpPr>
          <p:cNvPr id="9" name="Text 6"/>
          <p:cNvSpPr/>
          <p:nvPr/>
        </p:nvSpPr>
        <p:spPr>
          <a:xfrm>
            <a:off x="7628573" y="1816894"/>
            <a:ext cx="4283154" cy="318611"/>
          </a:xfrm>
          <a:prstGeom prst="rect">
            <a:avLst/>
          </a:prstGeom>
          <a:noFill/>
          <a:ln/>
        </p:spPr>
        <p:txBody>
          <a:bodyPr wrap="none" rtlCol="0" anchor="t"/>
          <a:lstStyle/>
          <a:p>
            <a:pPr marL="0" indent="0">
              <a:lnSpc>
                <a:spcPts val="2508"/>
              </a:lnSpc>
              <a:buNone/>
            </a:pPr>
            <a:r>
              <a:rPr lang="en-US" sz="2007" dirty="0">
                <a:solidFill>
                  <a:srgbClr val="404155"/>
                </a:solidFill>
                <a:latin typeface="Corben" pitchFamily="34" charset="0"/>
                <a:ea typeface="Corben" pitchFamily="34" charset="-122"/>
                <a:cs typeface="Corben" pitchFamily="34" charset="-120"/>
              </a:rPr>
              <a:t>Ongoing Training and Development</a:t>
            </a:r>
            <a:endParaRPr lang="en-US" sz="2007" dirty="0"/>
          </a:p>
        </p:txBody>
      </p:sp>
      <p:sp>
        <p:nvSpPr>
          <p:cNvPr id="10" name="Text 7"/>
          <p:cNvSpPr/>
          <p:nvPr/>
        </p:nvSpPr>
        <p:spPr>
          <a:xfrm>
            <a:off x="7628573" y="2257782"/>
            <a:ext cx="4317444" cy="1304449"/>
          </a:xfrm>
          <a:prstGeom prst="rect">
            <a:avLst/>
          </a:prstGeom>
          <a:noFill/>
          <a:ln/>
        </p:spPr>
        <p:txBody>
          <a:bodyPr wrap="square" rtlCol="0" anchor="t"/>
          <a:lstStyle/>
          <a:p>
            <a:pPr marL="0" indent="0">
              <a:lnSpc>
                <a:spcPts val="2569"/>
              </a:lnSpc>
              <a:buNone/>
            </a:pPr>
            <a:r>
              <a:rPr lang="en-US" sz="1605" dirty="0">
                <a:solidFill>
                  <a:srgbClr val="404155"/>
                </a:solidFill>
                <a:latin typeface="Nobile" pitchFamily="34" charset="0"/>
                <a:ea typeface="Nobile" pitchFamily="34" charset="-122"/>
                <a:cs typeface="Nobile" pitchFamily="34" charset="-120"/>
              </a:rPr>
              <a:t>Provide continuous training and development opportunities to keep employees up-to-date on customer trends, best practices, and emerging technologies.</a:t>
            </a:r>
            <a:endParaRPr lang="en-US" sz="1605" dirty="0"/>
          </a:p>
        </p:txBody>
      </p:sp>
      <p:sp>
        <p:nvSpPr>
          <p:cNvPr id="11" name="Shape 8"/>
          <p:cNvSpPr/>
          <p:nvPr/>
        </p:nvSpPr>
        <p:spPr>
          <a:xfrm>
            <a:off x="2472928" y="3977521"/>
            <a:ext cx="4740354" cy="2812971"/>
          </a:xfrm>
          <a:prstGeom prst="roundRect">
            <a:avLst>
              <a:gd name="adj" fmla="val 3262"/>
            </a:avLst>
          </a:prstGeom>
          <a:solidFill>
            <a:srgbClr val="D2D9F9"/>
          </a:solidFill>
          <a:ln w="7620">
            <a:solidFill>
              <a:srgbClr val="B8BFDF"/>
            </a:solidFill>
            <a:prstDash val="solid"/>
          </a:ln>
        </p:spPr>
      </p:sp>
      <p:sp>
        <p:nvSpPr>
          <p:cNvPr id="12" name="Text 9"/>
          <p:cNvSpPr/>
          <p:nvPr/>
        </p:nvSpPr>
        <p:spPr>
          <a:xfrm>
            <a:off x="2684383" y="4188976"/>
            <a:ext cx="3850124" cy="318611"/>
          </a:xfrm>
          <a:prstGeom prst="rect">
            <a:avLst/>
          </a:prstGeom>
          <a:noFill/>
          <a:ln/>
        </p:spPr>
        <p:txBody>
          <a:bodyPr wrap="none" rtlCol="0" anchor="t"/>
          <a:lstStyle/>
          <a:p>
            <a:pPr marL="0" indent="0">
              <a:lnSpc>
                <a:spcPts val="2508"/>
              </a:lnSpc>
              <a:buNone/>
            </a:pPr>
            <a:r>
              <a:rPr lang="en-US" sz="2007" dirty="0">
                <a:solidFill>
                  <a:srgbClr val="404155"/>
                </a:solidFill>
                <a:latin typeface="Corben" pitchFamily="34" charset="0"/>
                <a:ea typeface="Corben" pitchFamily="34" charset="-122"/>
                <a:cs typeface="Corben" pitchFamily="34" charset="-120"/>
              </a:rPr>
              <a:t>Embrace Feedback and Iteration</a:t>
            </a:r>
            <a:endParaRPr lang="en-US" sz="2007" dirty="0"/>
          </a:p>
        </p:txBody>
      </p:sp>
      <p:sp>
        <p:nvSpPr>
          <p:cNvPr id="13" name="Text 10"/>
          <p:cNvSpPr/>
          <p:nvPr/>
        </p:nvSpPr>
        <p:spPr>
          <a:xfrm>
            <a:off x="2684383" y="4629864"/>
            <a:ext cx="4317444" cy="1304449"/>
          </a:xfrm>
          <a:prstGeom prst="rect">
            <a:avLst/>
          </a:prstGeom>
          <a:noFill/>
          <a:ln/>
        </p:spPr>
        <p:txBody>
          <a:bodyPr wrap="square" rtlCol="0" anchor="t"/>
          <a:lstStyle/>
          <a:p>
            <a:pPr marL="0" indent="0">
              <a:lnSpc>
                <a:spcPts val="2569"/>
              </a:lnSpc>
              <a:buNone/>
            </a:pPr>
            <a:r>
              <a:rPr lang="en-US" sz="1605" dirty="0">
                <a:solidFill>
                  <a:srgbClr val="404155"/>
                </a:solidFill>
                <a:latin typeface="Nobile" pitchFamily="34" charset="0"/>
                <a:ea typeface="Nobile" pitchFamily="34" charset="-122"/>
                <a:cs typeface="Nobile" pitchFamily="34" charset="-120"/>
              </a:rPr>
              <a:t>Foster a culture of continuous improvement, where customer feedback is actively sought, and adjustments are made to enhance the customer experience.</a:t>
            </a:r>
            <a:endParaRPr lang="en-US" sz="1605" dirty="0"/>
          </a:p>
        </p:txBody>
      </p:sp>
      <p:sp>
        <p:nvSpPr>
          <p:cNvPr id="14" name="Shape 11"/>
          <p:cNvSpPr/>
          <p:nvPr/>
        </p:nvSpPr>
        <p:spPr>
          <a:xfrm>
            <a:off x="7417118" y="3977521"/>
            <a:ext cx="4740354" cy="2812971"/>
          </a:xfrm>
          <a:prstGeom prst="roundRect">
            <a:avLst>
              <a:gd name="adj" fmla="val 3262"/>
            </a:avLst>
          </a:prstGeom>
          <a:solidFill>
            <a:srgbClr val="D2D9F9"/>
          </a:solidFill>
          <a:ln w="7620">
            <a:solidFill>
              <a:srgbClr val="B8BFDF"/>
            </a:solidFill>
            <a:prstDash val="solid"/>
          </a:ln>
        </p:spPr>
      </p:sp>
      <p:sp>
        <p:nvSpPr>
          <p:cNvPr id="15" name="Text 12"/>
          <p:cNvSpPr/>
          <p:nvPr/>
        </p:nvSpPr>
        <p:spPr>
          <a:xfrm>
            <a:off x="7628573" y="4188976"/>
            <a:ext cx="4317444" cy="637223"/>
          </a:xfrm>
          <a:prstGeom prst="rect">
            <a:avLst/>
          </a:prstGeom>
          <a:noFill/>
          <a:ln/>
        </p:spPr>
        <p:txBody>
          <a:bodyPr wrap="square" rtlCol="0" anchor="t"/>
          <a:lstStyle/>
          <a:p>
            <a:pPr marL="0" indent="0">
              <a:lnSpc>
                <a:spcPts val="2508"/>
              </a:lnSpc>
              <a:buNone/>
            </a:pPr>
            <a:r>
              <a:rPr lang="en-US" sz="2007" dirty="0">
                <a:solidFill>
                  <a:srgbClr val="404155"/>
                </a:solidFill>
                <a:latin typeface="Corben" pitchFamily="34" charset="0"/>
                <a:ea typeface="Corben" pitchFamily="34" charset="-122"/>
                <a:cs typeface="Corben" pitchFamily="34" charset="-120"/>
              </a:rPr>
              <a:t>Celebrate Customer-Centric Successes</a:t>
            </a:r>
            <a:endParaRPr lang="en-US" sz="2007" dirty="0"/>
          </a:p>
        </p:txBody>
      </p:sp>
      <p:sp>
        <p:nvSpPr>
          <p:cNvPr id="16" name="Text 13"/>
          <p:cNvSpPr/>
          <p:nvPr/>
        </p:nvSpPr>
        <p:spPr>
          <a:xfrm>
            <a:off x="7628573" y="4948476"/>
            <a:ext cx="4317444" cy="1630561"/>
          </a:xfrm>
          <a:prstGeom prst="rect">
            <a:avLst/>
          </a:prstGeom>
          <a:noFill/>
          <a:ln/>
        </p:spPr>
        <p:txBody>
          <a:bodyPr wrap="square" rtlCol="0" anchor="t"/>
          <a:lstStyle/>
          <a:p>
            <a:pPr marL="0" indent="0">
              <a:lnSpc>
                <a:spcPts val="2569"/>
              </a:lnSpc>
              <a:buNone/>
            </a:pPr>
            <a:r>
              <a:rPr lang="en-US" sz="1605" dirty="0">
                <a:solidFill>
                  <a:srgbClr val="404155"/>
                </a:solidFill>
                <a:latin typeface="Nobile" pitchFamily="34" charset="0"/>
                <a:ea typeface="Nobile" pitchFamily="34" charset="-122"/>
                <a:cs typeface="Nobile" pitchFamily="34" charset="-120"/>
              </a:rPr>
              <a:t>Recognize and celebrate employees and teams who go above and beyond in delivering exceptional customer experiences, reinforcing the importance of customer centricity.</a:t>
            </a:r>
            <a:endParaRPr lang="en-US" sz="1605" dirty="0"/>
          </a:p>
        </p:txBody>
      </p:sp>
      <p:sp>
        <p:nvSpPr>
          <p:cNvPr id="17" name="Text 14"/>
          <p:cNvSpPr/>
          <p:nvPr/>
        </p:nvSpPr>
        <p:spPr>
          <a:xfrm>
            <a:off x="2472928" y="7019806"/>
            <a:ext cx="9684544" cy="652224"/>
          </a:xfrm>
          <a:prstGeom prst="rect">
            <a:avLst/>
          </a:prstGeom>
          <a:noFill/>
          <a:ln/>
        </p:spPr>
        <p:txBody>
          <a:bodyPr wrap="square" rtlCol="0" anchor="t"/>
          <a:lstStyle/>
          <a:p>
            <a:pPr marL="0" indent="0">
              <a:lnSpc>
                <a:spcPts val="2569"/>
              </a:lnSpc>
              <a:buNone/>
            </a:pPr>
            <a:r>
              <a:rPr lang="en-US" sz="1605" dirty="0">
                <a:solidFill>
                  <a:srgbClr val="404155"/>
                </a:solidFill>
                <a:latin typeface="Nobile" pitchFamily="34" charset="0"/>
                <a:ea typeface="Nobile" pitchFamily="34" charset="-122"/>
                <a:cs typeface="Nobile" pitchFamily="34" charset="-120"/>
              </a:rPr>
              <a:t>By embedding customer centricity into the very fabric of the organization, companies can create a sustainable, customer-centric culture that drives long-term growth and success.</a:t>
            </a:r>
            <a:endParaRPr lang="en-US" sz="1605" dirty="0"/>
          </a:p>
        </p:txBody>
      </p:sp>
      <p:pic>
        <p:nvPicPr>
          <p:cNvPr id="19" name="Picture 18">
            <a:extLst>
              <a:ext uri="{FF2B5EF4-FFF2-40B4-BE49-F238E27FC236}">
                <a16:creationId xmlns:a16="http://schemas.microsoft.com/office/drawing/2014/main" id="{B4162E23-A163-AB13-8F2F-9980D974B1E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Picture 18">
            <a:extLst>
              <a:ext uri="{FF2B5EF4-FFF2-40B4-BE49-F238E27FC236}">
                <a16:creationId xmlns:a16="http://schemas.microsoft.com/office/drawing/2014/main" id="{B4162E23-A163-AB13-8F2F-9980D974B1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078586" y="6718927"/>
            <a:ext cx="2551814" cy="1510674"/>
          </a:xfrm>
          <a:prstGeom prst="rect">
            <a:avLst/>
          </a:prstGeom>
        </p:spPr>
      </p:pic>
      <p:sp>
        <p:nvSpPr>
          <p:cNvPr id="18" name="Rectangle 17">
            <a:extLst>
              <a:ext uri="{FF2B5EF4-FFF2-40B4-BE49-F238E27FC236}">
                <a16:creationId xmlns:a16="http://schemas.microsoft.com/office/drawing/2014/main" id="{844E5CA2-9115-3D6F-C209-9835EB34796B}"/>
              </a:ext>
            </a:extLst>
          </p:cNvPr>
          <p:cNvSpPr/>
          <p:nvPr/>
        </p:nvSpPr>
        <p:spPr>
          <a:xfrm>
            <a:off x="1329070" y="3601097"/>
            <a:ext cx="12192000" cy="1323439"/>
          </a:xfrm>
          <a:prstGeom prst="rect">
            <a:avLst/>
          </a:prstGeom>
        </p:spPr>
        <p:txBody>
          <a:bodyPr wrap="square">
            <a:spAutoFit/>
          </a:bodyPr>
          <a:lstStyle/>
          <a:p>
            <a:pPr algn="ctr"/>
            <a:r>
              <a:rPr lang="en-US" sz="8000" b="1" dirty="0">
                <a:solidFill>
                  <a:schemeClr val="accent1"/>
                </a:solidFill>
                <a:latin typeface="Nunito Sans" panose="00000500000000000000" pitchFamily="2" charset="0"/>
              </a:rPr>
              <a:t>THANK YOU</a:t>
            </a:r>
            <a:endParaRPr lang="en-US" sz="8000" b="1" dirty="0">
              <a:solidFill>
                <a:schemeClr val="accent1"/>
              </a:solidFill>
            </a:endParaRPr>
          </a:p>
        </p:txBody>
      </p:sp>
      <p:grpSp>
        <p:nvGrpSpPr>
          <p:cNvPr id="20" name="Group 19">
            <a:extLst>
              <a:ext uri="{FF2B5EF4-FFF2-40B4-BE49-F238E27FC236}">
                <a16:creationId xmlns:a16="http://schemas.microsoft.com/office/drawing/2014/main" id="{44C98C1D-9A3C-CD4B-6E67-BDA62203288B}"/>
              </a:ext>
            </a:extLst>
          </p:cNvPr>
          <p:cNvGrpSpPr/>
          <p:nvPr/>
        </p:nvGrpSpPr>
        <p:grpSpPr>
          <a:xfrm flipH="1">
            <a:off x="-1" y="2067818"/>
            <a:ext cx="4667693" cy="6183047"/>
            <a:chOff x="7966969" y="2260887"/>
            <a:chExt cx="4225031" cy="4615403"/>
          </a:xfrm>
        </p:grpSpPr>
        <p:sp>
          <p:nvSpPr>
            <p:cNvPr id="21" name="Isosceles Triangle 20">
              <a:extLst>
                <a:ext uri="{FF2B5EF4-FFF2-40B4-BE49-F238E27FC236}">
                  <a16:creationId xmlns:a16="http://schemas.microsoft.com/office/drawing/2014/main" id="{579EC864-DBDF-46DF-451A-DC2112736F3F}"/>
                </a:ext>
              </a:extLst>
            </p:cNvPr>
            <p:cNvSpPr/>
            <p:nvPr/>
          </p:nvSpPr>
          <p:spPr>
            <a:xfrm>
              <a:off x="8807355" y="4597114"/>
              <a:ext cx="3384645" cy="2279176"/>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2" name="Isosceles Triangle 21">
              <a:extLst>
                <a:ext uri="{FF2B5EF4-FFF2-40B4-BE49-F238E27FC236}">
                  <a16:creationId xmlns:a16="http://schemas.microsoft.com/office/drawing/2014/main" id="{2DE629B7-AB80-43E7-6996-77C1AE896371}"/>
                </a:ext>
              </a:extLst>
            </p:cNvPr>
            <p:cNvSpPr/>
            <p:nvPr/>
          </p:nvSpPr>
          <p:spPr>
            <a:xfrm rot="16200000">
              <a:off x="7780928" y="2446928"/>
              <a:ext cx="4597113" cy="4225031"/>
            </a:xfrm>
            <a:prstGeom prst="triangl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pSp>
    </p:spTree>
    <p:extLst>
      <p:ext uri="{BB962C8B-B14F-4D97-AF65-F5344CB8AC3E}">
        <p14:creationId xmlns:p14="http://schemas.microsoft.com/office/powerpoint/2010/main" val="2363400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23</TotalTime>
  <Words>983</Words>
  <Application>Microsoft Office PowerPoint</Application>
  <PresentationFormat>Custom</PresentationFormat>
  <Paragraphs>83</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Arial</vt:lpstr>
      <vt:lpstr>Corben</vt:lpstr>
      <vt:lpstr>Nobile</vt:lpstr>
      <vt:lpstr>Nunito Sans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nivedhidha r</cp:lastModifiedBy>
  <cp:revision>2</cp:revision>
  <dcterms:created xsi:type="dcterms:W3CDTF">2024-04-06T12:35:31Z</dcterms:created>
  <dcterms:modified xsi:type="dcterms:W3CDTF">2024-04-06T14:04:16Z</dcterms:modified>
</cp:coreProperties>
</file>