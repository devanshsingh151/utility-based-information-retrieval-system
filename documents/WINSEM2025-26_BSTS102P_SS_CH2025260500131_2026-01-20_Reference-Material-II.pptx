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5467"/>
            <a:ext cx="12192000" cy="83190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35467"/>
            <a:ext cx="12192000" cy="832485"/>
          </a:xfrm>
          <a:custGeom>
            <a:avLst/>
            <a:gdLst/>
            <a:ahLst/>
            <a:cxnLst/>
            <a:rect l="l" t="t" r="r" b="b"/>
            <a:pathLst>
              <a:path w="12192000" h="832485">
                <a:moveTo>
                  <a:pt x="0" y="0"/>
                </a:moveTo>
                <a:lnTo>
                  <a:pt x="12192000" y="0"/>
                </a:lnTo>
                <a:lnTo>
                  <a:pt x="12192000" y="831907"/>
                </a:lnTo>
                <a:lnTo>
                  <a:pt x="0" y="83190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5B9B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7631" y="5670337"/>
            <a:ext cx="2665189" cy="10326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11965" y="159461"/>
            <a:ext cx="8368068" cy="741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007" y="1155046"/>
            <a:ext cx="7118984" cy="429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0714" y="1811147"/>
            <a:ext cx="6296922" cy="3166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689100">
              <a:lnSpc>
                <a:spcPct val="100000"/>
              </a:lnSpc>
              <a:spcBef>
                <a:spcPts val="90"/>
              </a:spcBef>
            </a:pPr>
            <a:r>
              <a:rPr dirty="0" spc="-50"/>
              <a:t>Types</a:t>
            </a:r>
            <a:r>
              <a:rPr dirty="0" spc="-150"/>
              <a:t> </a:t>
            </a:r>
            <a:r>
              <a:rPr dirty="0"/>
              <a:t>of</a:t>
            </a:r>
            <a:r>
              <a:rPr dirty="0" spc="-165"/>
              <a:t> </a:t>
            </a:r>
            <a:r>
              <a:rPr dirty="0" spc="-10"/>
              <a:t>decision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0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/>
              <a:t>A.</a:t>
            </a:r>
            <a:r>
              <a:rPr dirty="0" spc="-40"/>
              <a:t> </a:t>
            </a:r>
            <a:r>
              <a:rPr dirty="0"/>
              <a:t>Based</a:t>
            </a:r>
            <a:r>
              <a:rPr dirty="0" spc="-40"/>
              <a:t> </a:t>
            </a:r>
            <a:r>
              <a:rPr dirty="0"/>
              <a:t>on</a:t>
            </a:r>
            <a:r>
              <a:rPr dirty="0" spc="-35"/>
              <a:t> </a:t>
            </a:r>
            <a:r>
              <a:rPr dirty="0" spc="-10"/>
              <a:t>Nature</a:t>
            </a:r>
          </a:p>
          <a:p>
            <a:pPr marL="293370" indent="-280670">
              <a:lnSpc>
                <a:spcPct val="100000"/>
              </a:lnSpc>
              <a:spcBef>
                <a:spcPts val="1405"/>
              </a:spcBef>
              <a:buAutoNum type="arabicPeriod"/>
              <a:tabLst>
                <a:tab pos="293370" algn="l"/>
              </a:tabLst>
            </a:pPr>
            <a:r>
              <a:rPr dirty="0"/>
              <a:t>Programmed</a:t>
            </a:r>
            <a:r>
              <a:rPr dirty="0" spc="-80"/>
              <a:t> </a:t>
            </a:r>
            <a:r>
              <a:rPr dirty="0" spc="-10"/>
              <a:t>Decisions</a:t>
            </a:r>
          </a:p>
          <a:p>
            <a:pPr lvl="1" marL="469265" indent="-316865">
              <a:lnSpc>
                <a:spcPct val="100000"/>
              </a:lnSpc>
              <a:spcBef>
                <a:spcPts val="159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2000">
                <a:latin typeface="Arial MT"/>
                <a:cs typeface="Arial MT"/>
              </a:rPr>
              <a:t>Routine,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repetitive,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structured.</a:t>
            </a:r>
            <a:endParaRPr sz="20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0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2000">
                <a:latin typeface="Arial MT"/>
                <a:cs typeface="Arial MT"/>
              </a:rPr>
              <a:t>Follow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established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procedures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rules.</a:t>
            </a:r>
            <a:endParaRPr sz="20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0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2000">
                <a:latin typeface="Arial MT"/>
                <a:cs typeface="Arial MT"/>
              </a:rPr>
              <a:t>Example: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Handling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customer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complaints,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reordering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stock.</a:t>
            </a:r>
            <a:endParaRPr sz="2000">
              <a:latin typeface="Arial MT"/>
              <a:cs typeface="Arial MT"/>
            </a:endParaRPr>
          </a:p>
          <a:p>
            <a:pPr marL="293370" indent="-28067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293370" algn="l"/>
              </a:tabLst>
            </a:pPr>
            <a:r>
              <a:rPr dirty="0" spc="-20"/>
              <a:t>Non-</a:t>
            </a:r>
            <a:r>
              <a:rPr dirty="0"/>
              <a:t>Programmed</a:t>
            </a:r>
            <a:r>
              <a:rPr dirty="0" spc="-55"/>
              <a:t> </a:t>
            </a:r>
            <a:r>
              <a:rPr dirty="0" spc="-10"/>
              <a:t>Decisions</a:t>
            </a:r>
          </a:p>
          <a:p>
            <a:pPr lvl="1" marL="469265" indent="-316865">
              <a:lnSpc>
                <a:spcPct val="100000"/>
              </a:lnSpc>
              <a:spcBef>
                <a:spcPts val="159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2000" spc="-10">
                <a:latin typeface="Arial MT"/>
                <a:cs typeface="Arial MT"/>
              </a:rPr>
              <a:t>New,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unstructured,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require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judgment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&amp;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creativity.</a:t>
            </a:r>
            <a:endParaRPr sz="20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0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2000">
                <a:latin typeface="Arial MT"/>
                <a:cs typeface="Arial MT"/>
              </a:rPr>
              <a:t>No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predefined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rules.</a:t>
            </a:r>
            <a:endParaRPr sz="20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0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2000">
                <a:latin typeface="Arial MT"/>
                <a:cs typeface="Arial MT"/>
              </a:rPr>
              <a:t>Example: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Entering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new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market,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launching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new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product.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6815" y="288100"/>
            <a:ext cx="6546215" cy="5825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latin typeface="Arial"/>
                <a:cs typeface="Arial"/>
              </a:rPr>
              <a:t>B.</a:t>
            </a:r>
            <a:r>
              <a:rPr dirty="0" sz="1900" spc="-4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Based</a:t>
            </a:r>
            <a:r>
              <a:rPr dirty="0" sz="1900" spc="-4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on</a:t>
            </a:r>
            <a:r>
              <a:rPr dirty="0" sz="1900" spc="-35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Importance</a:t>
            </a:r>
            <a:endParaRPr sz="19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spcBef>
                <a:spcPts val="1420"/>
              </a:spcBef>
              <a:buAutoNum type="arabicPeriod"/>
              <a:tabLst>
                <a:tab pos="279400" algn="l"/>
              </a:tabLst>
            </a:pPr>
            <a:r>
              <a:rPr dirty="0" sz="1900" b="1">
                <a:latin typeface="Arial"/>
                <a:cs typeface="Arial"/>
              </a:rPr>
              <a:t>Strategic</a:t>
            </a:r>
            <a:r>
              <a:rPr dirty="0" sz="1900" spc="-75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Decisions</a:t>
            </a:r>
            <a:endParaRPr sz="19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614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900" spc="-10">
                <a:latin typeface="Arial MT"/>
                <a:cs typeface="Arial MT"/>
              </a:rPr>
              <a:t>Long-</a:t>
            </a:r>
            <a:r>
              <a:rPr dirty="0" sz="1900">
                <a:latin typeface="Arial MT"/>
                <a:cs typeface="Arial MT"/>
              </a:rPr>
              <a:t>term,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future-</a:t>
            </a:r>
            <a:r>
              <a:rPr dirty="0" sz="1900">
                <a:latin typeface="Arial MT"/>
                <a:cs typeface="Arial MT"/>
              </a:rPr>
              <a:t>oriented,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taken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by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top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management.</a:t>
            </a:r>
            <a:endParaRPr sz="19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2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900">
                <a:latin typeface="Arial MT"/>
                <a:cs typeface="Arial MT"/>
              </a:rPr>
              <a:t>High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risk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impact.</a:t>
            </a:r>
            <a:endParaRPr sz="19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2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900">
                <a:latin typeface="Arial MT"/>
                <a:cs typeface="Arial MT"/>
              </a:rPr>
              <a:t>Example: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Business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expansion,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mergers.</a:t>
            </a:r>
            <a:endParaRPr sz="1900">
              <a:latin typeface="Arial MT"/>
              <a:cs typeface="Arial MT"/>
            </a:endParaRPr>
          </a:p>
          <a:p>
            <a:pPr marL="279400" indent="-266700">
              <a:lnSpc>
                <a:spcPct val="100000"/>
              </a:lnSpc>
              <a:spcBef>
                <a:spcPts val="1220"/>
              </a:spcBef>
              <a:buAutoNum type="arabicPeriod"/>
              <a:tabLst>
                <a:tab pos="279400" algn="l"/>
              </a:tabLst>
            </a:pPr>
            <a:r>
              <a:rPr dirty="0" sz="1900" spc="-20" b="1">
                <a:latin typeface="Arial"/>
                <a:cs typeface="Arial"/>
              </a:rPr>
              <a:t>Tactical</a:t>
            </a:r>
            <a:r>
              <a:rPr dirty="0" sz="1900" spc="-65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Decisions</a:t>
            </a:r>
            <a:endParaRPr sz="19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614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900" spc="-20">
                <a:latin typeface="Arial MT"/>
                <a:cs typeface="Arial MT"/>
              </a:rPr>
              <a:t>Medium-</a:t>
            </a:r>
            <a:r>
              <a:rPr dirty="0" sz="1900">
                <a:latin typeface="Arial MT"/>
                <a:cs typeface="Arial MT"/>
              </a:rPr>
              <a:t>term,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taken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by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middle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management.</a:t>
            </a:r>
            <a:endParaRPr sz="19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2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900">
                <a:latin typeface="Arial MT"/>
                <a:cs typeface="Arial MT"/>
              </a:rPr>
              <a:t>Convert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strategies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into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actions.</a:t>
            </a:r>
            <a:endParaRPr sz="19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2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900" spc="-10">
                <a:latin typeface="Arial MT"/>
                <a:cs typeface="Arial MT"/>
              </a:rPr>
              <a:t>Example:</a:t>
            </a:r>
            <a:r>
              <a:rPr dirty="0" sz="1900" spc="-12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Allocating</a:t>
            </a:r>
            <a:r>
              <a:rPr dirty="0" sz="1900" spc="-10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budgets,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setting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departmental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goals.</a:t>
            </a:r>
            <a:endParaRPr sz="1900">
              <a:latin typeface="Arial MT"/>
              <a:cs typeface="Arial MT"/>
            </a:endParaRPr>
          </a:p>
          <a:p>
            <a:pPr marL="279400" indent="-266700">
              <a:lnSpc>
                <a:spcPct val="100000"/>
              </a:lnSpc>
              <a:spcBef>
                <a:spcPts val="1220"/>
              </a:spcBef>
              <a:buAutoNum type="arabicPeriod"/>
              <a:tabLst>
                <a:tab pos="279400" algn="l"/>
              </a:tabLst>
            </a:pPr>
            <a:r>
              <a:rPr dirty="0" sz="1900" b="1">
                <a:latin typeface="Arial"/>
                <a:cs typeface="Arial"/>
              </a:rPr>
              <a:t>Operational</a:t>
            </a:r>
            <a:r>
              <a:rPr dirty="0" sz="1900" spc="-110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Decisions</a:t>
            </a:r>
            <a:endParaRPr sz="19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62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900" spc="-20">
                <a:latin typeface="Arial MT"/>
                <a:cs typeface="Arial MT"/>
              </a:rPr>
              <a:t>Day-to-day,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short-</a:t>
            </a:r>
            <a:r>
              <a:rPr dirty="0" sz="1900">
                <a:latin typeface="Arial MT"/>
                <a:cs typeface="Arial MT"/>
              </a:rPr>
              <a:t>term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decisions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by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lower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management.</a:t>
            </a:r>
            <a:endParaRPr sz="19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2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900">
                <a:latin typeface="Arial MT"/>
                <a:cs typeface="Arial MT"/>
              </a:rPr>
              <a:t>Ensure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smooth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functioning.</a:t>
            </a:r>
            <a:endParaRPr sz="19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22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900">
                <a:latin typeface="Arial MT"/>
                <a:cs typeface="Arial MT"/>
              </a:rPr>
              <a:t>Example: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work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scheduling,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task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assignments.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71914" y="179740"/>
            <a:ext cx="5499100" cy="6074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Arial"/>
                <a:cs typeface="Arial"/>
              </a:rPr>
              <a:t>C.</a:t>
            </a:r>
            <a:r>
              <a:rPr dirty="0" sz="1700" spc="-2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Based</a:t>
            </a:r>
            <a:r>
              <a:rPr dirty="0" sz="1700" spc="-2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on</a:t>
            </a:r>
            <a:r>
              <a:rPr dirty="0" sz="1700" spc="-1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Participation</a:t>
            </a:r>
            <a:endParaRPr sz="1700">
              <a:latin typeface="Arial"/>
              <a:cs typeface="Arial"/>
            </a:endParaRPr>
          </a:p>
          <a:p>
            <a:pPr marL="252729" indent="-240029">
              <a:lnSpc>
                <a:spcPct val="100000"/>
              </a:lnSpc>
              <a:spcBef>
                <a:spcPts val="1360"/>
              </a:spcBef>
              <a:buAutoNum type="arabicPeriod"/>
              <a:tabLst>
                <a:tab pos="252729" algn="l"/>
              </a:tabLst>
            </a:pPr>
            <a:r>
              <a:rPr dirty="0" sz="1700" b="1">
                <a:latin typeface="Arial"/>
                <a:cs typeface="Arial"/>
              </a:rPr>
              <a:t>Individual</a:t>
            </a:r>
            <a:r>
              <a:rPr dirty="0" sz="1700" spc="-8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Decisions</a:t>
            </a:r>
            <a:endParaRPr sz="17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55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 spc="-30">
                <a:latin typeface="Arial MT"/>
                <a:cs typeface="Arial MT"/>
              </a:rPr>
              <a:t>Taken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by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single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person.</a:t>
            </a:r>
            <a:endParaRPr sz="17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Faster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but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may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lack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diversity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ideas.</a:t>
            </a:r>
            <a:endParaRPr sz="1700">
              <a:latin typeface="Arial MT"/>
              <a:cs typeface="Arial MT"/>
            </a:endParaRPr>
          </a:p>
          <a:p>
            <a:pPr marL="252729" indent="-240029">
              <a:lnSpc>
                <a:spcPct val="100000"/>
              </a:lnSpc>
              <a:spcBef>
                <a:spcPts val="1160"/>
              </a:spcBef>
              <a:buAutoNum type="arabicPeriod"/>
              <a:tabLst>
                <a:tab pos="252729" algn="l"/>
              </a:tabLst>
            </a:pPr>
            <a:r>
              <a:rPr dirty="0" sz="1700" b="1">
                <a:latin typeface="Arial"/>
                <a:cs typeface="Arial"/>
              </a:rPr>
              <a:t>Group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Decisions</a:t>
            </a:r>
            <a:endParaRPr sz="17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55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 spc="-30">
                <a:latin typeface="Arial MT"/>
                <a:cs typeface="Arial MT"/>
              </a:rPr>
              <a:t>Taken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collectively.</a:t>
            </a:r>
            <a:endParaRPr sz="17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More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ideas,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higher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acceptance,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but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time-consuming.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latin typeface="Arial"/>
                <a:cs typeface="Arial"/>
              </a:rPr>
              <a:t>D.</a:t>
            </a:r>
            <a:r>
              <a:rPr dirty="0" sz="1700" spc="-2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Based</a:t>
            </a:r>
            <a:r>
              <a:rPr dirty="0" sz="1700" spc="-2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on</a:t>
            </a:r>
            <a:r>
              <a:rPr dirty="0" sz="1700" spc="-1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Situations</a:t>
            </a:r>
            <a:endParaRPr sz="1700">
              <a:latin typeface="Arial"/>
              <a:cs typeface="Arial"/>
            </a:endParaRPr>
          </a:p>
          <a:p>
            <a:pPr marL="252095" indent="-239395">
              <a:lnSpc>
                <a:spcPct val="100000"/>
              </a:lnSpc>
              <a:spcBef>
                <a:spcPts val="1365"/>
              </a:spcBef>
              <a:buAutoNum type="arabicPeriod"/>
              <a:tabLst>
                <a:tab pos="252095" algn="l"/>
              </a:tabLst>
            </a:pPr>
            <a:r>
              <a:rPr dirty="0" sz="1700" b="1">
                <a:latin typeface="Arial"/>
                <a:cs typeface="Arial"/>
              </a:rPr>
              <a:t>Routine</a:t>
            </a:r>
            <a:r>
              <a:rPr dirty="0" sz="1700" spc="-3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Decisions</a:t>
            </a:r>
            <a:endParaRPr sz="17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55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 spc="-10">
                <a:latin typeface="Arial MT"/>
                <a:cs typeface="Arial MT"/>
              </a:rPr>
              <a:t>Regular,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common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issues.</a:t>
            </a:r>
            <a:endParaRPr sz="17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Less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analysis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required.</a:t>
            </a:r>
            <a:endParaRPr sz="170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1160"/>
              </a:spcBef>
              <a:buAutoNum type="arabicPeriod"/>
              <a:tabLst>
                <a:tab pos="252095" algn="l"/>
              </a:tabLst>
            </a:pPr>
            <a:r>
              <a:rPr dirty="0" sz="1700" b="1">
                <a:latin typeface="Arial"/>
                <a:cs typeface="Arial"/>
              </a:rPr>
              <a:t>Emergency</a:t>
            </a:r>
            <a:r>
              <a:rPr dirty="0" sz="1700" spc="-9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Decisions</a:t>
            </a:r>
            <a:endParaRPr sz="17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55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Quick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decisions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needed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in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urgent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situations.</a:t>
            </a:r>
            <a:endParaRPr sz="17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6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700">
                <a:latin typeface="Arial MT"/>
                <a:cs typeface="Arial MT"/>
              </a:rPr>
              <a:t>High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pressure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risk.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Decision</a:t>
            </a:r>
            <a:r>
              <a:rPr dirty="0" spc="-125"/>
              <a:t> </a:t>
            </a:r>
            <a:r>
              <a:rPr dirty="0"/>
              <a:t>Making</a:t>
            </a:r>
            <a:r>
              <a:rPr dirty="0" spc="-120"/>
              <a:t> </a:t>
            </a:r>
            <a:r>
              <a:rPr dirty="0"/>
              <a:t>-</a:t>
            </a:r>
            <a:r>
              <a:rPr dirty="0" spc="-120"/>
              <a:t> </a:t>
            </a:r>
            <a:r>
              <a:rPr dirty="0" spc="-10"/>
              <a:t>Conditions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575" y="1146376"/>
            <a:ext cx="50730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 MT"/>
                <a:cs typeface="Arial MT"/>
              </a:rPr>
              <a:t>Decision-</a:t>
            </a:r>
            <a:r>
              <a:rPr dirty="0" sz="1600">
                <a:latin typeface="Arial MT"/>
                <a:cs typeface="Arial MT"/>
              </a:rPr>
              <a:t>making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occurs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under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b="1">
                <a:latin typeface="Arial"/>
                <a:cs typeface="Arial"/>
              </a:rPr>
              <a:t>three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major</a:t>
            </a:r>
            <a:r>
              <a:rPr dirty="0" sz="1600" spc="-10" b="1">
                <a:latin typeface="Arial"/>
                <a:cs typeface="Arial"/>
              </a:rPr>
              <a:t> conditions: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1575" y="1781376"/>
            <a:ext cx="5847715" cy="1881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75895">
              <a:lnSpc>
                <a:spcPct val="100000"/>
              </a:lnSpc>
              <a:spcBef>
                <a:spcPts val="100"/>
              </a:spcBef>
              <a:buSzPct val="96875"/>
              <a:buAutoNum type="arabicPeriod"/>
              <a:tabLst>
                <a:tab pos="181610" algn="l"/>
              </a:tabLst>
            </a:pPr>
            <a:r>
              <a:rPr dirty="0" u="sng" sz="16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Decision-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Making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Under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Certainty</a:t>
            </a:r>
            <a:r>
              <a:rPr dirty="0" u="sng" sz="1600" spc="5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6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47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outcome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each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alternative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 b="1">
                <a:latin typeface="Arial"/>
                <a:cs typeface="Arial"/>
              </a:rPr>
              <a:t>known</a:t>
            </a:r>
            <a:r>
              <a:rPr dirty="0" sz="1600" spc="-1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Complete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information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available.</a:t>
            </a:r>
            <a:endParaRPr sz="16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Very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low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risk.</a:t>
            </a:r>
            <a:endParaRPr sz="16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Example: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Fixed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deposit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returns,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machine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capacity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planning.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65118" y="1644646"/>
            <a:ext cx="4266565" cy="700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75895">
              <a:lnSpc>
                <a:spcPct val="100000"/>
              </a:lnSpc>
              <a:spcBef>
                <a:spcPts val="100"/>
              </a:spcBef>
              <a:buSzPct val="96875"/>
              <a:buAutoNum type="arabicPeriod" startAt="2"/>
              <a:tabLst>
                <a:tab pos="181610" algn="l"/>
              </a:tabLst>
            </a:pPr>
            <a:r>
              <a:rPr dirty="0" u="sng" sz="16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Decision-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Making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Under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Risk</a:t>
            </a:r>
            <a:endParaRPr sz="16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47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Alternatives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outcomes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are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known,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but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716762" y="2469352"/>
            <a:ext cx="25330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probabilities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are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uncertain.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404818" y="2863052"/>
            <a:ext cx="46691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29565" algn="l"/>
              </a:tabLst>
            </a:pPr>
            <a:r>
              <a:rPr dirty="0" sz="1600">
                <a:latin typeface="Arial MT"/>
                <a:cs typeface="Arial MT"/>
              </a:rPr>
              <a:t>Some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information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available,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but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not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complete.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404818" y="3256752"/>
            <a:ext cx="51066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29565" algn="l"/>
              </a:tabLst>
            </a:pPr>
            <a:r>
              <a:rPr dirty="0" sz="1600">
                <a:latin typeface="Arial MT"/>
                <a:cs typeface="Arial MT"/>
              </a:rPr>
              <a:t>Managers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use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forecasting,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past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data,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probability.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07433" y="3650452"/>
            <a:ext cx="8382634" cy="2551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7450" indent="-31750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727450" algn="l"/>
              </a:tabLst>
            </a:pPr>
            <a:r>
              <a:rPr dirty="0" sz="1600">
                <a:latin typeface="Arial MT"/>
                <a:cs typeface="Arial MT"/>
              </a:rPr>
              <a:t>Example: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Investment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decisions,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demand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prediction.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600">
              <a:latin typeface="Arial MT"/>
              <a:cs typeface="Arial MT"/>
            </a:endParaRPr>
          </a:p>
          <a:p>
            <a:pPr marL="182880" indent="-179070">
              <a:lnSpc>
                <a:spcPct val="100000"/>
              </a:lnSpc>
              <a:buSzPct val="109375"/>
              <a:buFont typeface="Times New Roman"/>
              <a:buAutoNum type="arabicPeriod" startAt="3"/>
              <a:tabLst>
                <a:tab pos="182880" algn="l"/>
              </a:tabLst>
            </a:pPr>
            <a:r>
              <a:rPr dirty="0" u="sng" sz="16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Decision-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Making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Under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Uncertainty</a:t>
            </a:r>
            <a:endParaRPr sz="1600">
              <a:latin typeface="Arial"/>
              <a:cs typeface="Arial"/>
            </a:endParaRPr>
          </a:p>
          <a:p>
            <a:pPr lvl="1" marL="469265" indent="-316865">
              <a:lnSpc>
                <a:spcPct val="100000"/>
              </a:lnSpc>
              <a:spcBef>
                <a:spcPts val="1515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Outcomes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are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b="1">
                <a:latin typeface="Arial"/>
                <a:cs typeface="Arial"/>
              </a:rPr>
              <a:t>completely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unknown</a:t>
            </a:r>
            <a:r>
              <a:rPr dirty="0" sz="1600" spc="-1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No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data,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no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probabilities—</a:t>
            </a:r>
            <a:r>
              <a:rPr dirty="0" sz="1600">
                <a:latin typeface="Arial MT"/>
                <a:cs typeface="Arial MT"/>
              </a:rPr>
              <a:t>high</a:t>
            </a:r>
            <a:r>
              <a:rPr dirty="0" sz="1600" spc="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ambiguity.</a:t>
            </a:r>
            <a:endParaRPr sz="16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Decisions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rely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on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intuition,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judgment,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experience.</a:t>
            </a:r>
            <a:endParaRPr sz="1600">
              <a:latin typeface="Arial MT"/>
              <a:cs typeface="Arial MT"/>
            </a:endParaRPr>
          </a:p>
          <a:p>
            <a:pPr lvl="1" marL="469265" indent="-316865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1600">
                <a:latin typeface="Arial MT"/>
                <a:cs typeface="Arial MT"/>
              </a:rPr>
              <a:t>Example: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Introducing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product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brand-</a:t>
            </a:r>
            <a:r>
              <a:rPr dirty="0" sz="1600">
                <a:latin typeface="Arial MT"/>
                <a:cs typeface="Arial MT"/>
              </a:rPr>
              <a:t>new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market.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7801" y="2426854"/>
            <a:ext cx="6592570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 b="0">
                <a:solidFill>
                  <a:srgbClr val="2E75B6"/>
                </a:solidFill>
                <a:latin typeface="Times New Roman"/>
                <a:cs typeface="Times New Roman"/>
              </a:rPr>
              <a:t>THANK</a:t>
            </a:r>
            <a:r>
              <a:rPr dirty="0" sz="8800" spc="-355" b="0">
                <a:solidFill>
                  <a:srgbClr val="2E75B6"/>
                </a:solidFill>
                <a:latin typeface="Times New Roman"/>
                <a:cs typeface="Times New Roman"/>
              </a:rPr>
              <a:t> </a:t>
            </a:r>
            <a:r>
              <a:rPr dirty="0" sz="8800" spc="-25" b="0">
                <a:solidFill>
                  <a:srgbClr val="2E75B6"/>
                </a:solidFill>
                <a:latin typeface="Times New Roman"/>
                <a:cs typeface="Times New Roman"/>
              </a:rPr>
              <a:t>YOU</a:t>
            </a:r>
            <a:endParaRPr sz="8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2</dc:title>
  <dcterms:created xsi:type="dcterms:W3CDTF">2026-02-13T07:32:49Z</dcterms:created>
  <dcterms:modified xsi:type="dcterms:W3CDTF">2026-02-13T07:32:49Z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2025-12-06T00:00:00Z</vt:filetime>
  </property>
  <property fmtid="{D5CDD505-2E9C-101B-9397-08002B2CF9AE}" pid="3" name="Creator">
    <vt:lpwstr>Keynote</vt:lpwstr>
  </property>
  <property fmtid="{D5CDD505-2E9C-101B-9397-08002B2CF9AE}" pid="4" name="LastSaved">
    <vt:filetime>2026-02-13T00:00:00Z</vt:filetime>
  </property>
  <property fmtid="{D5CDD505-2E9C-101B-9397-08002B2CF9AE}" pid="5" name="Producer">
    <vt:lpwstr>CloudConvert</vt:lpwstr>
  </property>
</Properties>
</file>