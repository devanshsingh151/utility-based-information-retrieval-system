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371" r:id="rId2"/>
    <p:sldId id="373" r:id="rId3"/>
    <p:sldId id="356" r:id="rId4"/>
    <p:sldId id="357" r:id="rId5"/>
    <p:sldId id="358" r:id="rId6"/>
    <p:sldId id="359" r:id="rId7"/>
    <p:sldId id="360" r:id="rId8"/>
    <p:sldId id="361" r:id="rId9"/>
    <p:sldId id="362" r:id="rId10"/>
    <p:sldId id="363" r:id="rId11"/>
    <p:sldId id="364" r:id="rId12"/>
    <p:sldId id="365" r:id="rId13"/>
    <p:sldId id="366" r:id="rId14"/>
    <p:sldId id="368" r:id="rId15"/>
    <p:sldId id="367" r:id="rId16"/>
    <p:sldId id="369" r:id="rId17"/>
    <p:sldId id="370" r:id="rId18"/>
    <p:sldId id="289" r:id="rId19"/>
  </p:sldIdLst>
  <p:sldSz cx="12192000" cy="6858000"/>
  <p:notesSz cx="6858000" cy="9144000"/>
  <p:embeddedFontLst>
    <p:embeddedFont>
      <p:font typeface="Montserrat" panose="00000500000000000000" pitchFamily="2" charset="0"/>
      <p:regular r:id="rId21"/>
      <p:bold r:id="rId22"/>
      <p:italic r:id="rId23"/>
      <p:boldItalic r:id="rId24"/>
    </p:embeddedFont>
    <p:embeddedFont>
      <p:font typeface="Nunito Sans" pitchFamily="2"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303030"/>
    <a:srgbClr val="4A4A4A"/>
    <a:srgbClr val="3D3D3D"/>
    <a:srgbClr val="212121"/>
    <a:srgbClr val="000000"/>
    <a:srgbClr val="131313"/>
    <a:srgbClr val="F69180"/>
    <a:srgbClr val="FBD0C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9389" autoAdjust="0"/>
  </p:normalViewPr>
  <p:slideViewPr>
    <p:cSldViewPr>
      <p:cViewPr varScale="1">
        <p:scale>
          <a:sx n="65" d="100"/>
          <a:sy n="65" d="100"/>
        </p:scale>
        <p:origin x="1128" y="5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39" d="100"/>
          <a:sy n="39" d="100"/>
        </p:scale>
        <p:origin x="2328"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1/10/2024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E</a:t>
            </a:r>
            <a:endParaRPr lang="en-US" dirty="0">
              <a:effectLst/>
            </a:endParaRPr>
          </a:p>
          <a:p>
            <a:r>
              <a:rPr lang="en-US" b="1" dirty="0">
                <a:effectLst/>
              </a:rPr>
              <a:t>Explanation : </a:t>
            </a:r>
            <a:br>
              <a:rPr lang="en-US" dirty="0">
                <a:effectLst/>
              </a:rPr>
            </a:b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The author has found an exception to the general government policy of conserving valuable natural resources—topsoil, which is eroding at an alarming rate. In many states, 100 years of farming has led to the loss of half the topsoil. The federal government’s response has been inadequate; federal funding is described as “ridiculously low,” and we’re told that some states actually devote more money to conserving topsoil than the federal government does. The point of all this is expressed in (E): The federal government is spending far too little on soil conservation and it should spend more.</a:t>
            </a:r>
          </a:p>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3473909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a:t>
            </a:r>
            <a:r>
              <a:rPr lang="en-US" b="0" dirty="0">
                <a:effectLst/>
              </a:rPr>
              <a:t>B</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ffectLst/>
              </a:rPr>
              <a:t>Explanation : </a:t>
            </a:r>
            <a:br>
              <a:rPr lang="en-US" dirty="0">
                <a:effectLst/>
              </a:rPr>
            </a:b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The author concludes that the higher patient mortality rates in certain hospitals as opposed to others are probably the result of lower quality care. The evidence for this includes the fact that the hospitals all had roughly the same per-patient funding; in other words, lack of money didn’t account for the poor hospitals’ bad showing. But that eliminates only one other possible explanation for the result</a:t>
            </a:r>
          </a:p>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248695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a:t>
            </a:r>
            <a:r>
              <a:rPr lang="en-US" b="0" dirty="0">
                <a:effectLst/>
              </a:rPr>
              <a:t>E</a:t>
            </a:r>
            <a:endParaRPr lang="en-US" dirty="0">
              <a:effectLst/>
            </a:endParaRPr>
          </a:p>
          <a:p>
            <a:r>
              <a:rPr lang="en-US" b="1" dirty="0">
                <a:effectLst/>
              </a:rPr>
              <a:t>Explanation : </a:t>
            </a:r>
            <a:br>
              <a:rPr lang="en-US" dirty="0">
                <a:effectLst/>
              </a:rPr>
            </a:b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b="0" i="0" dirty="0">
                <a:solidFill>
                  <a:srgbClr val="333333"/>
                </a:solidFill>
                <a:effectLst/>
                <a:latin typeface="Montserrat" panose="00000500000000000000" pitchFamily="2" charset="0"/>
              </a:rPr>
              <a:t>Without a 10 percent increase,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will go bankrupt. Since a 20 percent increase in productivity is every bit as attainable as a 10 percent increase (by the last sentence in the passage), we can conclude (E): If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can’t achieve a 20 percent increase, then it goes under. (E) is basically the contrapositive of the stimulus: If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can’t get a 20 percent increase, then it must be the case that it also can’t get a 10 percent increase. If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can’t get a 10 percent increase, then it goes bankrupt.</a:t>
            </a:r>
          </a:p>
          <a:p>
            <a:endParaRPr lang="en-US"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2770226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A</a:t>
            </a:r>
            <a:endParaRPr lang="en-US" b="0" dirty="0">
              <a:effectLst/>
            </a:endParaRPr>
          </a:p>
          <a:p>
            <a:endParaRPr lang="en-US" b="0" dirty="0">
              <a:effectLst/>
            </a:endParaRPr>
          </a:p>
          <a:p>
            <a:endParaRPr lang="en-US" b="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How can 50 percent of the respondents be among the top 25 percent of the class? This only seems to be a contradiction: If the number of respondents was smaller than the total number of graduates, and if many of those who responded were students with high academic rank, then it’s quite possible that half of the respondents graduated in the top 25 percent of the class. The only “puzzle” here was if you didn’t see that the respondents could be a subset of the total set of graduates, or if you assumed that everyone in the class responded. (Then it’d be a puzzle, all right!—see (D), below.) Anyhow, (A) makes it all clear: The group of respondents included more than its share of people who graduated with high ranks.</a:t>
            </a:r>
          </a:p>
          <a:p>
            <a:endParaRPr lang="en-US"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a:p>
        </p:txBody>
      </p:sp>
    </p:spTree>
    <p:extLst>
      <p:ext uri="{BB962C8B-B14F-4D97-AF65-F5344CB8AC3E}">
        <p14:creationId xmlns:p14="http://schemas.microsoft.com/office/powerpoint/2010/main" val="3529510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C</a:t>
            </a:r>
            <a:endParaRPr lang="en-US" b="0" dirty="0">
              <a:effectLst/>
            </a:endParaRPr>
          </a:p>
          <a:p>
            <a:endParaRPr lang="en-US" b="0" dirty="0">
              <a:effectLst/>
            </a:endParaRPr>
          </a:p>
          <a:p>
            <a:endParaRPr lang="en-US" b="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The auto industry opposes a requirement to make cars that are more fuel-efficient. How come? Because previous attempts at better fuel efficiency led to smaller—but less safe—cars. The exec’s implication is that, once again, the search for better fuel efficiency will lead to small, dangerous cars, but (C) rebuts that by asserting that large cars can be made more fuel-efficient. More efficient cars needn’t be smaller, so it’s not true that they will have to be more dangerous.</a:t>
            </a:r>
          </a:p>
          <a:p>
            <a:endParaRPr lang="en-US" b="0"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a:p>
        </p:txBody>
      </p:sp>
    </p:spTree>
    <p:extLst>
      <p:ext uri="{BB962C8B-B14F-4D97-AF65-F5344CB8AC3E}">
        <p14:creationId xmlns:p14="http://schemas.microsoft.com/office/powerpoint/2010/main" val="2965423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a:t>
            </a:r>
            <a:r>
              <a:rPr lang="en-US" b="0" dirty="0">
                <a:effectLst/>
              </a:rPr>
              <a:t>E</a:t>
            </a:r>
          </a:p>
          <a:p>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We’re introduced to a foul-sounding substance called “leachate,” which develops when water permeates a landfill site. The most explicit thing we’re told about leachate is that it escapes into the environment whenever the landfill’s capacity to hold water is exceeded, and it only escapes into the environment when the landfill’s capacity to hold water is exceeded (that’s the meaning of the “if and only if” statement in the second sentence). We’re also told that a method to dispose of leachate must be found; currently, most leachate is sent to sewage treatment plants, but some sewage treatment plants can’t handle leachate.</a:t>
            </a:r>
          </a:p>
          <a:p>
            <a:endParaRPr lang="pt-BR"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1819195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E</a:t>
            </a:r>
          </a:p>
          <a:p>
            <a:endParaRPr lang="en-US"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Fixed nitrogen is an essential nutrient that normally has to be supplied to non-legumes like wheat by means of fertilizers. However, Rhizobium bacteria living on legume roots produces fixed nitrogen. The author concludes that if we can develop wheat strains that also allow Rhizobium bacteria to live on their roots, the need for artificial fertilizers will decline. Why? The author must also believe (E), that Rhizobium growing on wheat will also produce fixed nitrogen (just as it does when it grows on legumes), and the wheat’s need for artificially-supplied fixed nitrogen will be reduced</a:t>
            </a:r>
          </a:p>
          <a:p>
            <a:endParaRPr lang="en-US" b="1"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3279667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C</a:t>
            </a:r>
          </a:p>
          <a:p>
            <a:endParaRPr lang="en-US" b="1" dirty="0">
              <a:effectLst/>
            </a:endParaRPr>
          </a:p>
          <a:p>
            <a:endParaRPr lang="en-US" b="1" dirty="0">
              <a:effectLst/>
            </a:endParaRPr>
          </a:p>
          <a:p>
            <a:r>
              <a:rPr lang="en-US" b="0" i="0" dirty="0">
                <a:solidFill>
                  <a:srgbClr val="333333"/>
                </a:solidFill>
                <a:effectLst/>
                <a:latin typeface="Montserrat" panose="00000500000000000000" pitchFamily="2" charset="0"/>
              </a:rPr>
              <a:t>“World leader” is an idea that only appears in the conclusion; we need an assumption that connects that idea with the terms or ideas in the evidence of the first sentence. (C) makes that connection: If a nation can’t be a world leader when it has the terms of its dealings with another nation set by that other nation, then it’s true that a borrower nation (because it has terms set by the lender nation) can’t be a world leader</a:t>
            </a:r>
            <a:endParaRPr lang="en-US" b="1"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2705651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D</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A survey of ferry passengers came up with startling results: Symptoms of seasickness were more common among those who took anti-seasickness medication than among those who didn’t. Based on this, the author concludes that people would be better off not taking </a:t>
            </a:r>
            <a:r>
              <a:rPr lang="en-US" b="0" i="0" dirty="0" err="1">
                <a:solidFill>
                  <a:srgbClr val="333333"/>
                </a:solidFill>
                <a:effectLst/>
                <a:latin typeface="Montserrat" panose="00000500000000000000" pitchFamily="2" charset="0"/>
              </a:rPr>
              <a:t>antiseasickness</a:t>
            </a:r>
            <a:r>
              <a:rPr lang="en-US" b="0" i="0" dirty="0">
                <a:solidFill>
                  <a:srgbClr val="333333"/>
                </a:solidFill>
                <a:effectLst/>
                <a:latin typeface="Montserrat" panose="00000500000000000000" pitchFamily="2" charset="0"/>
              </a:rPr>
              <a:t> drugs.</a:t>
            </a:r>
          </a:p>
          <a:p>
            <a:endParaRPr lang="en-US" b="1"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1090443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E</a:t>
            </a:r>
          </a:p>
          <a:p>
            <a:endParaRPr lang="en-US" b="1" dirty="0">
              <a:effectLst/>
            </a:endParaRPr>
          </a:p>
          <a:p>
            <a:endParaRPr lang="en-US"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According to the analysts, if oil prices drop by half, then the purchase price of gasoline made from the oil should drop by half too; that’s all there is to it. We’re asked to weaken this simplistic argument, and choice (E) does the job by providing an alternative account of the factors involved in gasoline prices.</a:t>
            </a:r>
          </a:p>
          <a:p>
            <a:endParaRPr lang="en-US" b="1"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4074798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A</a:t>
            </a:r>
          </a:p>
          <a:p>
            <a:endParaRPr lang="en-US"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The assumption in question will be the choice that makes the necessary connection between the uncovered lab tests and the decreased quality of medical care discussed in the stimulus. (A) hits the nail on the head: The combination of physical exams and lab tests makes for a better diagnosis than do physical exams alone. </a:t>
            </a:r>
          </a:p>
          <a:p>
            <a:endParaRPr lang="en-US" b="1"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2974028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A</a:t>
            </a:r>
          </a:p>
          <a:p>
            <a:endParaRPr lang="en-US"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The question stem introduces a conclusion that could lead from this stimulus; that automobile theft has been reduced by the program. We’re asked for the choice that asks the question whose answer is most important in evaluating that conclusion—that is, whose answer is most likely to tell us whether or not the conclusion is justified. Since the conclusion in the stem is based on the fact that cars bearing the special decals have a lower theft rate than other cars, we can expect that the correct question will ask if there might not be another reason that these cars aren't being stolen, besides the allegedly successful program (there’s that “alternative explanation” concept popping up again).</a:t>
            </a:r>
          </a:p>
          <a:p>
            <a:endParaRPr lang="en-US" b="1"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2655641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D</a:t>
            </a:r>
          </a:p>
          <a:p>
            <a:endParaRPr lang="en-US"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You should be able to pre-phrase a pretty close answer. If no risky projects are decided upon in bureaucracies, and the bureaucratic decision making involves “many people,” then the author is likely assuming that decisions to undertake risky projects are only made by a single individual.</a:t>
            </a:r>
          </a:p>
          <a:p>
            <a:endParaRPr lang="en-US" b="1"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2538403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If the public distrusts the media, believing that it might be prejudiced, but they use information dispersed by the media as fuel for that doubt, then it seems probable that the public would find it difficult to detect a wide-spread media bias. In other words, it would be difficult to find an objective standard against which to judge a media report. (A) is a rephrasing of that thinking.</a:t>
            </a:r>
          </a:p>
          <a:p>
            <a:endParaRPr lang="en-US" b="1"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2783837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C</a:t>
            </a:r>
          </a:p>
          <a:p>
            <a:endParaRPr lang="en-US"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Montserrat" panose="00000500000000000000" pitchFamily="2" charset="0"/>
              </a:rPr>
              <a:t>Explanation:</a:t>
            </a:r>
            <a:br>
              <a:rPr lang="en-US" dirty="0"/>
            </a:br>
            <a:r>
              <a:rPr lang="en-US" b="0" i="0" dirty="0">
                <a:solidFill>
                  <a:srgbClr val="333333"/>
                </a:solidFill>
                <a:effectLst/>
                <a:latin typeface="Montserrat" panose="00000500000000000000" pitchFamily="2" charset="0"/>
              </a:rPr>
              <a:t>The inference comes right out of the first sentence: If the only way a bookstore can profitably sell books at below market prices is to get the books at a discount from publishers, then it certainly must be true that a bookstore that is profitably selling books at below market prices is getting discounts from publishers.</a:t>
            </a:r>
          </a:p>
          <a:p>
            <a:endParaRPr lang="en-US" b="1" dirty="0">
              <a:effectLst/>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3065041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1/10/2024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541B18-163E-B2F0-7412-2854EDBE91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8806" y="1998021"/>
            <a:ext cx="4834388" cy="2861958"/>
          </a:xfrm>
          <a:prstGeom prst="rect">
            <a:avLst/>
          </a:prstGeom>
        </p:spPr>
      </p:pic>
    </p:spTree>
    <p:extLst>
      <p:ext uri="{BB962C8B-B14F-4D97-AF65-F5344CB8AC3E}">
        <p14:creationId xmlns:p14="http://schemas.microsoft.com/office/powerpoint/2010/main" val="1141227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DD6431-D0F8-7701-579F-559AA8798031}"/>
              </a:ext>
            </a:extLst>
          </p:cNvPr>
          <p:cNvSpPr txBox="1"/>
          <p:nvPr/>
        </p:nvSpPr>
        <p:spPr>
          <a:xfrm>
            <a:off x="228600" y="1143000"/>
            <a:ext cx="11430000" cy="8586966"/>
          </a:xfrm>
          <a:prstGeom prst="rect">
            <a:avLst/>
          </a:prstGeom>
          <a:noFill/>
        </p:spPr>
        <p:txBody>
          <a:bodyPr wrap="square">
            <a:spAutoFit/>
          </a:bodyPr>
          <a:lstStyle/>
          <a:p>
            <a:pPr marL="342900" indent="-342900">
              <a:buFont typeface="Wingdings" panose="05000000000000000000" pitchFamily="2" charset="2"/>
              <a:buChar char="Ø"/>
            </a:pPr>
            <a:r>
              <a:rPr lang="en-US" sz="2400" b="0" i="0" dirty="0">
                <a:solidFill>
                  <a:srgbClr val="202124"/>
                </a:solidFill>
                <a:effectLst/>
                <a:latin typeface="Times New Roman" panose="02020603050405020304" pitchFamily="18" charset="0"/>
                <a:cs typeface="Times New Roman" panose="02020603050405020304" pitchFamily="18" charset="0"/>
              </a:rPr>
              <a:t>one is </a:t>
            </a:r>
            <a:r>
              <a:rPr lang="en-US" sz="2400" b="0" i="0" dirty="0">
                <a:solidFill>
                  <a:srgbClr val="040C28"/>
                </a:solidFill>
                <a:effectLst/>
                <a:latin typeface="Times New Roman" panose="02020603050405020304" pitchFamily="18" charset="0"/>
                <a:cs typeface="Times New Roman" panose="02020603050405020304" pitchFamily="18" charset="0"/>
              </a:rPr>
              <a:t>supposed to pick the choice, which is same as the flow/logic of the reasoning in the question</a:t>
            </a:r>
            <a:r>
              <a:rPr lang="en-US" sz="2400" b="0" i="0" dirty="0">
                <a:solidFill>
                  <a:srgbClr val="202124"/>
                </a:solidFill>
                <a:effectLst/>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endParaRPr lang="en-US" sz="2400" dirty="0">
              <a:solidFill>
                <a:srgbClr val="202124"/>
              </a:solidFill>
              <a:latin typeface="Times New Roman" panose="02020603050405020304" pitchFamily="18" charset="0"/>
              <a:cs typeface="Times New Roman" panose="02020603050405020304" pitchFamily="18" charset="0"/>
            </a:endParaRPr>
          </a:p>
          <a:p>
            <a:pPr marL="342900" indent="-342900" algn="l">
              <a:buFont typeface="Courier New" panose="02070309020205020404" pitchFamily="49" charset="0"/>
              <a:buChar char="o"/>
            </a:pPr>
            <a:r>
              <a:rPr lang="en-US" sz="2400" b="1" i="0" dirty="0">
                <a:solidFill>
                  <a:srgbClr val="666666"/>
                </a:solidFill>
                <a:effectLst/>
                <a:latin typeface="Times New Roman" panose="02020603050405020304" pitchFamily="18" charset="0"/>
                <a:cs typeface="Times New Roman" panose="02020603050405020304" pitchFamily="18" charset="0"/>
              </a:rPr>
              <a:t>Let us try to understand this by an example given below:</a:t>
            </a:r>
          </a:p>
          <a:p>
            <a:pPr algn="l"/>
            <a:endParaRPr lang="en-US" sz="2400" b="0" i="0" dirty="0">
              <a:solidFill>
                <a:srgbClr val="666666"/>
              </a:solidFill>
              <a:effectLst/>
              <a:latin typeface="Times New Roman" panose="02020603050405020304" pitchFamily="18" charset="0"/>
              <a:cs typeface="Times New Roman" panose="02020603050405020304" pitchFamily="18" charset="0"/>
            </a:endParaRPr>
          </a:p>
          <a:p>
            <a:pPr algn="l"/>
            <a:r>
              <a:rPr lang="en-US" sz="2400" b="0" i="0" dirty="0">
                <a:solidFill>
                  <a:srgbClr val="666666"/>
                </a:solidFill>
                <a:effectLst/>
                <a:latin typeface="Times New Roman" panose="02020603050405020304" pitchFamily="18" charset="0"/>
                <a:cs typeface="Times New Roman" panose="02020603050405020304" pitchFamily="18" charset="0"/>
              </a:rPr>
              <a:t>Some political observers believe that the only reason members of the state’s largest union supported Senator Hughes in his recent re-election campaign was that the union’s leaders must have been assured by Hughes that, if elected, he would stay out of their coming negotiations with the union’s national leadership, whose members have been financial backers of several close associates of Hughes. More likely, the union’s members believed that Hughes deserved to serve another term in office</a:t>
            </a:r>
          </a:p>
          <a:p>
            <a:endParaRPr lang="en-US" sz="2400" dirty="0">
              <a:solidFill>
                <a:srgbClr val="202124"/>
              </a:solidFill>
              <a:latin typeface="Times New Roman" panose="02020603050405020304" pitchFamily="18" charset="0"/>
              <a:cs typeface="Times New Roman" panose="02020603050405020304" pitchFamily="18" charset="0"/>
            </a:endParaRPr>
          </a:p>
          <a:p>
            <a:endParaRPr lang="en-US" sz="2400" dirty="0">
              <a:solidFill>
                <a:srgbClr val="202124"/>
              </a:solidFill>
              <a:latin typeface="Google Sans"/>
            </a:endParaRPr>
          </a:p>
          <a:p>
            <a:pPr marL="342900" indent="-342900">
              <a:buFont typeface="Wingdings" panose="05000000000000000000" pitchFamily="2" charset="2"/>
              <a:buChar char="Ø"/>
            </a:pPr>
            <a:endParaRPr lang="en-US" sz="2400" dirty="0">
              <a:solidFill>
                <a:srgbClr val="202124"/>
              </a:solidFill>
              <a:latin typeface="Google Sans"/>
            </a:endParaRPr>
          </a:p>
          <a:p>
            <a:pPr marL="342900" indent="-342900">
              <a:buFont typeface="Wingdings" panose="05000000000000000000" pitchFamily="2" charset="2"/>
              <a:buChar char="Ø"/>
            </a:pPr>
            <a:endParaRPr lang="en-US" sz="2400" dirty="0">
              <a:solidFill>
                <a:srgbClr val="202124"/>
              </a:solidFill>
              <a:latin typeface="Google Sans"/>
            </a:endParaRPr>
          </a:p>
          <a:p>
            <a:pPr marL="342900" indent="-342900">
              <a:buFont typeface="Wingdings" panose="05000000000000000000" pitchFamily="2" charset="2"/>
              <a:buChar char="Ø"/>
            </a:pPr>
            <a:endParaRPr lang="en-US" sz="2400" dirty="0">
              <a:solidFill>
                <a:srgbClr val="202124"/>
              </a:solidFill>
              <a:latin typeface="Google Sans"/>
            </a:endParaRPr>
          </a:p>
          <a:p>
            <a:pPr marL="342900" indent="-342900">
              <a:buFont typeface="Wingdings" panose="05000000000000000000" pitchFamily="2" charset="2"/>
              <a:buChar char="Ø"/>
            </a:pPr>
            <a:endParaRPr lang="en-US" sz="2400" dirty="0">
              <a:solidFill>
                <a:srgbClr val="202124"/>
              </a:solidFill>
              <a:latin typeface="Google Sans"/>
            </a:endParaRPr>
          </a:p>
          <a:p>
            <a:pPr marL="342900" indent="-342900">
              <a:buFont typeface="Wingdings" panose="05000000000000000000" pitchFamily="2" charset="2"/>
              <a:buChar char="Ø"/>
            </a:pPr>
            <a:endParaRPr lang="en-US" sz="2400" dirty="0">
              <a:solidFill>
                <a:srgbClr val="202124"/>
              </a:solidFill>
              <a:latin typeface="Google Sans"/>
            </a:endParaRPr>
          </a:p>
          <a:p>
            <a:pPr marL="342900" indent="-342900">
              <a:buFont typeface="Wingdings" panose="05000000000000000000" pitchFamily="2" charset="2"/>
              <a:buChar char="Ø"/>
            </a:pPr>
            <a:endParaRPr lang="en-US" sz="2400" dirty="0">
              <a:solidFill>
                <a:srgbClr val="202124"/>
              </a:solidFill>
              <a:latin typeface="Google Sans"/>
            </a:endParaRPr>
          </a:p>
          <a:p>
            <a:pPr marL="342900" indent="-342900">
              <a:buFont typeface="Wingdings" panose="05000000000000000000" pitchFamily="2" charset="2"/>
              <a:buChar char="Ø"/>
            </a:pPr>
            <a:endParaRPr lang="en-US" sz="2400" dirty="0">
              <a:solidFill>
                <a:srgbClr val="202124"/>
              </a:solidFill>
              <a:latin typeface="Google Sans"/>
            </a:endParaRPr>
          </a:p>
          <a:p>
            <a:pPr marL="342900" indent="-342900">
              <a:buFont typeface="Wingdings" panose="05000000000000000000" pitchFamily="2" charset="2"/>
              <a:buChar char="Ø"/>
            </a:pPr>
            <a:endParaRPr lang="en-US" sz="2400" dirty="0">
              <a:solidFill>
                <a:srgbClr val="202124"/>
              </a:solidFill>
              <a:latin typeface="Google Sans"/>
            </a:endParaRPr>
          </a:p>
          <a:p>
            <a:pPr marL="342900" indent="-342900">
              <a:buFont typeface="Wingdings" panose="05000000000000000000" pitchFamily="2" charset="2"/>
              <a:buChar char="Ø"/>
            </a:pPr>
            <a:endParaRPr lang="en-US" sz="2400" dirty="0">
              <a:solidFill>
                <a:srgbClr val="202124"/>
              </a:solidFill>
              <a:latin typeface="Google Sans"/>
            </a:endParaRPr>
          </a:p>
          <a:p>
            <a:pPr marL="342900" indent="-342900">
              <a:buFont typeface="Wingdings" panose="05000000000000000000" pitchFamily="2" charset="2"/>
              <a:buChar char="Ø"/>
            </a:pPr>
            <a:endParaRPr lang="en-IN" sz="2400" dirty="0"/>
          </a:p>
        </p:txBody>
      </p:sp>
      <p:pic>
        <p:nvPicPr>
          <p:cNvPr id="5" name="Picture 4">
            <a:extLst>
              <a:ext uri="{FF2B5EF4-FFF2-40B4-BE49-F238E27FC236}">
                <a16:creationId xmlns:a16="http://schemas.microsoft.com/office/drawing/2014/main" id="{3906F40A-EDDE-A499-A30F-9985A06DF7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4600" y="5635884"/>
            <a:ext cx="2057400" cy="1217981"/>
          </a:xfrm>
          <a:prstGeom prst="rect">
            <a:avLst/>
          </a:prstGeom>
        </p:spPr>
      </p:pic>
      <p:sp>
        <p:nvSpPr>
          <p:cNvPr id="6" name="Rectangle 5">
            <a:extLst>
              <a:ext uri="{FF2B5EF4-FFF2-40B4-BE49-F238E27FC236}">
                <a16:creationId xmlns:a16="http://schemas.microsoft.com/office/drawing/2014/main" id="{C752825C-1E0E-74DB-BB09-B21C6B47AD72}"/>
              </a:ext>
            </a:extLst>
          </p:cNvPr>
          <p:cNvSpPr/>
          <p:nvPr/>
        </p:nvSpPr>
        <p:spPr>
          <a:xfrm>
            <a:off x="0" y="-105508"/>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Mimic pattern</a:t>
            </a:r>
            <a:endParaRPr lang="en-IN" sz="3600" dirty="0">
              <a:solidFill>
                <a:schemeClr val="accent1">
                  <a:lumMod val="75000"/>
                </a:schemeClr>
              </a:solidFill>
            </a:endParaRPr>
          </a:p>
        </p:txBody>
      </p:sp>
    </p:spTree>
    <p:extLst>
      <p:ext uri="{BB962C8B-B14F-4D97-AF65-F5344CB8AC3E}">
        <p14:creationId xmlns:p14="http://schemas.microsoft.com/office/powerpoint/2010/main" val="4228172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endParaRPr lang="en-US" sz="2500" b="1" dirty="0">
              <a:latin typeface="Nunito Sans" panose="00000500000000000000" pitchFamily="2" charset="0"/>
            </a:endParaRP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endParaRPr lang="en-US" sz="2500" b="1" dirty="0">
              <a:latin typeface="Nunito Sans" panose="00000500000000000000" pitchFamily="2" charset="0"/>
            </a:endParaRPr>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a:t>
            </a:r>
          </a:p>
        </p:txBody>
      </p:sp>
      <p:sp>
        <p:nvSpPr>
          <p:cNvPr id="11" name="Rectangle 10">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endParaRPr lang="en-US" sz="2500" b="1" dirty="0">
              <a:latin typeface="Nunito Sans" panose="00000500000000000000" pitchFamily="2" charset="0"/>
            </a:endParaRPr>
          </a:p>
        </p:txBody>
      </p:sp>
      <p:sp>
        <p:nvSpPr>
          <p:cNvPr id="12" name="Rectangle 11">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endParaRPr lang="en-US" sz="2500" b="1" dirty="0">
              <a:latin typeface="Nunito Sans" panose="00000500000000000000" pitchFamily="2" charset="0"/>
            </a:endParaRPr>
          </a:p>
        </p:txBody>
      </p:sp>
      <p:sp>
        <p:nvSpPr>
          <p:cNvPr id="2" name="Rectangle 1">
            <a:extLst>
              <a:ext uri="{FF2B5EF4-FFF2-40B4-BE49-F238E27FC236}">
                <a16:creationId xmlns:a16="http://schemas.microsoft.com/office/drawing/2014/main" id="{D71C3EB1-F5B0-8FE3-4738-FEAA76C44F2C}"/>
              </a:ext>
            </a:extLst>
          </p:cNvPr>
          <p:cNvSpPr/>
          <p:nvPr/>
        </p:nvSpPr>
        <p:spPr>
          <a:xfrm>
            <a:off x="0" y="-105508"/>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1</a:t>
            </a:r>
            <a:endParaRPr lang="en-IN" sz="3600" dirty="0">
              <a:solidFill>
                <a:schemeClr val="accent1">
                  <a:lumMod val="75000"/>
                </a:schemeClr>
              </a:solidFill>
            </a:endParaRPr>
          </a:p>
        </p:txBody>
      </p:sp>
      <p:pic>
        <p:nvPicPr>
          <p:cNvPr id="3" name="Picture 2">
            <a:extLst>
              <a:ext uri="{FF2B5EF4-FFF2-40B4-BE49-F238E27FC236}">
                <a16:creationId xmlns:a16="http://schemas.microsoft.com/office/drawing/2014/main" id="{D540A5BB-4FAC-6267-2EFF-B6BB75E34D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635884"/>
            <a:ext cx="2057400" cy="1217981"/>
          </a:xfrm>
          <a:prstGeom prst="rect">
            <a:avLst/>
          </a:prstGeom>
        </p:spPr>
      </p:pic>
      <p:sp>
        <p:nvSpPr>
          <p:cNvPr id="15" name="TextBox 14">
            <a:extLst>
              <a:ext uri="{FF2B5EF4-FFF2-40B4-BE49-F238E27FC236}">
                <a16:creationId xmlns:a16="http://schemas.microsoft.com/office/drawing/2014/main" id="{D0C5B951-6D0D-FF62-AFB5-925E425928C3}"/>
              </a:ext>
            </a:extLst>
          </p:cNvPr>
          <p:cNvSpPr txBox="1"/>
          <p:nvPr/>
        </p:nvSpPr>
        <p:spPr>
          <a:xfrm>
            <a:off x="228600" y="1222115"/>
            <a:ext cx="11582400" cy="5078313"/>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The United States government generally tries to protect valuable natural resources. But one resource has been ignored for too long. In the United States, each bushel of corn produced might result in the loss of as much as two bushels of topsoil. Moreover, in the last 100 years, the topsoil in many states, which once was about fourteen inches thick, has been eroded to only six or eight inches. Nonetheless, federal expenditures for nationwide soil conservation programs have remained at ridiculously low levels. Total federal expenditures for nationwide soil conservation programs have been less than the allocations of some individual </a:t>
            </a:r>
            <a:r>
              <a:rPr lang="en-US" b="0" i="0" dirty="0" err="1">
                <a:solidFill>
                  <a:srgbClr val="333333"/>
                </a:solidFill>
                <a:effectLst/>
                <a:latin typeface="Montserrat" panose="00000500000000000000" pitchFamily="2" charset="0"/>
              </a:rPr>
              <a:t>states.Which</a:t>
            </a:r>
            <a:r>
              <a:rPr lang="en-US" b="0" i="0" dirty="0">
                <a:solidFill>
                  <a:srgbClr val="333333"/>
                </a:solidFill>
                <a:effectLst/>
                <a:latin typeface="Montserrat" panose="00000500000000000000" pitchFamily="2" charset="0"/>
              </a:rPr>
              <a:t> one of the following best expresses the main point of the argument?</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Corn is not a cost-effective product and substitutes should be found where possible.</a:t>
            </a:r>
            <a:br>
              <a:rPr lang="en-US" dirty="0"/>
            </a:br>
            <a:r>
              <a:rPr lang="en-US" b="0" i="0" dirty="0">
                <a:solidFill>
                  <a:srgbClr val="333333"/>
                </a:solidFill>
                <a:effectLst/>
                <a:latin typeface="Montserrat" panose="00000500000000000000" pitchFamily="2" charset="0"/>
              </a:rPr>
              <a:t>[B]. A layer of topsoil only six to eight inches thick cannot support the continued cultivation of corn.</a:t>
            </a:r>
            <a:br>
              <a:rPr lang="en-US" dirty="0"/>
            </a:br>
            <a:r>
              <a:rPr lang="en-US" b="0" i="0" dirty="0">
                <a:solidFill>
                  <a:srgbClr val="333333"/>
                </a:solidFill>
                <a:effectLst/>
                <a:latin typeface="Montserrat" panose="00000500000000000000" pitchFamily="2" charset="0"/>
              </a:rPr>
              <a:t>[C]. Soil conservation is a responsibility of the federal government, not the states.</a:t>
            </a:r>
            <a:br>
              <a:rPr lang="en-US" dirty="0"/>
            </a:br>
            <a:r>
              <a:rPr lang="en-US" b="0" i="0" dirty="0">
                <a:solidFill>
                  <a:srgbClr val="333333"/>
                </a:solidFill>
                <a:effectLst/>
                <a:latin typeface="Montserrat" panose="00000500000000000000" pitchFamily="2" charset="0"/>
              </a:rPr>
              <a:t>[D]. The federal government’s expenditures for soil conservation in the various states have been inequitable.</a:t>
            </a:r>
            <a:br>
              <a:rPr lang="en-US" dirty="0"/>
            </a:br>
            <a:r>
              <a:rPr lang="en-US" b="0" i="0" dirty="0">
                <a:solidFill>
                  <a:srgbClr val="333333"/>
                </a:solidFill>
                <a:effectLst/>
                <a:latin typeface="Montserrat" panose="00000500000000000000" pitchFamily="2" charset="0"/>
              </a:rPr>
              <a:t>[E]. The federal government should spend much more on soil conservation than it has been spending.</a:t>
            </a:r>
            <a:endParaRPr lang="en-IN" dirty="0"/>
          </a:p>
        </p:txBody>
      </p:sp>
    </p:spTree>
    <p:extLst>
      <p:ext uri="{BB962C8B-B14F-4D97-AF65-F5344CB8AC3E}">
        <p14:creationId xmlns:p14="http://schemas.microsoft.com/office/powerpoint/2010/main" val="2073866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EB5576-AC9E-7159-087B-9A636C3711EA}"/>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2</a:t>
            </a:r>
          </a:p>
        </p:txBody>
      </p:sp>
      <p:pic>
        <p:nvPicPr>
          <p:cNvPr id="3" name="Picture 2">
            <a:extLst>
              <a:ext uri="{FF2B5EF4-FFF2-40B4-BE49-F238E27FC236}">
                <a16:creationId xmlns:a16="http://schemas.microsoft.com/office/drawing/2014/main" id="{594CDFA9-B1C3-1996-9AE4-AB39F03E4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DE61711F-941B-9BC6-9F98-6A0778ABA6B7}"/>
              </a:ext>
            </a:extLst>
          </p:cNvPr>
          <p:cNvSpPr txBox="1"/>
          <p:nvPr/>
        </p:nvSpPr>
        <p:spPr>
          <a:xfrm>
            <a:off x="152400" y="1333587"/>
            <a:ext cx="12039600" cy="5078313"/>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Several studies have shown that hospitals are not all equally successful: patients are much more likely to die in some of them than in others. Since the hospitals in the studies had approximately equal per-patient funding, differences in the quality of care provided by hospital staff are probably responsible for the differences in mortality </a:t>
            </a:r>
            <a:r>
              <a:rPr lang="en-US" b="0" i="0" dirty="0" err="1">
                <a:solidFill>
                  <a:srgbClr val="333333"/>
                </a:solidFill>
                <a:effectLst/>
                <a:latin typeface="Montserrat" panose="00000500000000000000" pitchFamily="2" charset="0"/>
              </a:rPr>
              <a:t>rates.Which</a:t>
            </a:r>
            <a:r>
              <a:rPr lang="en-US" b="0" i="0" dirty="0">
                <a:solidFill>
                  <a:srgbClr val="333333"/>
                </a:solidFill>
                <a:effectLst/>
                <a:latin typeface="Montserrat" panose="00000500000000000000" pitchFamily="2" charset="0"/>
              </a:rPr>
              <a:t> one of the following, if true, casts the most doubt on the conclusion drawn above?</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The staff in some of the hospitals studied had earned more advanced degrees, on average, than the staff in the other hospitals.</a:t>
            </a:r>
            <a:br>
              <a:rPr lang="en-US" dirty="0"/>
            </a:br>
            <a:r>
              <a:rPr lang="en-US" b="0" i="0" dirty="0">
                <a:solidFill>
                  <a:srgbClr val="333333"/>
                </a:solidFill>
                <a:effectLst/>
                <a:latin typeface="Montserrat" panose="00000500000000000000" pitchFamily="2" charset="0"/>
              </a:rPr>
              <a:t>[B]. Patient populations vary substantially in average severity of illness from hospital to hospital.</a:t>
            </a:r>
            <a:br>
              <a:rPr lang="en-US" dirty="0"/>
            </a:br>
            <a:r>
              <a:rPr lang="en-US" b="0" i="0" dirty="0">
                <a:solidFill>
                  <a:srgbClr val="333333"/>
                </a:solidFill>
                <a:effectLst/>
                <a:latin typeface="Montserrat" panose="00000500000000000000" pitchFamily="2" charset="0"/>
              </a:rPr>
              <a:t>[C]. The average number of years that staff members stay on at a given job varies considerably from one hospital to another.</a:t>
            </a:r>
            <a:br>
              <a:rPr lang="en-US" dirty="0"/>
            </a:br>
            <a:r>
              <a:rPr lang="en-US" b="0" i="0" dirty="0">
                <a:solidFill>
                  <a:srgbClr val="333333"/>
                </a:solidFill>
                <a:effectLst/>
                <a:latin typeface="Montserrat" panose="00000500000000000000" pitchFamily="2" charset="0"/>
              </a:rPr>
              <a:t>[D]. Approximately the same surgical procedures were performed in each of the hospitals covered in the studies.</a:t>
            </a:r>
            <a:br>
              <a:rPr lang="en-US" dirty="0"/>
            </a:br>
            <a:r>
              <a:rPr lang="en-US" b="0" i="0" dirty="0">
                <a:solidFill>
                  <a:srgbClr val="333333"/>
                </a:solidFill>
                <a:effectLst/>
                <a:latin typeface="Montserrat" panose="00000500000000000000" pitchFamily="2" charset="0"/>
              </a:rPr>
              <a:t>[E]. Mortality rates for hospital patients do not vary considerably from one region of the country to another.</a:t>
            </a:r>
            <a:endParaRPr lang="en-IN" dirty="0"/>
          </a:p>
        </p:txBody>
      </p:sp>
    </p:spTree>
    <p:extLst>
      <p:ext uri="{BB962C8B-B14F-4D97-AF65-F5344CB8AC3E}">
        <p14:creationId xmlns:p14="http://schemas.microsoft.com/office/powerpoint/2010/main" val="854271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3</a:t>
            </a:r>
          </a:p>
        </p:txBody>
      </p:sp>
      <p:sp>
        <p:nvSpPr>
          <p:cNvPr id="2" name="Rectangle 1">
            <a:extLst>
              <a:ext uri="{FF2B5EF4-FFF2-40B4-BE49-F238E27FC236}">
                <a16:creationId xmlns:a16="http://schemas.microsoft.com/office/drawing/2014/main" id="{87B1FD41-07CB-1632-3B63-E560A5279341}"/>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3</a:t>
            </a:r>
          </a:p>
        </p:txBody>
      </p:sp>
      <p:pic>
        <p:nvPicPr>
          <p:cNvPr id="3" name="Picture 2">
            <a:extLst>
              <a:ext uri="{FF2B5EF4-FFF2-40B4-BE49-F238E27FC236}">
                <a16:creationId xmlns:a16="http://schemas.microsoft.com/office/drawing/2014/main" id="{EEEEFD5D-70D8-7008-90F5-2DDFB7241D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B5E83273-42A6-CB7D-469C-D7667B1B8F18}"/>
              </a:ext>
            </a:extLst>
          </p:cNvPr>
          <p:cNvSpPr txBox="1"/>
          <p:nvPr/>
        </p:nvSpPr>
        <p:spPr>
          <a:xfrm>
            <a:off x="457200" y="1676400"/>
            <a:ext cx="10896600" cy="4524315"/>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Because of the recent transformation of the market.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Inc., must increase productivity, 10 percent over the course of the next two years, or it will certainly go bankrupt. In fact, however, </a:t>
            </a:r>
            <a:r>
              <a:rPr lang="en-US" b="0" i="0" dirty="0" err="1">
                <a:solidFill>
                  <a:srgbClr val="333333"/>
                </a:solidFill>
                <a:effectLst/>
                <a:latin typeface="Montserrat" panose="00000500000000000000" pitchFamily="2" charset="0"/>
              </a:rPr>
              <a:t>Quore’s</a:t>
            </a:r>
            <a:r>
              <a:rPr lang="en-US" b="0" i="0" dirty="0">
                <a:solidFill>
                  <a:srgbClr val="333333"/>
                </a:solidFill>
                <a:effectLst/>
                <a:latin typeface="Montserrat" panose="00000500000000000000" pitchFamily="2" charset="0"/>
              </a:rPr>
              <a:t> production structure is such that if a 10 percent productivity increase is possible, then a 20 percent increase is </a:t>
            </a:r>
            <a:r>
              <a:rPr lang="en-US" b="0" i="0" dirty="0" err="1">
                <a:solidFill>
                  <a:srgbClr val="333333"/>
                </a:solidFill>
                <a:effectLst/>
                <a:latin typeface="Montserrat" panose="00000500000000000000" pitchFamily="2" charset="0"/>
              </a:rPr>
              <a:t>attainable.If</a:t>
            </a:r>
            <a:r>
              <a:rPr lang="en-US" b="0" i="0" dirty="0">
                <a:solidFill>
                  <a:srgbClr val="333333"/>
                </a:solidFill>
                <a:effectLst/>
                <a:latin typeface="Montserrat" panose="00000500000000000000" pitchFamily="2" charset="0"/>
              </a:rPr>
              <a:t> the statements above are true, which one of the following must on the basis of them also be true?</a:t>
            </a:r>
          </a:p>
          <a:p>
            <a:endParaRPr lang="en-US" dirty="0"/>
          </a:p>
          <a:p>
            <a:br>
              <a:rPr lang="en-US" dirty="0"/>
            </a:br>
            <a:r>
              <a:rPr lang="en-US" b="0" i="0" dirty="0">
                <a:solidFill>
                  <a:srgbClr val="333333"/>
                </a:solidFill>
                <a:effectLst/>
                <a:latin typeface="Montserrat" panose="00000500000000000000" pitchFamily="2" charset="0"/>
              </a:rPr>
              <a:t>[A]. It is only </a:t>
            </a:r>
            <a:r>
              <a:rPr lang="en-US" b="0" i="0" dirty="0" err="1">
                <a:solidFill>
                  <a:srgbClr val="333333"/>
                </a:solidFill>
                <a:effectLst/>
                <a:latin typeface="Montserrat" panose="00000500000000000000" pitchFamily="2" charset="0"/>
              </a:rPr>
              <a:t>Quore’s</a:t>
            </a:r>
            <a:r>
              <a:rPr lang="en-US" b="0" i="0" dirty="0">
                <a:solidFill>
                  <a:srgbClr val="333333"/>
                </a:solidFill>
                <a:effectLst/>
                <a:latin typeface="Montserrat" panose="00000500000000000000" pitchFamily="2" charset="0"/>
              </a:rPr>
              <a:t> production structure that makes it possible for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to survive the transformation of the market.</a:t>
            </a:r>
            <a:br>
              <a:rPr lang="en-US" dirty="0"/>
            </a:br>
            <a:r>
              <a:rPr lang="en-US" b="0" i="0" dirty="0">
                <a:solidFill>
                  <a:srgbClr val="333333"/>
                </a:solidFill>
                <a:effectLst/>
                <a:latin typeface="Montserrat" panose="00000500000000000000" pitchFamily="2" charset="0"/>
              </a:rPr>
              <a:t>[B].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will not go bankrupt if it achieves a productivity increase of 20 percent over the next two years.</a:t>
            </a:r>
            <a:br>
              <a:rPr lang="en-US" dirty="0"/>
            </a:br>
            <a:r>
              <a:rPr lang="en-US" b="0" i="0" dirty="0">
                <a:solidFill>
                  <a:srgbClr val="333333"/>
                </a:solidFill>
                <a:effectLst/>
                <a:latin typeface="Montserrat" panose="00000500000000000000" pitchFamily="2" charset="0"/>
              </a:rPr>
              <a:t>[C]. If the market had not been transformed,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would have required no productivity increase in order to avoid bankruptcy.</a:t>
            </a:r>
            <a:br>
              <a:rPr lang="en-US" dirty="0"/>
            </a:br>
            <a:r>
              <a:rPr lang="en-US" b="0" i="0" dirty="0">
                <a:solidFill>
                  <a:srgbClr val="333333"/>
                </a:solidFill>
                <a:effectLst/>
                <a:latin typeface="Montserrat" panose="00000500000000000000" pitchFamily="2" charset="0"/>
              </a:rPr>
              <a:t>[D]. Because of the transformation of the market,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will achieve a productivity increase of 10 percent over the next two years.</a:t>
            </a:r>
            <a:br>
              <a:rPr lang="en-US" dirty="0"/>
            </a:br>
            <a:r>
              <a:rPr lang="en-US" b="0" i="0" dirty="0">
                <a:solidFill>
                  <a:srgbClr val="333333"/>
                </a:solidFill>
                <a:effectLst/>
                <a:latin typeface="Montserrat" panose="00000500000000000000" pitchFamily="2" charset="0"/>
              </a:rPr>
              <a:t>[E]. If a 20 percent productivity increase is unattainable for </a:t>
            </a:r>
            <a:r>
              <a:rPr lang="en-US" b="0" i="0" dirty="0" err="1">
                <a:solidFill>
                  <a:srgbClr val="333333"/>
                </a:solidFill>
                <a:effectLst/>
                <a:latin typeface="Montserrat" panose="00000500000000000000" pitchFamily="2" charset="0"/>
              </a:rPr>
              <a:t>Quore</a:t>
            </a:r>
            <a:r>
              <a:rPr lang="en-US" b="0" i="0" dirty="0">
                <a:solidFill>
                  <a:srgbClr val="333333"/>
                </a:solidFill>
                <a:effectLst/>
                <a:latin typeface="Montserrat" panose="00000500000000000000" pitchFamily="2" charset="0"/>
              </a:rPr>
              <a:t>, then it must go bankrupt.</a:t>
            </a:r>
            <a:endParaRPr lang="en-IN" dirty="0"/>
          </a:p>
        </p:txBody>
      </p:sp>
    </p:spTree>
    <p:extLst>
      <p:ext uri="{BB962C8B-B14F-4D97-AF65-F5344CB8AC3E}">
        <p14:creationId xmlns:p14="http://schemas.microsoft.com/office/powerpoint/2010/main" val="3206801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a:t>
            </a:r>
          </a:p>
        </p:txBody>
      </p:sp>
      <p:sp>
        <p:nvSpPr>
          <p:cNvPr id="2" name="Rectangle 1">
            <a:extLst>
              <a:ext uri="{FF2B5EF4-FFF2-40B4-BE49-F238E27FC236}">
                <a16:creationId xmlns:a16="http://schemas.microsoft.com/office/drawing/2014/main" id="{C0C3194E-94AE-92D5-5C19-EC28400C17CE}"/>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4</a:t>
            </a:r>
          </a:p>
        </p:txBody>
      </p:sp>
      <p:pic>
        <p:nvPicPr>
          <p:cNvPr id="3" name="Picture 2">
            <a:extLst>
              <a:ext uri="{FF2B5EF4-FFF2-40B4-BE49-F238E27FC236}">
                <a16:creationId xmlns:a16="http://schemas.microsoft.com/office/drawing/2014/main" id="{336B20B5-3890-F7C1-78C9-4AB0342292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4F6C4FEB-2C58-CC0B-0608-AB296CE94923}"/>
              </a:ext>
            </a:extLst>
          </p:cNvPr>
          <p:cNvSpPr txBox="1"/>
          <p:nvPr/>
        </p:nvSpPr>
        <p:spPr>
          <a:xfrm>
            <a:off x="457200" y="1981200"/>
            <a:ext cx="10744200" cy="4247317"/>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A survey of alumni of the class of 1960 at Aurora University yielded puzzling results. When asked to indicate their academic rank, half of the respondents reported that they were in the top quarter of the graduating class in 1960.Which one of the following most helps account for the apparent contradiction above?</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A disproportionately large number of high-ranking alumni responded to the survey.</a:t>
            </a:r>
            <a:br>
              <a:rPr lang="en-US" dirty="0"/>
            </a:br>
            <a:r>
              <a:rPr lang="en-US" b="0" i="0" dirty="0">
                <a:solidFill>
                  <a:srgbClr val="333333"/>
                </a:solidFill>
                <a:effectLst/>
                <a:latin typeface="Montserrat" panose="00000500000000000000" pitchFamily="2" charset="0"/>
              </a:rPr>
              <a:t>[B]. Few, if any, respondents were mistaken about their class rank.</a:t>
            </a:r>
            <a:br>
              <a:rPr lang="en-US" dirty="0"/>
            </a:br>
            <a:r>
              <a:rPr lang="en-US" b="0" i="0" dirty="0">
                <a:solidFill>
                  <a:srgbClr val="333333"/>
                </a:solidFill>
                <a:effectLst/>
                <a:latin typeface="Montserrat" panose="00000500000000000000" pitchFamily="2" charset="0"/>
              </a:rPr>
              <a:t>[C]. Not all the alumni who were actually in the top quarter responded to the survey.</a:t>
            </a:r>
            <a:br>
              <a:rPr lang="en-US" dirty="0"/>
            </a:br>
            <a:r>
              <a:rPr lang="en-US" b="0" i="0" dirty="0">
                <a:solidFill>
                  <a:srgbClr val="333333"/>
                </a:solidFill>
                <a:effectLst/>
                <a:latin typeface="Montserrat" panose="00000500000000000000" pitchFamily="2" charset="0"/>
              </a:rPr>
              <a:t>[D]. Almost all of the alumni who graduated in 1960 responded to the survey.</a:t>
            </a:r>
            <a:br>
              <a:rPr lang="en-US" dirty="0"/>
            </a:br>
            <a:r>
              <a:rPr lang="en-US" b="0" i="0" dirty="0">
                <a:solidFill>
                  <a:srgbClr val="333333"/>
                </a:solidFill>
                <a:effectLst/>
                <a:latin typeface="Montserrat" panose="00000500000000000000" pitchFamily="2" charset="0"/>
              </a:rPr>
              <a:t>[E]. Academic rank at Aurora University was based on a number of considerations in addition to average grades</a:t>
            </a:r>
            <a:endParaRPr lang="en-IN" dirty="0"/>
          </a:p>
        </p:txBody>
      </p:sp>
    </p:spTree>
    <p:extLst>
      <p:ext uri="{BB962C8B-B14F-4D97-AF65-F5344CB8AC3E}">
        <p14:creationId xmlns:p14="http://schemas.microsoft.com/office/powerpoint/2010/main" val="7686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00110"/>
          </a:xfrm>
          <a:prstGeom prst="rect">
            <a:avLst/>
          </a:prstGeom>
          <a:noFill/>
        </p:spPr>
        <p:txBody>
          <a:bodyPr wrap="square" rtlCol="0">
            <a:spAutoFit/>
          </a:bodyPr>
          <a:lstStyle/>
          <a:p>
            <a:endParaRPr lang="en-US" sz="2000" dirty="0">
              <a:latin typeface="Nunito Sans" panose="00000500000000000000" pitchFamily="2" charset="0"/>
            </a:endParaRPr>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sp>
        <p:nvSpPr>
          <p:cNvPr id="2" name="TextBox 1">
            <a:extLst>
              <a:ext uri="{FF2B5EF4-FFF2-40B4-BE49-F238E27FC236}">
                <a16:creationId xmlns:a16="http://schemas.microsoft.com/office/drawing/2014/main" id="{5108B677-2410-8ECD-65DA-66A097B040C2}"/>
              </a:ext>
            </a:extLst>
          </p:cNvPr>
          <p:cNvSpPr txBox="1"/>
          <p:nvPr/>
        </p:nvSpPr>
        <p:spPr>
          <a:xfrm>
            <a:off x="3788843" y="1524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sp>
        <p:nvSpPr>
          <p:cNvPr id="3" name="Rectangle 2">
            <a:extLst>
              <a:ext uri="{FF2B5EF4-FFF2-40B4-BE49-F238E27FC236}">
                <a16:creationId xmlns:a16="http://schemas.microsoft.com/office/drawing/2014/main" id="{D260CACE-C455-979B-CE78-D7AD880D9991}"/>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5</a:t>
            </a:r>
          </a:p>
        </p:txBody>
      </p:sp>
      <p:pic>
        <p:nvPicPr>
          <p:cNvPr id="5" name="Picture 4">
            <a:extLst>
              <a:ext uri="{FF2B5EF4-FFF2-40B4-BE49-F238E27FC236}">
                <a16:creationId xmlns:a16="http://schemas.microsoft.com/office/drawing/2014/main" id="{16B0CA22-2D3E-5BA8-F041-6369816D50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7" name="TextBox 16">
            <a:extLst>
              <a:ext uri="{FF2B5EF4-FFF2-40B4-BE49-F238E27FC236}">
                <a16:creationId xmlns:a16="http://schemas.microsoft.com/office/drawing/2014/main" id="{11E44F09-AAF9-AB4F-2153-7AA43654AE8C}"/>
              </a:ext>
            </a:extLst>
          </p:cNvPr>
          <p:cNvSpPr txBox="1"/>
          <p:nvPr/>
        </p:nvSpPr>
        <p:spPr>
          <a:xfrm>
            <a:off x="304801" y="1557016"/>
            <a:ext cx="11582400" cy="4524315"/>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Auto industry executive: Statistics show that cars that were built smaller after 1977 to make them more fuel-efficient had a higher incidence of accident-related fatalities than did their earlier larger counterparts. For this reason, we oppose recent guidelines that would require us to produce cars with higher fuel </a:t>
            </a:r>
            <a:r>
              <a:rPr lang="en-US" b="0" i="0" dirty="0" err="1">
                <a:solidFill>
                  <a:srgbClr val="333333"/>
                </a:solidFill>
                <a:effectLst/>
                <a:latin typeface="Montserrat" panose="00000500000000000000" pitchFamily="2" charset="0"/>
              </a:rPr>
              <a:t>efficiency.Which</a:t>
            </a:r>
            <a:r>
              <a:rPr lang="en-US" b="0" i="0" dirty="0">
                <a:solidFill>
                  <a:srgbClr val="333333"/>
                </a:solidFill>
                <a:effectLst/>
                <a:latin typeface="Montserrat" panose="00000500000000000000" pitchFamily="2" charset="0"/>
              </a:rPr>
              <a:t> of the following, if true, would constitute the strongest objection to the executive’s argument?</a:t>
            </a:r>
          </a:p>
          <a:p>
            <a:br>
              <a:rPr lang="en-US" dirty="0"/>
            </a:br>
            <a:r>
              <a:rPr lang="en-US" b="0" i="0" dirty="0">
                <a:solidFill>
                  <a:srgbClr val="333333"/>
                </a:solidFill>
                <a:effectLst/>
                <a:latin typeface="Montserrat" panose="00000500000000000000" pitchFamily="2" charset="0"/>
              </a:rPr>
              <a:t>[A]. Even after 1977, large automobiles were frequently involved in accidents that caused death or serious injury.</a:t>
            </a:r>
            <a:br>
              <a:rPr lang="en-US" dirty="0"/>
            </a:br>
            <a:r>
              <a:rPr lang="en-US" b="0" i="0" dirty="0">
                <a:solidFill>
                  <a:srgbClr val="333333"/>
                </a:solidFill>
                <a:effectLst/>
                <a:latin typeface="Montserrat" panose="00000500000000000000" pitchFamily="2" charset="0"/>
              </a:rPr>
              <a:t>[B]. Although fatalities in accidents involving small cars have increased since 1977, the number of accidents has decreased.</a:t>
            </a:r>
            <a:br>
              <a:rPr lang="en-US" dirty="0"/>
            </a:br>
            <a:r>
              <a:rPr lang="en-US" b="0" i="0" dirty="0">
                <a:solidFill>
                  <a:srgbClr val="333333"/>
                </a:solidFill>
                <a:effectLst/>
                <a:latin typeface="Montserrat" panose="00000500000000000000" pitchFamily="2" charset="0"/>
              </a:rPr>
              <a:t>[C]. New computerized fuel systems can enable large cars to meet fuel efficiency standards established by the recent guidelines.</a:t>
            </a:r>
            <a:br>
              <a:rPr lang="en-US" dirty="0"/>
            </a:br>
            <a:r>
              <a:rPr lang="en-US" b="0" i="0" dirty="0">
                <a:solidFill>
                  <a:srgbClr val="333333"/>
                </a:solidFill>
                <a:effectLst/>
                <a:latin typeface="Montserrat" panose="00000500000000000000" pitchFamily="2" charset="0"/>
              </a:rPr>
              <a:t>[D]. Modern technology can make small cars more fuel-efficient today than at any other time in their production history.</a:t>
            </a:r>
            <a:br>
              <a:rPr lang="en-US" dirty="0"/>
            </a:br>
            <a:r>
              <a:rPr lang="en-US" b="0" i="0" dirty="0">
                <a:solidFill>
                  <a:srgbClr val="333333"/>
                </a:solidFill>
                <a:effectLst/>
                <a:latin typeface="Montserrat" panose="00000500000000000000" pitchFamily="2" charset="0"/>
              </a:rPr>
              <a:t>[E]. Fuel efficiency in models of large cars rose immediately after 1977 but has been declining ever since.</a:t>
            </a:r>
            <a:endParaRPr lang="en-IN" dirty="0"/>
          </a:p>
        </p:txBody>
      </p:sp>
    </p:spTree>
    <p:extLst>
      <p:ext uri="{BB962C8B-B14F-4D97-AF65-F5344CB8AC3E}">
        <p14:creationId xmlns:p14="http://schemas.microsoft.com/office/powerpoint/2010/main" val="2829078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a:t>
            </a:r>
          </a:p>
        </p:txBody>
      </p:sp>
      <p:sp>
        <p:nvSpPr>
          <p:cNvPr id="2" name="Rectangle 1">
            <a:extLst>
              <a:ext uri="{FF2B5EF4-FFF2-40B4-BE49-F238E27FC236}">
                <a16:creationId xmlns:a16="http://schemas.microsoft.com/office/drawing/2014/main" id="{666F0007-5A49-1288-B393-FE49E4F68ED3}"/>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6</a:t>
            </a:r>
          </a:p>
        </p:txBody>
      </p:sp>
      <p:pic>
        <p:nvPicPr>
          <p:cNvPr id="3" name="Picture 2">
            <a:extLst>
              <a:ext uri="{FF2B5EF4-FFF2-40B4-BE49-F238E27FC236}">
                <a16:creationId xmlns:a16="http://schemas.microsoft.com/office/drawing/2014/main" id="{CF8A51E5-DF9D-A132-C8AE-82A5AB8DC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D36990EB-31CF-4443-0785-AF0B7A11A2BA}"/>
              </a:ext>
            </a:extLst>
          </p:cNvPr>
          <p:cNvSpPr txBox="1"/>
          <p:nvPr/>
        </p:nvSpPr>
        <p:spPr>
          <a:xfrm>
            <a:off x="304800" y="1447800"/>
            <a:ext cx="11582400" cy="4524315"/>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Leachate is a solutions, frequently highly contaminated, that develops when water permeates a landfill site, If and only if the landfill's capacity to hold liquids is exceeded does the leachates escape into the environment, generally in unpredictable quantities, A method must be found for disposing of leachate. Most landfill leachate is send directly to sewage treatment plants, but not all sewage plants are capable of handling the highly contaminated </a:t>
            </a:r>
            <a:r>
              <a:rPr lang="en-US" b="0" i="0" dirty="0" err="1">
                <a:solidFill>
                  <a:srgbClr val="333333"/>
                </a:solidFill>
                <a:effectLst/>
                <a:latin typeface="Montserrat" panose="00000500000000000000" pitchFamily="2" charset="0"/>
              </a:rPr>
              <a:t>water.Which</a:t>
            </a:r>
            <a:r>
              <a:rPr lang="en-US" b="0" i="0" dirty="0">
                <a:solidFill>
                  <a:srgbClr val="333333"/>
                </a:solidFill>
                <a:effectLst/>
                <a:latin typeface="Montserrat" panose="00000500000000000000" pitchFamily="2" charset="0"/>
              </a:rPr>
              <a:t> one of the following can be inferred from the passage?</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The ability to predict the volume of escaping landfill leachate would help solve the disposal problem.</a:t>
            </a:r>
            <a:br>
              <a:rPr lang="en-US" dirty="0"/>
            </a:br>
            <a:r>
              <a:rPr lang="en-US" b="0" i="0" dirty="0">
                <a:solidFill>
                  <a:srgbClr val="333333"/>
                </a:solidFill>
                <a:effectLst/>
                <a:latin typeface="Montserrat" panose="00000500000000000000" pitchFamily="2" charset="0"/>
              </a:rPr>
              <a:t>[B]. If any water permeates a landfill, leachate will escape into the environment.</a:t>
            </a:r>
            <a:br>
              <a:rPr lang="en-US" dirty="0"/>
            </a:br>
            <a:r>
              <a:rPr lang="en-US" b="0" i="0" dirty="0">
                <a:solidFill>
                  <a:srgbClr val="333333"/>
                </a:solidFill>
                <a:effectLst/>
                <a:latin typeface="Montserrat" panose="00000500000000000000" pitchFamily="2" charset="0"/>
              </a:rPr>
              <a:t>[C]. No sewage treatment plants are capable of handling leachate.</a:t>
            </a:r>
            <a:br>
              <a:rPr lang="en-US" dirty="0"/>
            </a:br>
            <a:r>
              <a:rPr lang="en-US" b="0" i="0" dirty="0">
                <a:solidFill>
                  <a:srgbClr val="333333"/>
                </a:solidFill>
                <a:effectLst/>
                <a:latin typeface="Montserrat" panose="00000500000000000000" pitchFamily="2" charset="0"/>
              </a:rPr>
              <a:t>[D]. Some landfill leachate is send to sewage treatment plants that are incapable of handling it.</a:t>
            </a:r>
            <a:br>
              <a:rPr lang="en-US" dirty="0"/>
            </a:br>
            <a:r>
              <a:rPr lang="en-US" b="0" i="0" dirty="0">
                <a:solidFill>
                  <a:srgbClr val="333333"/>
                </a:solidFill>
                <a:effectLst/>
                <a:latin typeface="Montserrat" panose="00000500000000000000" pitchFamily="2" charset="0"/>
              </a:rPr>
              <a:t>[E]. If leachate does not escape from a landfill into the environment, then the landfill's capacity to hold liquids has not been exceeded.</a:t>
            </a:r>
            <a:endParaRPr lang="en-IN" dirty="0"/>
          </a:p>
        </p:txBody>
      </p:sp>
    </p:spTree>
    <p:extLst>
      <p:ext uri="{BB962C8B-B14F-4D97-AF65-F5344CB8AC3E}">
        <p14:creationId xmlns:p14="http://schemas.microsoft.com/office/powerpoint/2010/main" val="2972248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endParaRPr lang="en-US" sz="2500" b="1" dirty="0">
              <a:latin typeface="Nunito Sans" panose="00000500000000000000" pitchFamily="2" charset="0"/>
            </a:endParaRPr>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7</a:t>
            </a:r>
          </a:p>
        </p:txBody>
      </p:sp>
      <p:sp>
        <p:nvSpPr>
          <p:cNvPr id="2" name="Rectangle 1">
            <a:extLst>
              <a:ext uri="{FF2B5EF4-FFF2-40B4-BE49-F238E27FC236}">
                <a16:creationId xmlns:a16="http://schemas.microsoft.com/office/drawing/2014/main" id="{D05B912D-8AD9-5BB2-9362-70C28CC68DC0}"/>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7</a:t>
            </a:r>
          </a:p>
        </p:txBody>
      </p:sp>
      <p:pic>
        <p:nvPicPr>
          <p:cNvPr id="3" name="Picture 2">
            <a:extLst>
              <a:ext uri="{FF2B5EF4-FFF2-40B4-BE49-F238E27FC236}">
                <a16:creationId xmlns:a16="http://schemas.microsoft.com/office/drawing/2014/main" id="{CD1D2C0E-0C9E-38ED-0670-5A25C4FBC7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3F63A6F3-E634-8411-100A-88D2FC6922CE}"/>
              </a:ext>
            </a:extLst>
          </p:cNvPr>
          <p:cNvSpPr txBox="1"/>
          <p:nvPr/>
        </p:nvSpPr>
        <p:spPr>
          <a:xfrm>
            <a:off x="304800" y="1524000"/>
            <a:ext cx="11357750" cy="4801314"/>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Rhizobium bacteria living in the roots of bean plants or other legumes produce fixed nitrogen which is one of the essential plant nutrients and which for non-legume crops, such as wheat, normally must be supplied by applications of nitrogen-based fertilizer. So if biotechnology succeeds in producing wheat strains whose roots will play host to Rhizobium bacteria, the need for artificial fertilizers will be </a:t>
            </a:r>
            <a:r>
              <a:rPr lang="en-US" b="0" i="0" dirty="0" err="1">
                <a:solidFill>
                  <a:srgbClr val="333333"/>
                </a:solidFill>
                <a:effectLst/>
                <a:latin typeface="Montserrat" panose="00000500000000000000" pitchFamily="2" charset="0"/>
              </a:rPr>
              <a:t>reduced.The</a:t>
            </a:r>
            <a:r>
              <a:rPr lang="en-US" b="0" i="0" dirty="0">
                <a:solidFill>
                  <a:srgbClr val="333333"/>
                </a:solidFill>
                <a:effectLst/>
                <a:latin typeface="Montserrat" panose="00000500000000000000" pitchFamily="2" charset="0"/>
              </a:rPr>
              <a:t> argument above makes which one of the following assumptions?</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Biotechnology should be directed toward producing plants that do not require artificial fertilizer.</a:t>
            </a:r>
            <a:br>
              <a:rPr lang="en-US" dirty="0"/>
            </a:br>
            <a:r>
              <a:rPr lang="en-US" b="0" i="0" dirty="0">
                <a:solidFill>
                  <a:srgbClr val="333333"/>
                </a:solidFill>
                <a:effectLst/>
                <a:latin typeface="Montserrat" panose="00000500000000000000" pitchFamily="2" charset="0"/>
              </a:rPr>
              <a:t>[B]. Fixed nitrogen is currently the only soil nutrient that must be supplied by artificial fertilizer for growing wheat crops.</a:t>
            </a:r>
            <a:br>
              <a:rPr lang="en-US" dirty="0"/>
            </a:br>
            <a:r>
              <a:rPr lang="en-US" b="0" i="0" dirty="0">
                <a:solidFill>
                  <a:srgbClr val="333333"/>
                </a:solidFill>
                <a:effectLst/>
                <a:latin typeface="Montserrat" panose="00000500000000000000" pitchFamily="2" charset="0"/>
              </a:rPr>
              <a:t>[C]. There are no naturally occurring strains of wheat or other grasses that have Rhizobium bacteria living in their roots.</a:t>
            </a:r>
            <a:br>
              <a:rPr lang="en-US" dirty="0"/>
            </a:br>
            <a:r>
              <a:rPr lang="en-US" b="0" i="0" dirty="0">
                <a:solidFill>
                  <a:srgbClr val="333333"/>
                </a:solidFill>
                <a:effectLst/>
                <a:latin typeface="Montserrat" panose="00000500000000000000" pitchFamily="2" charset="0"/>
              </a:rPr>
              <a:t>[D]. Legumes are currently the only crops that produce their own supply of fixed nitrogen.</a:t>
            </a:r>
            <a:br>
              <a:rPr lang="en-US" dirty="0"/>
            </a:br>
            <a:r>
              <a:rPr lang="en-US" b="0" i="0" dirty="0">
                <a:solidFill>
                  <a:srgbClr val="333333"/>
                </a:solidFill>
                <a:effectLst/>
                <a:latin typeface="Montserrat" panose="00000500000000000000" pitchFamily="2" charset="0"/>
              </a:rPr>
              <a:t>[E]. Rhizobium bacteria living in the roots of wheat would produce fixed nitrogen.</a:t>
            </a:r>
            <a:endParaRPr lang="en-IN" dirty="0"/>
          </a:p>
        </p:txBody>
      </p:sp>
    </p:spTree>
    <p:extLst>
      <p:ext uri="{BB962C8B-B14F-4D97-AF65-F5344CB8AC3E}">
        <p14:creationId xmlns:p14="http://schemas.microsoft.com/office/powerpoint/2010/main" val="3130489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8</a:t>
            </a:r>
          </a:p>
        </p:txBody>
      </p:sp>
      <p:sp>
        <p:nvSpPr>
          <p:cNvPr id="2" name="Rectangle 1">
            <a:extLst>
              <a:ext uri="{FF2B5EF4-FFF2-40B4-BE49-F238E27FC236}">
                <a16:creationId xmlns:a16="http://schemas.microsoft.com/office/drawing/2014/main" id="{FD8DD943-D828-E1B5-91DE-56DDD5895AB6}"/>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8</a:t>
            </a:r>
          </a:p>
        </p:txBody>
      </p:sp>
      <p:pic>
        <p:nvPicPr>
          <p:cNvPr id="3" name="Picture 2">
            <a:extLst>
              <a:ext uri="{FF2B5EF4-FFF2-40B4-BE49-F238E27FC236}">
                <a16:creationId xmlns:a16="http://schemas.microsoft.com/office/drawing/2014/main" id="{8249D2BA-4AA8-83D3-11AE-32BD2A1D7C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1CF43224-07CC-0C3A-EB28-CF146A0D6290}"/>
              </a:ext>
            </a:extLst>
          </p:cNvPr>
          <p:cNvSpPr txBox="1"/>
          <p:nvPr/>
        </p:nvSpPr>
        <p:spPr>
          <a:xfrm>
            <a:off x="228600" y="1752599"/>
            <a:ext cx="11658600" cy="4247317"/>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Economic considerations color every aspect of international dealings, and nations are just like individuals in that the lender sets the terms of its dealings with the borrower. That is why a nation that owes money to another nation cannot be world </a:t>
            </a:r>
            <a:r>
              <a:rPr lang="en-US" b="0" i="0" dirty="0" err="1">
                <a:solidFill>
                  <a:srgbClr val="333333"/>
                </a:solidFill>
                <a:effectLst/>
                <a:latin typeface="Montserrat" panose="00000500000000000000" pitchFamily="2" charset="0"/>
              </a:rPr>
              <a:t>leader.The</a:t>
            </a:r>
            <a:r>
              <a:rPr lang="en-US" b="0" i="0" dirty="0">
                <a:solidFill>
                  <a:srgbClr val="333333"/>
                </a:solidFill>
                <a:effectLst/>
                <a:latin typeface="Montserrat" panose="00000500000000000000" pitchFamily="2" charset="0"/>
              </a:rPr>
              <a:t> reasoning in the passage assumes which one of the following?</a:t>
            </a:r>
          </a:p>
          <a:p>
            <a:pPr algn="l"/>
            <a:endParaRPr lang="en-US" dirty="0">
              <a:solidFill>
                <a:srgbClr val="333333"/>
              </a:solidFill>
              <a:latin typeface="Montserrat" panose="00000500000000000000" pitchFamily="2" charset="0"/>
            </a:endParaRPr>
          </a:p>
          <a:p>
            <a:pPr algn="l"/>
            <a:endParaRPr lang="en-US" dirty="0">
              <a:solidFill>
                <a:srgbClr val="333333"/>
              </a:solidFill>
              <a:latin typeface="Montserrat" panose="00000500000000000000" pitchFamily="2" charset="0"/>
            </a:endParaRPr>
          </a:p>
          <a:p>
            <a:pPr algn="l"/>
            <a:endParaRPr lang="en-US" dirty="0">
              <a:solidFill>
                <a:srgbClr val="333333"/>
              </a:solidFill>
              <a:latin typeface="Montserrat" panose="00000500000000000000" pitchFamily="2" charset="0"/>
            </a:endParaRPr>
          </a:p>
          <a:p>
            <a:pPr algn="l"/>
            <a:br>
              <a:rPr lang="en-US" dirty="0"/>
            </a:br>
            <a:r>
              <a:rPr lang="en-US" b="0" i="0" dirty="0">
                <a:solidFill>
                  <a:srgbClr val="333333"/>
                </a:solidFill>
                <a:effectLst/>
                <a:latin typeface="Montserrat" panose="00000500000000000000" pitchFamily="2" charset="0"/>
              </a:rPr>
              <a:t>[A]. A nation that does not lend to any other nation cannot be a world leader.</a:t>
            </a:r>
            <a:br>
              <a:rPr lang="en-US" dirty="0"/>
            </a:br>
            <a:r>
              <a:rPr lang="en-US" b="0" i="0" dirty="0">
                <a:solidFill>
                  <a:srgbClr val="333333"/>
                </a:solidFill>
                <a:effectLst/>
                <a:latin typeface="Montserrat" panose="00000500000000000000" pitchFamily="2" charset="0"/>
              </a:rPr>
              <a:t>[B]. A nation that can set the terms of its dealings with other nations is certain to be a world leader.</a:t>
            </a:r>
            <a:br>
              <a:rPr lang="en-US" dirty="0"/>
            </a:br>
            <a:r>
              <a:rPr lang="en-US" b="0" i="0" dirty="0">
                <a:solidFill>
                  <a:srgbClr val="333333"/>
                </a:solidFill>
                <a:effectLst/>
                <a:latin typeface="Montserrat" panose="00000500000000000000" pitchFamily="2" charset="0"/>
              </a:rPr>
              <a:t>[C]. A nation that has the terms of its dealings with another action set by that nation cannot be a world leader.</a:t>
            </a:r>
            <a:br>
              <a:rPr lang="en-US" dirty="0"/>
            </a:br>
            <a:r>
              <a:rPr lang="en-US" b="0" i="0" dirty="0">
                <a:solidFill>
                  <a:srgbClr val="333333"/>
                </a:solidFill>
                <a:effectLst/>
                <a:latin typeface="Montserrat" panose="00000500000000000000" pitchFamily="2" charset="0"/>
              </a:rPr>
              <a:t>[D]. A nation that is a world leader can borrow from another nation as long as that other nation does not set the terms of the dealings between the two nations.</a:t>
            </a:r>
            <a:br>
              <a:rPr lang="en-US" dirty="0"/>
            </a:br>
            <a:r>
              <a:rPr lang="en-US" b="0" i="0" dirty="0">
                <a:solidFill>
                  <a:srgbClr val="333333"/>
                </a:solidFill>
                <a:effectLst/>
                <a:latin typeface="Montserrat" panose="00000500000000000000" pitchFamily="2" charset="0"/>
              </a:rPr>
              <a:t>[E]. A nation that has no dealings with any other nation cannot be world leader.</a:t>
            </a:r>
            <a:endParaRPr lang="en-IN" dirty="0"/>
          </a:p>
        </p:txBody>
      </p:sp>
    </p:spTree>
    <p:extLst>
      <p:ext uri="{BB962C8B-B14F-4D97-AF65-F5344CB8AC3E}">
        <p14:creationId xmlns:p14="http://schemas.microsoft.com/office/powerpoint/2010/main" val="2440801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9</a:t>
            </a:r>
          </a:p>
        </p:txBody>
      </p:sp>
      <p:sp>
        <p:nvSpPr>
          <p:cNvPr id="2" name="Rectangle 1">
            <a:extLst>
              <a:ext uri="{FF2B5EF4-FFF2-40B4-BE49-F238E27FC236}">
                <a16:creationId xmlns:a16="http://schemas.microsoft.com/office/drawing/2014/main" id="{800B1BDE-A90A-07AB-52DE-B897F35926B9}"/>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9</a:t>
            </a:r>
          </a:p>
        </p:txBody>
      </p:sp>
      <p:pic>
        <p:nvPicPr>
          <p:cNvPr id="3" name="Picture 2">
            <a:extLst>
              <a:ext uri="{FF2B5EF4-FFF2-40B4-BE49-F238E27FC236}">
                <a16:creationId xmlns:a16="http://schemas.microsoft.com/office/drawing/2014/main" id="{5170E269-16BF-8F70-4701-2C44292C6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C6C85C97-0542-566F-B2D9-C6115E377662}"/>
              </a:ext>
            </a:extLst>
          </p:cNvPr>
          <p:cNvSpPr txBox="1"/>
          <p:nvPr/>
        </p:nvSpPr>
        <p:spPr>
          <a:xfrm>
            <a:off x="304800" y="1288197"/>
            <a:ext cx="10287000" cy="5355312"/>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A survey was recently conducted among ferry passengers on the North Sea. Among the results was this: more of those who had taken anti-seasickness medication before their trip reported symptoms of seasickness than those who had not taken such medication. It is clear, then that despite claims by drug companies that clinical tests show the contrary, people would be better off not taking anti-seasickness </a:t>
            </a:r>
            <a:r>
              <a:rPr lang="en-US" b="0" i="0" dirty="0" err="1">
                <a:solidFill>
                  <a:srgbClr val="333333"/>
                </a:solidFill>
                <a:effectLst/>
                <a:latin typeface="Montserrat" panose="00000500000000000000" pitchFamily="2" charset="0"/>
              </a:rPr>
              <a:t>medications.Which</a:t>
            </a:r>
            <a:r>
              <a:rPr lang="en-US" b="0" i="0" dirty="0">
                <a:solidFill>
                  <a:srgbClr val="333333"/>
                </a:solidFill>
                <a:effectLst/>
                <a:latin typeface="Montserrat" panose="00000500000000000000" pitchFamily="2" charset="0"/>
              </a:rPr>
              <a:t> one of the following, if true, would most weaken the conclusion above?</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Given rough enough weather, most ferry passengers will have some symptoms of seasickness.</a:t>
            </a:r>
            <a:br>
              <a:rPr lang="en-US" dirty="0"/>
            </a:br>
            <a:r>
              <a:rPr lang="en-US" b="0" i="0" dirty="0">
                <a:solidFill>
                  <a:srgbClr val="333333"/>
                </a:solidFill>
                <a:effectLst/>
                <a:latin typeface="Montserrat" panose="00000500000000000000" pitchFamily="2" charset="0"/>
              </a:rPr>
              <a:t>[B]. The clinical tests reported by the drug companies were conducted by the drug companies’ staffs.</a:t>
            </a:r>
            <a:br>
              <a:rPr lang="en-US" dirty="0"/>
            </a:br>
            <a:r>
              <a:rPr lang="en-US" b="0" i="0" dirty="0">
                <a:solidFill>
                  <a:srgbClr val="333333"/>
                </a:solidFill>
                <a:effectLst/>
                <a:latin typeface="Montserrat" panose="00000500000000000000" pitchFamily="2" charset="0"/>
              </a:rPr>
              <a:t>[C]. People who do not take anti-seasickness medication are just as likely to respond to a survey on seasickness as people who do.</a:t>
            </a:r>
            <a:br>
              <a:rPr lang="en-US" dirty="0"/>
            </a:br>
            <a:r>
              <a:rPr lang="en-US" b="0" i="0" dirty="0">
                <a:solidFill>
                  <a:srgbClr val="333333"/>
                </a:solidFill>
                <a:effectLst/>
                <a:latin typeface="Montserrat" panose="00000500000000000000" pitchFamily="2" charset="0"/>
              </a:rPr>
              <a:t>[D]. The seasickness symptoms of the people who took anti-seasickness medication would have been more severe had they not taken the medication.</a:t>
            </a:r>
            <a:br>
              <a:rPr lang="en-US" dirty="0"/>
            </a:br>
            <a:r>
              <a:rPr lang="en-US" b="0" i="0" dirty="0">
                <a:solidFill>
                  <a:srgbClr val="333333"/>
                </a:solidFill>
                <a:effectLst/>
                <a:latin typeface="Montserrat" panose="00000500000000000000" pitchFamily="2" charset="0"/>
              </a:rPr>
              <a:t>[E]. People who have spent money on anti-seasickness medication are less likely to admit symptoms of seasickness than those who have not.</a:t>
            </a:r>
            <a:endParaRPr lang="en-IN" dirty="0"/>
          </a:p>
        </p:txBody>
      </p:sp>
    </p:spTree>
    <p:extLst>
      <p:ext uri="{BB962C8B-B14F-4D97-AF65-F5344CB8AC3E}">
        <p14:creationId xmlns:p14="http://schemas.microsoft.com/office/powerpoint/2010/main" val="1854692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10</a:t>
            </a:r>
          </a:p>
        </p:txBody>
      </p:sp>
      <p:sp>
        <p:nvSpPr>
          <p:cNvPr id="2" name="Rectangle 1">
            <a:extLst>
              <a:ext uri="{FF2B5EF4-FFF2-40B4-BE49-F238E27FC236}">
                <a16:creationId xmlns:a16="http://schemas.microsoft.com/office/drawing/2014/main" id="{D0FCB19E-589A-458E-6655-D54ACA0C0984}"/>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10</a:t>
            </a:r>
          </a:p>
        </p:txBody>
      </p:sp>
      <p:pic>
        <p:nvPicPr>
          <p:cNvPr id="3" name="Picture 2">
            <a:extLst>
              <a:ext uri="{FF2B5EF4-FFF2-40B4-BE49-F238E27FC236}">
                <a16:creationId xmlns:a16="http://schemas.microsoft.com/office/drawing/2014/main" id="{4446F2A7-1CC7-4ACB-BB3C-C08887F636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7A39F5ED-4812-D11C-000D-2E89E16D8ABF}"/>
              </a:ext>
            </a:extLst>
          </p:cNvPr>
          <p:cNvSpPr txBox="1"/>
          <p:nvPr/>
        </p:nvSpPr>
        <p:spPr>
          <a:xfrm>
            <a:off x="533400" y="1600199"/>
            <a:ext cx="10134600" cy="4247317"/>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Oil analysis predict that if the price of oil fails by half, the consumer's purchase price for gasoline made from this oil will also fall by half. Which one of the following, If true, would cast the most serious doubt on the prediction made by the oil analysts?</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Improved automobile technology and new kinds of fuel for cars have enabled some drivers to use less gasoline.</a:t>
            </a:r>
            <a:br>
              <a:rPr lang="en-US" dirty="0"/>
            </a:br>
            <a:r>
              <a:rPr lang="en-US" b="0" i="0" dirty="0">
                <a:solidFill>
                  <a:srgbClr val="333333"/>
                </a:solidFill>
                <a:effectLst/>
                <a:latin typeface="Montserrat" panose="00000500000000000000" pitchFamily="2" charset="0"/>
              </a:rPr>
              <a:t>[B]. Gasoline manufacturers will not expand their profit margins.</a:t>
            </a:r>
            <a:br>
              <a:rPr lang="en-US" dirty="0"/>
            </a:br>
            <a:r>
              <a:rPr lang="en-US" b="0" i="0" dirty="0">
                <a:solidFill>
                  <a:srgbClr val="333333"/>
                </a:solidFill>
                <a:effectLst/>
                <a:latin typeface="Montserrat" panose="00000500000000000000" pitchFamily="2" charset="0"/>
              </a:rPr>
              <a:t>[C]. There are many different gasoline companies that compete with each other to provide the most attractive price to consumers.</a:t>
            </a:r>
            <a:br>
              <a:rPr lang="en-US" dirty="0"/>
            </a:br>
            <a:r>
              <a:rPr lang="en-US" b="0" i="0" dirty="0">
                <a:solidFill>
                  <a:srgbClr val="333333"/>
                </a:solidFill>
                <a:effectLst/>
                <a:latin typeface="Montserrat" panose="00000500000000000000" pitchFamily="2" charset="0"/>
              </a:rPr>
              <a:t>[D]. Studies in several countries show that the amount of gasoline purchased by consumers initially rises after the price of gasoline has fallen.</a:t>
            </a:r>
            <a:br>
              <a:rPr lang="en-US" dirty="0"/>
            </a:br>
            <a:r>
              <a:rPr lang="en-US" b="0" i="0" dirty="0">
                <a:solidFill>
                  <a:srgbClr val="333333"/>
                </a:solidFill>
                <a:effectLst/>
                <a:latin typeface="Montserrat" panose="00000500000000000000" pitchFamily="2" charset="0"/>
              </a:rPr>
              <a:t>[E]. Refining costs, distribution costs, and taxes, none of which varies significantly with oil prices. constitute a large portion of the prices of gasoline.</a:t>
            </a:r>
            <a:endParaRPr lang="en-IN" dirty="0"/>
          </a:p>
        </p:txBody>
      </p:sp>
    </p:spTree>
    <p:extLst>
      <p:ext uri="{BB962C8B-B14F-4D97-AF65-F5344CB8AC3E}">
        <p14:creationId xmlns:p14="http://schemas.microsoft.com/office/powerpoint/2010/main" val="219190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a:t>
            </a:r>
          </a:p>
        </p:txBody>
      </p:sp>
      <p:sp>
        <p:nvSpPr>
          <p:cNvPr id="2" name="Rectangle 1">
            <a:extLst>
              <a:ext uri="{FF2B5EF4-FFF2-40B4-BE49-F238E27FC236}">
                <a16:creationId xmlns:a16="http://schemas.microsoft.com/office/drawing/2014/main" id="{A3D68445-04C5-10F2-77CE-1FBB4D10032D}"/>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11</a:t>
            </a:r>
          </a:p>
        </p:txBody>
      </p:sp>
      <p:pic>
        <p:nvPicPr>
          <p:cNvPr id="3" name="Picture 2">
            <a:extLst>
              <a:ext uri="{FF2B5EF4-FFF2-40B4-BE49-F238E27FC236}">
                <a16:creationId xmlns:a16="http://schemas.microsoft.com/office/drawing/2014/main" id="{799FAA1E-9173-D72A-98D5-70BBF6E97B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1D1BA5BD-EF05-B3B1-47F3-F81AAB60C1FE}"/>
              </a:ext>
            </a:extLst>
          </p:cNvPr>
          <p:cNvSpPr txBox="1"/>
          <p:nvPr/>
        </p:nvSpPr>
        <p:spPr>
          <a:xfrm>
            <a:off x="304800" y="1524000"/>
            <a:ext cx="11357750" cy="4524315"/>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Modern physicians often employ laboratory tests, in addition to physical examinations, in order to diagnose diseases accurately. Insurance company regulations that deny coverage for certain laboratory tests therefore decrease the quality of medical care provided to </a:t>
            </a:r>
            <a:r>
              <a:rPr lang="en-US" b="0" i="0" dirty="0" err="1">
                <a:solidFill>
                  <a:srgbClr val="333333"/>
                </a:solidFill>
                <a:effectLst/>
                <a:latin typeface="Montserrat" panose="00000500000000000000" pitchFamily="2" charset="0"/>
              </a:rPr>
              <a:t>patients.Which</a:t>
            </a:r>
            <a:r>
              <a:rPr lang="en-US" b="0" i="0" dirty="0">
                <a:solidFill>
                  <a:srgbClr val="333333"/>
                </a:solidFill>
                <a:effectLst/>
                <a:latin typeface="Montserrat" panose="00000500000000000000" pitchFamily="2" charset="0"/>
              </a:rPr>
              <a:t> one of the following is an assumption that would serve to justify the conclusion above?</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Physical examinations and the uncovered laboratory tests together provide a more accurate diagnosis of many diseases than do physical examinations alone.</a:t>
            </a:r>
            <a:br>
              <a:rPr lang="en-US" dirty="0"/>
            </a:br>
            <a:r>
              <a:rPr lang="en-US" b="0" i="0" dirty="0">
                <a:solidFill>
                  <a:srgbClr val="333333"/>
                </a:solidFill>
                <a:effectLst/>
                <a:latin typeface="Montserrat" panose="00000500000000000000" pitchFamily="2" charset="0"/>
              </a:rPr>
              <a:t>[B]. Many physicians generally oppose insurance company regulations that, in order to reduce costs, limit the use of laboratory tests.</a:t>
            </a:r>
            <a:br>
              <a:rPr lang="en-US" dirty="0"/>
            </a:br>
            <a:r>
              <a:rPr lang="en-US" b="0" i="0" dirty="0">
                <a:solidFill>
                  <a:srgbClr val="333333"/>
                </a:solidFill>
                <a:effectLst/>
                <a:latin typeface="Montserrat" panose="00000500000000000000" pitchFamily="2" charset="0"/>
              </a:rPr>
              <a:t>[C]. Many patients who might benefit from the uncovered laboratory tests do not have any form of health insurance.</a:t>
            </a:r>
            <a:br>
              <a:rPr lang="en-US" dirty="0"/>
            </a:br>
            <a:r>
              <a:rPr lang="en-US" b="0" i="0" dirty="0">
                <a:solidFill>
                  <a:srgbClr val="333333"/>
                </a:solidFill>
                <a:effectLst/>
                <a:latin typeface="Montserrat" panose="00000500000000000000" pitchFamily="2" charset="0"/>
              </a:rPr>
              <a:t>[D]. There are some illnesses that experienced physicians can diagnose accurately from physicians examination alone.</a:t>
            </a:r>
            <a:br>
              <a:rPr lang="en-US" dirty="0"/>
            </a:br>
            <a:r>
              <a:rPr lang="en-US" b="0" i="0" dirty="0">
                <a:solidFill>
                  <a:srgbClr val="333333"/>
                </a:solidFill>
                <a:effectLst/>
                <a:latin typeface="Montserrat" panose="00000500000000000000" pitchFamily="2" charset="0"/>
              </a:rPr>
              <a:t>[E]. Laboratory tests are more costly to perform than are physical examinations.</a:t>
            </a:r>
            <a:endParaRPr lang="en-IN" dirty="0"/>
          </a:p>
        </p:txBody>
      </p:sp>
    </p:spTree>
    <p:extLst>
      <p:ext uri="{BB962C8B-B14F-4D97-AF65-F5344CB8AC3E}">
        <p14:creationId xmlns:p14="http://schemas.microsoft.com/office/powerpoint/2010/main" val="406186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12</a:t>
            </a:r>
          </a:p>
        </p:txBody>
      </p:sp>
      <p:sp>
        <p:nvSpPr>
          <p:cNvPr id="2" name="Rectangle 1">
            <a:extLst>
              <a:ext uri="{FF2B5EF4-FFF2-40B4-BE49-F238E27FC236}">
                <a16:creationId xmlns:a16="http://schemas.microsoft.com/office/drawing/2014/main" id="{EC47A7DC-9EBF-56D5-FBD7-63BADFA378A0}"/>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12</a:t>
            </a:r>
          </a:p>
        </p:txBody>
      </p:sp>
      <p:pic>
        <p:nvPicPr>
          <p:cNvPr id="3" name="Picture 2">
            <a:extLst>
              <a:ext uri="{FF2B5EF4-FFF2-40B4-BE49-F238E27FC236}">
                <a16:creationId xmlns:a16="http://schemas.microsoft.com/office/drawing/2014/main" id="{741511D2-40CA-4C9D-4A01-1E00E2EC13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4F43BA9B-699E-C632-EE66-8226A3B575A3}"/>
              </a:ext>
            </a:extLst>
          </p:cNvPr>
          <p:cNvSpPr txBox="1"/>
          <p:nvPr/>
        </p:nvSpPr>
        <p:spPr>
          <a:xfrm>
            <a:off x="533400" y="1524000"/>
            <a:ext cx="11201400" cy="4801314"/>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In a new program, automobile owners in some neighborhoods whose cars are not normally driven between 1 A.M. and 5 A.M. can display a special decal in the cars' windows and authorize police to stop the cars during those hours to check the drivers' licenses. The theft rate for cars bearing such decals is much lower than had been usual for cars in those </a:t>
            </a:r>
            <a:r>
              <a:rPr lang="en-US" b="0" i="0" dirty="0" err="1">
                <a:solidFill>
                  <a:srgbClr val="333333"/>
                </a:solidFill>
                <a:effectLst/>
                <a:latin typeface="Montserrat" panose="00000500000000000000" pitchFamily="2" charset="0"/>
              </a:rPr>
              <a:t>neighborhoods.If</a:t>
            </a:r>
            <a:r>
              <a:rPr lang="en-US" b="0" i="0" dirty="0">
                <a:solidFill>
                  <a:srgbClr val="333333"/>
                </a:solidFill>
                <a:effectLst/>
                <a:latin typeface="Montserrat" panose="00000500000000000000" pitchFamily="2" charset="0"/>
              </a:rPr>
              <a:t> it is concluded from the statements above that automobile theft has been reduced by the program, which one of the following would it be most important to answer in evaluating that conclusion?</a:t>
            </a:r>
          </a:p>
          <a:p>
            <a:pPr algn="l"/>
            <a:endParaRPr lang="en-US" dirty="0">
              <a:solidFill>
                <a:srgbClr val="333333"/>
              </a:solidFill>
              <a:latin typeface="Montserrat" panose="00000500000000000000" pitchFamily="2" charset="0"/>
            </a:endParaRPr>
          </a:p>
          <a:p>
            <a:pPr algn="l"/>
            <a:br>
              <a:rPr lang="en-US" dirty="0"/>
            </a:br>
            <a:r>
              <a:rPr lang="en-US" b="0" i="0" dirty="0">
                <a:solidFill>
                  <a:srgbClr val="333333"/>
                </a:solidFill>
                <a:effectLst/>
                <a:latin typeface="Montserrat" panose="00000500000000000000" pitchFamily="2" charset="0"/>
              </a:rPr>
              <a:t>[A]. Are owners who are cautious enough to join the program taking other special measures to protect their cars against theft?</a:t>
            </a:r>
            <a:br>
              <a:rPr lang="en-US" dirty="0"/>
            </a:br>
            <a:r>
              <a:rPr lang="en-US" b="0" i="0" dirty="0">
                <a:solidFill>
                  <a:srgbClr val="333333"/>
                </a:solidFill>
                <a:effectLst/>
                <a:latin typeface="Montserrat" panose="00000500000000000000" pitchFamily="2" charset="0"/>
              </a:rPr>
              <a:t>[B]. In how many neighborhoods is the police program operating?</a:t>
            </a:r>
            <a:br>
              <a:rPr lang="en-US" dirty="0"/>
            </a:br>
            <a:r>
              <a:rPr lang="en-US" b="0" i="0" dirty="0">
                <a:solidFill>
                  <a:srgbClr val="333333"/>
                </a:solidFill>
                <a:effectLst/>
                <a:latin typeface="Montserrat" panose="00000500000000000000" pitchFamily="2" charset="0"/>
              </a:rPr>
              <a:t>[C]. Are cars in neighborhoods that are actively participating in the program sometimes stolen during daylight hours?</a:t>
            </a:r>
            <a:br>
              <a:rPr lang="en-US" dirty="0"/>
            </a:br>
            <a:r>
              <a:rPr lang="en-US" b="0" i="0" dirty="0">
                <a:solidFill>
                  <a:srgbClr val="333333"/>
                </a:solidFill>
                <a:effectLst/>
                <a:latin typeface="Montserrat" panose="00000500000000000000" pitchFamily="2" charset="0"/>
              </a:rPr>
              <a:t>[D]. Will owners who have placed decals on their cars' windows but who find it necessary to drive between 1 A.M. and 5 A.M. be harassed by police?</a:t>
            </a:r>
            <a:br>
              <a:rPr lang="en-US" dirty="0"/>
            </a:br>
            <a:r>
              <a:rPr lang="en-US" b="0" i="0" dirty="0">
                <a:solidFill>
                  <a:srgbClr val="333333"/>
                </a:solidFill>
                <a:effectLst/>
                <a:latin typeface="Montserrat" panose="00000500000000000000" pitchFamily="2" charset="0"/>
              </a:rPr>
              <a:t>[E]. Are the neighborhoods in which the program has been put into effect a representative cross section of neighborhoods with respect to the types of automobiles owned by residents?</a:t>
            </a:r>
            <a:endParaRPr lang="en-IN" dirty="0"/>
          </a:p>
        </p:txBody>
      </p:sp>
    </p:spTree>
    <p:extLst>
      <p:ext uri="{BB962C8B-B14F-4D97-AF65-F5344CB8AC3E}">
        <p14:creationId xmlns:p14="http://schemas.microsoft.com/office/powerpoint/2010/main" val="1522696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sp>
        <p:nvSpPr>
          <p:cNvPr id="2" name="Rectangle 1">
            <a:extLst>
              <a:ext uri="{FF2B5EF4-FFF2-40B4-BE49-F238E27FC236}">
                <a16:creationId xmlns:a16="http://schemas.microsoft.com/office/drawing/2014/main" id="{7BFF8D70-E1AC-F0F7-12C3-8B87444DFB01}"/>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13</a:t>
            </a:r>
          </a:p>
        </p:txBody>
      </p:sp>
      <p:pic>
        <p:nvPicPr>
          <p:cNvPr id="3" name="Picture 2">
            <a:extLst>
              <a:ext uri="{FF2B5EF4-FFF2-40B4-BE49-F238E27FC236}">
                <a16:creationId xmlns:a16="http://schemas.microsoft.com/office/drawing/2014/main" id="{DF8663B8-0C13-CC70-6153-FC04E3CAB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E90DC6B9-E7EF-868E-21C5-39469419ADFA}"/>
              </a:ext>
            </a:extLst>
          </p:cNvPr>
          <p:cNvSpPr txBox="1"/>
          <p:nvPr/>
        </p:nvSpPr>
        <p:spPr>
          <a:xfrm>
            <a:off x="381000" y="1600200"/>
            <a:ext cx="11125200" cy="4247317"/>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In a bureaucracy, all decisions are arrived at by a process that involves many people. There is no one person who has the authority to decide whether a project will process or not. As a consequence, in bureaucracies, risky projects are never </a:t>
            </a:r>
            <a:r>
              <a:rPr lang="en-US" b="0" i="0" dirty="0" err="1">
                <a:solidFill>
                  <a:srgbClr val="333333"/>
                </a:solidFill>
                <a:effectLst/>
                <a:latin typeface="Montserrat" panose="00000500000000000000" pitchFamily="2" charset="0"/>
              </a:rPr>
              <a:t>undertaken.The</a:t>
            </a:r>
            <a:r>
              <a:rPr lang="en-US" b="0" i="0" dirty="0">
                <a:solidFill>
                  <a:srgbClr val="333333"/>
                </a:solidFill>
                <a:effectLst/>
                <a:latin typeface="Montserrat" panose="00000500000000000000" pitchFamily="2" charset="0"/>
              </a:rPr>
              <a:t> conclusion follows logically from the premises if which one of the following is assumed?</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All projects in a bureaucracy require risk.</a:t>
            </a:r>
            <a:br>
              <a:rPr lang="en-US" dirty="0"/>
            </a:br>
            <a:r>
              <a:rPr lang="en-US" b="0" i="0" dirty="0">
                <a:solidFill>
                  <a:srgbClr val="333333"/>
                </a:solidFill>
                <a:effectLst/>
                <a:latin typeface="Montserrat" panose="00000500000000000000" pitchFamily="2" charset="0"/>
              </a:rPr>
              <a:t>[B]. Decisive individuals choose not to work in a bureaucracy.</a:t>
            </a:r>
            <a:br>
              <a:rPr lang="en-US" dirty="0"/>
            </a:br>
            <a:r>
              <a:rPr lang="en-US" b="0" i="0" dirty="0">
                <a:solidFill>
                  <a:srgbClr val="333333"/>
                </a:solidFill>
                <a:effectLst/>
                <a:latin typeface="Montserrat" panose="00000500000000000000" pitchFamily="2" charset="0"/>
              </a:rPr>
              <a:t>[C]. An individual who has decision-making power will take risks.</a:t>
            </a:r>
            <a:br>
              <a:rPr lang="en-US" dirty="0"/>
            </a:br>
            <a:r>
              <a:rPr lang="en-US" b="0" i="0" dirty="0">
                <a:solidFill>
                  <a:srgbClr val="333333"/>
                </a:solidFill>
                <a:effectLst/>
                <a:latin typeface="Montserrat" panose="00000500000000000000" pitchFamily="2" charset="0"/>
              </a:rPr>
              <a:t>[D]. The only risky projects undertaken are those for which a single individual has decision-making power.</a:t>
            </a:r>
            <a:br>
              <a:rPr lang="en-US" dirty="0"/>
            </a:br>
            <a:r>
              <a:rPr lang="en-US" b="0" i="0" dirty="0">
                <a:solidFill>
                  <a:srgbClr val="333333"/>
                </a:solidFill>
                <a:effectLst/>
                <a:latin typeface="Montserrat" panose="00000500000000000000" pitchFamily="2" charset="0"/>
              </a:rPr>
              <a:t>[E]. People sometimes take risks as individuals that they would not take as part of a group.</a:t>
            </a:r>
            <a:endParaRPr lang="en-IN" dirty="0"/>
          </a:p>
        </p:txBody>
      </p:sp>
    </p:spTree>
    <p:extLst>
      <p:ext uri="{BB962C8B-B14F-4D97-AF65-F5344CB8AC3E}">
        <p14:creationId xmlns:p14="http://schemas.microsoft.com/office/powerpoint/2010/main" val="3395754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14</a:t>
            </a:r>
          </a:p>
        </p:txBody>
      </p:sp>
      <p:sp>
        <p:nvSpPr>
          <p:cNvPr id="2" name="Rectangle 1">
            <a:extLst>
              <a:ext uri="{FF2B5EF4-FFF2-40B4-BE49-F238E27FC236}">
                <a16:creationId xmlns:a16="http://schemas.microsoft.com/office/drawing/2014/main" id="{64F730A0-8DA1-8FE9-7951-ADC99AC2DEBA}"/>
              </a:ext>
            </a:extLst>
          </p:cNvPr>
          <p:cNvSpPr/>
          <p:nvPr/>
        </p:nvSpPr>
        <p:spPr>
          <a:xfrm>
            <a:off x="15240" y="-17569"/>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14</a:t>
            </a:r>
          </a:p>
          <a:p>
            <a:pPr algn="ctr"/>
            <a:endParaRPr lang="en-US" sz="3600" dirty="0">
              <a:solidFill>
                <a:schemeClr val="accent1">
                  <a:lumMod val="75000"/>
                </a:schemeClr>
              </a:solidFill>
            </a:endParaRPr>
          </a:p>
        </p:txBody>
      </p:sp>
      <p:pic>
        <p:nvPicPr>
          <p:cNvPr id="3" name="Picture 2">
            <a:extLst>
              <a:ext uri="{FF2B5EF4-FFF2-40B4-BE49-F238E27FC236}">
                <a16:creationId xmlns:a16="http://schemas.microsoft.com/office/drawing/2014/main" id="{63D09BFD-08E7-5097-C0D7-318ACD5A83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723D6845-BADD-A2C8-E5B6-4E58962719D5}"/>
              </a:ext>
            </a:extLst>
          </p:cNvPr>
          <p:cNvSpPr txBox="1"/>
          <p:nvPr/>
        </p:nvSpPr>
        <p:spPr>
          <a:xfrm>
            <a:off x="304800" y="1371600"/>
            <a:ext cx="11357750" cy="4524315"/>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The public is aware of the possibility of biases in the mass media and distrusts the media as too powerful. The body of information against which the public evaluates the plausibility of each new media report comes, however, from what the public has heard of through the mass </a:t>
            </a:r>
            <a:r>
              <a:rPr lang="en-US" b="0" i="0" dirty="0" err="1">
                <a:solidFill>
                  <a:srgbClr val="333333"/>
                </a:solidFill>
                <a:effectLst/>
                <a:latin typeface="Montserrat" panose="00000500000000000000" pitchFamily="2" charset="0"/>
              </a:rPr>
              <a:t>media.If</a:t>
            </a:r>
            <a:r>
              <a:rPr lang="en-US" b="0" i="0" dirty="0">
                <a:solidFill>
                  <a:srgbClr val="333333"/>
                </a:solidFill>
                <a:effectLst/>
                <a:latin typeface="Montserrat" panose="00000500000000000000" pitchFamily="2" charset="0"/>
              </a:rPr>
              <a:t> the view above is correct, it provides a reason for accepting which one of the following conclusions?</a:t>
            </a:r>
          </a:p>
          <a:p>
            <a:endParaRPr lang="en-US" b="1" dirty="0">
              <a:solidFill>
                <a:srgbClr val="333333"/>
              </a:solidFill>
              <a:latin typeface="Montserrat" panose="00000500000000000000" pitchFamily="2" charset="0"/>
            </a:endParaRP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If there is a pervasive bias in the presentation of news by the mass media, it would be hard for the public to discern that bias.</a:t>
            </a:r>
            <a:br>
              <a:rPr lang="en-US" dirty="0"/>
            </a:br>
            <a:r>
              <a:rPr lang="en-US" b="0" i="0" dirty="0">
                <a:solidFill>
                  <a:srgbClr val="333333"/>
                </a:solidFill>
                <a:effectLst/>
                <a:latin typeface="Montserrat" panose="00000500000000000000" pitchFamily="2" charset="0"/>
              </a:rPr>
              <a:t>[B]. The mass media tailor their reports to conform to a specific political agenda.</a:t>
            </a:r>
            <a:br>
              <a:rPr lang="en-US" dirty="0"/>
            </a:br>
            <a:r>
              <a:rPr lang="en-US" b="0" i="0" dirty="0">
                <a:solidFill>
                  <a:srgbClr val="333333"/>
                </a:solidFill>
                <a:effectLst/>
                <a:latin typeface="Montserrat" panose="00000500000000000000" pitchFamily="2" charset="0"/>
              </a:rPr>
              <a:t>[C]. The biases that news media impose on reporting tend not to be conscious distortions but rather part of a sense they share about what is interesting and believable.</a:t>
            </a:r>
            <a:br>
              <a:rPr lang="en-US" dirty="0"/>
            </a:br>
            <a:r>
              <a:rPr lang="en-US" b="0" i="0" dirty="0">
                <a:solidFill>
                  <a:srgbClr val="333333"/>
                </a:solidFill>
                <a:effectLst/>
                <a:latin typeface="Montserrat" panose="00000500000000000000" pitchFamily="2" charset="0"/>
              </a:rPr>
              <a:t>[D]. News reporters and their public hold largely the same views about what is most important in society, because news reporters come out of that society.</a:t>
            </a:r>
            <a:br>
              <a:rPr lang="en-US" dirty="0"/>
            </a:br>
            <a:r>
              <a:rPr lang="en-US" b="0" i="0" dirty="0">
                <a:solidFill>
                  <a:srgbClr val="333333"/>
                </a:solidFill>
                <a:effectLst/>
                <a:latin typeface="Montserrat" panose="00000500000000000000" pitchFamily="2" charset="0"/>
              </a:rPr>
              <a:t>[E]. When a news event occurs that contradicts a stereotype formerly incorporated into reporting by the mass media, the public is predisposed to believe reports of the event.</a:t>
            </a:r>
            <a:endParaRPr lang="en-IN" dirty="0"/>
          </a:p>
        </p:txBody>
      </p:sp>
    </p:spTree>
    <p:extLst>
      <p:ext uri="{BB962C8B-B14F-4D97-AF65-F5344CB8AC3E}">
        <p14:creationId xmlns:p14="http://schemas.microsoft.com/office/powerpoint/2010/main" val="602386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15</a:t>
            </a:r>
          </a:p>
        </p:txBody>
      </p:sp>
      <p:sp>
        <p:nvSpPr>
          <p:cNvPr id="2" name="Rectangle 1">
            <a:extLst>
              <a:ext uri="{FF2B5EF4-FFF2-40B4-BE49-F238E27FC236}">
                <a16:creationId xmlns:a16="http://schemas.microsoft.com/office/drawing/2014/main" id="{51487459-9DE2-E34F-3206-781C1263C33A}"/>
              </a:ext>
            </a:extLst>
          </p:cNvPr>
          <p:cNvSpPr/>
          <p:nvPr/>
        </p:nvSpPr>
        <p:spPr>
          <a:xfrm>
            <a:off x="0" y="0"/>
            <a:ext cx="12192000" cy="1066799"/>
          </a:xfrm>
          <a:prstGeom prst="rect">
            <a:avLst/>
          </a:prstGeom>
          <a:solidFill>
            <a:schemeClr val="accent5">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1">
                    <a:lumMod val="75000"/>
                  </a:schemeClr>
                </a:solidFill>
              </a:rPr>
              <a:t>Question 15</a:t>
            </a:r>
          </a:p>
        </p:txBody>
      </p:sp>
      <p:pic>
        <p:nvPicPr>
          <p:cNvPr id="3" name="Picture 2">
            <a:extLst>
              <a:ext uri="{FF2B5EF4-FFF2-40B4-BE49-F238E27FC236}">
                <a16:creationId xmlns:a16="http://schemas.microsoft.com/office/drawing/2014/main" id="{11BB790F-9A6F-E2DB-FF5E-183E88D948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580904"/>
            <a:ext cx="2057400" cy="1217981"/>
          </a:xfrm>
          <a:prstGeom prst="rect">
            <a:avLst/>
          </a:prstGeom>
        </p:spPr>
      </p:pic>
      <p:sp>
        <p:nvSpPr>
          <p:cNvPr id="15" name="TextBox 14">
            <a:extLst>
              <a:ext uri="{FF2B5EF4-FFF2-40B4-BE49-F238E27FC236}">
                <a16:creationId xmlns:a16="http://schemas.microsoft.com/office/drawing/2014/main" id="{339C936F-32FE-B48B-17BF-EC0CC71A815C}"/>
              </a:ext>
            </a:extLst>
          </p:cNvPr>
          <p:cNvSpPr txBox="1"/>
          <p:nvPr/>
        </p:nvSpPr>
        <p:spPr>
          <a:xfrm>
            <a:off x="304800" y="1288197"/>
            <a:ext cx="10439400" cy="5078313"/>
          </a:xfrm>
          <a:prstGeom prst="rect">
            <a:avLst/>
          </a:prstGeom>
          <a:noFill/>
        </p:spPr>
        <p:txBody>
          <a:bodyPr wrap="square">
            <a:spAutoFit/>
          </a:bodyPr>
          <a:lstStyle/>
          <a:p>
            <a:pPr algn="l"/>
            <a:r>
              <a:rPr lang="en-US" b="0" i="0" dirty="0">
                <a:solidFill>
                  <a:srgbClr val="333333"/>
                </a:solidFill>
                <a:effectLst/>
                <a:latin typeface="Montserrat" panose="00000500000000000000" pitchFamily="2" charset="0"/>
              </a:rPr>
              <a:t>The only way that bookstores can profitably sell books at below-market prices is to get the books at a discount from publishers. Unless bookstores generate a high sales volume, however, they cannot get discounts from publishers. To generate such volume, bookstores must either cater to mass tastes or have exclusive access to a large specialized market, such as medical textbooks, or </a:t>
            </a:r>
            <a:r>
              <a:rPr lang="en-US" b="0" i="0" dirty="0" err="1">
                <a:solidFill>
                  <a:srgbClr val="333333"/>
                </a:solidFill>
                <a:effectLst/>
                <a:latin typeface="Montserrat" panose="00000500000000000000" pitchFamily="2" charset="0"/>
              </a:rPr>
              <a:t>both.Which</a:t>
            </a:r>
            <a:r>
              <a:rPr lang="en-US" b="0" i="0" dirty="0">
                <a:solidFill>
                  <a:srgbClr val="333333"/>
                </a:solidFill>
                <a:effectLst/>
                <a:latin typeface="Montserrat" panose="00000500000000000000" pitchFamily="2" charset="0"/>
              </a:rPr>
              <a:t> one of the following can be properly inferred?</a:t>
            </a:r>
          </a:p>
          <a:p>
            <a:endParaRPr lang="en-US" b="1" dirty="0">
              <a:solidFill>
                <a:srgbClr val="333333"/>
              </a:solidFill>
              <a:latin typeface="Montserrat" panose="00000500000000000000" pitchFamily="2" charset="0"/>
            </a:endParaRPr>
          </a:p>
          <a:p>
            <a:br>
              <a:rPr lang="en-US" dirty="0"/>
            </a:br>
            <a:r>
              <a:rPr lang="en-US" b="0" i="0" dirty="0">
                <a:solidFill>
                  <a:srgbClr val="333333"/>
                </a:solidFill>
                <a:effectLst/>
                <a:latin typeface="Montserrat" panose="00000500000000000000" pitchFamily="2" charset="0"/>
              </a:rPr>
              <a:t>[A]. If a bookstore receives discounts from publishers, it will profitably sell books at below-market prices.</a:t>
            </a:r>
            <a:br>
              <a:rPr lang="en-US" dirty="0"/>
            </a:br>
            <a:r>
              <a:rPr lang="en-US" b="0" i="0" dirty="0">
                <a:solidFill>
                  <a:srgbClr val="333333"/>
                </a:solidFill>
                <a:effectLst/>
                <a:latin typeface="Montserrat" panose="00000500000000000000" pitchFamily="2" charset="0"/>
              </a:rPr>
              <a:t>[B]. A bookstore that caters to mass tastes or has exclusive access to a large specialized market will have a high sales volume.</a:t>
            </a:r>
            <a:br>
              <a:rPr lang="en-US" dirty="0"/>
            </a:br>
            <a:r>
              <a:rPr lang="en-US" b="0" i="0" dirty="0">
                <a:solidFill>
                  <a:srgbClr val="333333"/>
                </a:solidFill>
                <a:effectLst/>
                <a:latin typeface="Montserrat" panose="00000500000000000000" pitchFamily="2" charset="0"/>
              </a:rPr>
              <a:t>[C]. A bookstore that profitably sells books at below-market prices gets discounts from publishers.</a:t>
            </a:r>
            <a:br>
              <a:rPr lang="en-US" dirty="0"/>
            </a:br>
            <a:r>
              <a:rPr lang="en-US" b="0" i="0" dirty="0">
                <a:solidFill>
                  <a:srgbClr val="333333"/>
                </a:solidFill>
                <a:effectLst/>
                <a:latin typeface="Montserrat" panose="00000500000000000000" pitchFamily="2" charset="0"/>
              </a:rPr>
              <a:t>[D]. A bookstore that does not sell books at below market prices does not get discounts from publishers.</a:t>
            </a:r>
            <a:br>
              <a:rPr lang="en-US" dirty="0"/>
            </a:br>
            <a:r>
              <a:rPr lang="en-US" b="0" i="0" dirty="0">
                <a:solidFill>
                  <a:srgbClr val="333333"/>
                </a:solidFill>
                <a:effectLst/>
                <a:latin typeface="Montserrat" panose="00000500000000000000" pitchFamily="2" charset="0"/>
              </a:rPr>
              <a:t>[E]. A bookstore that not only caters to mass tastes but also has exclusive access to a large specialized market cannot profitably sell books at below-market prices.</a:t>
            </a:r>
            <a:endParaRPr lang="en-IN" dirty="0"/>
          </a:p>
        </p:txBody>
      </p:sp>
    </p:spTree>
    <p:extLst>
      <p:ext uri="{BB962C8B-B14F-4D97-AF65-F5344CB8AC3E}">
        <p14:creationId xmlns:p14="http://schemas.microsoft.com/office/powerpoint/2010/main" val="280142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2438400"/>
            <a:ext cx="12192000" cy="1323439"/>
          </a:xfrm>
          <a:prstGeom prst="rect">
            <a:avLst/>
          </a:prstGeom>
        </p:spPr>
        <p:txBody>
          <a:bodyPr wrap="square">
            <a:spAutoFit/>
          </a:bodyPr>
          <a:lstStyle/>
          <a:p>
            <a:pPr algn="ctr"/>
            <a:r>
              <a:rPr lang="en-US" sz="8000" b="1" dirty="0">
                <a:solidFill>
                  <a:schemeClr val="accent1"/>
                </a:solidFill>
                <a:latin typeface="Nunito Sans" panose="00000500000000000000" pitchFamily="2" charset="0"/>
              </a:rPr>
              <a:t>THANK YOU</a:t>
            </a:r>
            <a:endParaRPr lang="en-US" sz="8000" b="1" dirty="0">
              <a:solidFill>
                <a:schemeClr val="accent1"/>
              </a:solidFill>
            </a:endParaRPr>
          </a:p>
        </p:txBody>
      </p:sp>
      <p:grpSp>
        <p:nvGrpSpPr>
          <p:cNvPr id="2" name="Group 1"/>
          <p:cNvGrpSpPr/>
          <p:nvPr/>
        </p:nvGrpSpPr>
        <p:grpSpPr>
          <a:xfrm>
            <a:off x="7966969" y="2289411"/>
            <a:ext cx="4225031" cy="4615403"/>
            <a:chOff x="7966969" y="2260887"/>
            <a:chExt cx="4225031" cy="4615403"/>
          </a:xfrm>
        </p:grpSpPr>
        <p:sp>
          <p:nvSpPr>
            <p:cNvPr id="3" name="Isosceles Triangle 2"/>
            <p:cNvSpPr/>
            <p:nvPr/>
          </p:nvSpPr>
          <p:spPr>
            <a:xfrm>
              <a:off x="8807355" y="4597114"/>
              <a:ext cx="3384645" cy="227917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Isosceles Triangle 3"/>
            <p:cNvSpPr/>
            <p:nvPr/>
          </p:nvSpPr>
          <p:spPr>
            <a:xfrm rot="16200000">
              <a:off x="7780928" y="2446928"/>
              <a:ext cx="4597113" cy="422503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5603733"/>
            <a:ext cx="2057400" cy="121798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2828</TotalTime>
  <Words>4479</Words>
  <Application>Microsoft Office PowerPoint</Application>
  <PresentationFormat>Widescreen</PresentationFormat>
  <Paragraphs>173</Paragraphs>
  <Slides>18</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Montserrat</vt:lpstr>
      <vt:lpstr>Nunito Sans</vt:lpstr>
      <vt:lpstr>Times New Roman</vt:lpstr>
      <vt:lpstr>Arial</vt:lpstr>
      <vt:lpstr>Wingdings</vt:lpstr>
      <vt:lpstr>Courier New</vt:lpstr>
      <vt:lpstr>Google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FACE-45</dc:creator>
  <cp:lastModifiedBy>sivaji siripurapu</cp:lastModifiedBy>
  <cp:revision>265</cp:revision>
  <dcterms:created xsi:type="dcterms:W3CDTF">2006-08-16T00:00:00Z</dcterms:created>
  <dcterms:modified xsi:type="dcterms:W3CDTF">2024-01-10T06:09:46Z</dcterms:modified>
</cp:coreProperties>
</file>