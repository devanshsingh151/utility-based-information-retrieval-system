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31140"/>
            <a:ext cx="12192000" cy="11065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1628" y="2426854"/>
            <a:ext cx="7268743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rgbClr val="2E75B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1884" y="1319670"/>
            <a:ext cx="8905240" cy="3329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0714" y="1811147"/>
            <a:ext cx="6296922" cy="31668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3175" y="2736262"/>
            <a:ext cx="12198350" cy="1238885"/>
            <a:chOff x="-3175" y="2736262"/>
            <a:chExt cx="12198350" cy="12388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739437"/>
              <a:ext cx="12192000" cy="123195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739437"/>
              <a:ext cx="12192000" cy="1232535"/>
            </a:xfrm>
            <a:custGeom>
              <a:avLst/>
              <a:gdLst/>
              <a:ahLst/>
              <a:cxnLst/>
              <a:rect l="l" t="t" r="r" b="b"/>
              <a:pathLst>
                <a:path w="12192000" h="1232535">
                  <a:moveTo>
                    <a:pt x="0" y="0"/>
                  </a:moveTo>
                  <a:lnTo>
                    <a:pt x="12192000" y="0"/>
                  </a:lnTo>
                  <a:lnTo>
                    <a:pt x="12192000" y="1231957"/>
                  </a:lnTo>
                  <a:lnTo>
                    <a:pt x="0" y="1231957"/>
                  </a:lnTo>
                  <a:lnTo>
                    <a:pt x="0" y="0"/>
                  </a:lnTo>
                  <a:close/>
                </a:path>
              </a:pathLst>
            </a:custGeom>
            <a:ln w="6349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90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000000"/>
                </a:solidFill>
                <a:latin typeface="Arial"/>
                <a:cs typeface="Arial"/>
              </a:rPr>
              <a:t>Effective</a:t>
            </a:r>
            <a:r>
              <a:rPr dirty="0" sz="36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r>
              <a:rPr dirty="0" sz="36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000000"/>
                </a:solidFill>
                <a:latin typeface="Arial"/>
                <a:cs typeface="Arial"/>
              </a:rPr>
              <a:t>Making</a:t>
            </a:r>
            <a:endParaRPr sz="3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200" i="1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2200" spc="-6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000000"/>
                </a:solidFill>
                <a:latin typeface="Arial"/>
                <a:cs typeface="Arial"/>
              </a:rPr>
              <a:t>Real-</a:t>
            </a:r>
            <a:r>
              <a:rPr dirty="0" sz="2200" i="1">
                <a:solidFill>
                  <a:srgbClr val="000000"/>
                </a:solidFill>
                <a:latin typeface="Arial"/>
                <a:cs typeface="Arial"/>
              </a:rPr>
              <a:t>World</a:t>
            </a:r>
            <a:r>
              <a:rPr dirty="0" sz="2200" spc="-5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000000"/>
                </a:solidFill>
                <a:latin typeface="Arial"/>
                <a:cs typeface="Arial"/>
              </a:rPr>
              <a:t>Scenarios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1141"/>
            <a:ext cx="12192000" cy="110680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295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dirty="0" sz="3200" spc="-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dirty="0" sz="3200" spc="-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Effective</a:t>
            </a:r>
            <a:r>
              <a:rPr dirty="0" sz="32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dirty="0" sz="3200" spc="-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Arial MT"/>
                <a:cs typeface="Arial MT"/>
              </a:rPr>
              <a:t>Making?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01045" y="2031752"/>
            <a:ext cx="8600440" cy="2181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715" indent="-120014">
              <a:lnSpc>
                <a:spcPct val="100000"/>
              </a:lnSpc>
              <a:spcBef>
                <a:spcPts val="100"/>
              </a:spcBef>
              <a:buChar char="•"/>
              <a:tabLst>
                <a:tab pos="132715" algn="l"/>
              </a:tabLst>
            </a:pPr>
            <a:r>
              <a:rPr dirty="0" sz="2400">
                <a:latin typeface="Arial MT"/>
                <a:cs typeface="Arial MT"/>
              </a:rPr>
              <a:t>Process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choosing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available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alternatives</a:t>
            </a:r>
            <a:endParaRPr sz="2400">
              <a:latin typeface="Arial MT"/>
              <a:cs typeface="Arial MT"/>
            </a:endParaRPr>
          </a:p>
          <a:p>
            <a:pPr marL="132715" indent="-120014">
              <a:lnSpc>
                <a:spcPct val="100000"/>
              </a:lnSpc>
              <a:spcBef>
                <a:spcPts val="1820"/>
              </a:spcBef>
              <a:buChar char="•"/>
              <a:tabLst>
                <a:tab pos="132715" algn="l"/>
              </a:tabLst>
            </a:pPr>
            <a:r>
              <a:rPr dirty="0" sz="2400">
                <a:latin typeface="Arial MT"/>
                <a:cs typeface="Arial MT"/>
              </a:rPr>
              <a:t>Involves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logic,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analysis,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judgment,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experience</a:t>
            </a:r>
            <a:endParaRPr sz="2400">
              <a:latin typeface="Arial MT"/>
              <a:cs typeface="Arial MT"/>
            </a:endParaRPr>
          </a:p>
          <a:p>
            <a:pPr marL="132715" indent="-120014">
              <a:lnSpc>
                <a:spcPct val="100000"/>
              </a:lnSpc>
              <a:spcBef>
                <a:spcPts val="1820"/>
              </a:spcBef>
              <a:buChar char="•"/>
              <a:tabLst>
                <a:tab pos="132715" algn="l"/>
              </a:tabLst>
            </a:pPr>
            <a:r>
              <a:rPr dirty="0" sz="2400">
                <a:latin typeface="Arial MT"/>
                <a:cs typeface="Arial MT"/>
              </a:rPr>
              <a:t>Helps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solve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problems,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reduce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risk,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achieve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132715" indent="-120014">
              <a:lnSpc>
                <a:spcPct val="100000"/>
              </a:lnSpc>
              <a:spcBef>
                <a:spcPts val="1820"/>
              </a:spcBef>
              <a:buChar char="•"/>
              <a:tabLst>
                <a:tab pos="132715" algn="l"/>
              </a:tabLst>
            </a:pPr>
            <a:r>
              <a:rPr dirty="0" sz="2400">
                <a:latin typeface="Arial MT"/>
                <a:cs typeface="Arial MT"/>
              </a:rPr>
              <a:t>Essential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managers,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students,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teams,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leaders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1141"/>
            <a:ext cx="12192000" cy="110680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295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Key</a:t>
            </a:r>
            <a:r>
              <a:rPr dirty="0" sz="3200" spc="-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Features</a:t>
            </a:r>
            <a:r>
              <a:rPr dirty="0" sz="3200" spc="-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dirty="0" sz="3200" spc="-5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Effective</a:t>
            </a:r>
            <a:r>
              <a:rPr dirty="0" sz="3200" spc="-4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dirty="0" sz="3200" spc="-4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Arial MT"/>
                <a:cs typeface="Arial MT"/>
              </a:rPr>
              <a:t>Making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60625" y="1726909"/>
            <a:ext cx="5516880" cy="367030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4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Clear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understanding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the</a:t>
            </a:r>
            <a:r>
              <a:rPr dirty="0" sz="2300" spc="-10">
                <a:latin typeface="Arial MT"/>
                <a:cs typeface="Arial MT"/>
              </a:rPr>
              <a:t> problem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Use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of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accurate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relevant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information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Evaluating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multiple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alternatives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Considering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risks</a:t>
            </a:r>
            <a:r>
              <a:rPr dirty="0" sz="2300" spc="-2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consequences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Logical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unbiased</a:t>
            </a:r>
            <a:r>
              <a:rPr dirty="0" sz="2300" spc="-10">
                <a:latin typeface="Arial MT"/>
                <a:cs typeface="Arial MT"/>
              </a:rPr>
              <a:t> thinking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Timely</a:t>
            </a:r>
            <a:r>
              <a:rPr dirty="0" sz="2300" spc="-8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decision</a:t>
            </a:r>
            <a:r>
              <a:rPr dirty="0" sz="2300" spc="-7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making</a:t>
            </a:r>
            <a:endParaRPr sz="2300">
              <a:latin typeface="Arial MT"/>
              <a:cs typeface="Arial MT"/>
            </a:endParaRPr>
          </a:p>
          <a:p>
            <a:pPr marL="243204" indent="-230504">
              <a:lnSpc>
                <a:spcPct val="100000"/>
              </a:lnSpc>
              <a:spcBef>
                <a:spcPts val="1340"/>
              </a:spcBef>
              <a:buChar char="•"/>
              <a:tabLst>
                <a:tab pos="243204" algn="l"/>
              </a:tabLst>
            </a:pPr>
            <a:r>
              <a:rPr dirty="0" sz="2300">
                <a:latin typeface="Arial MT"/>
                <a:cs typeface="Arial MT"/>
              </a:rPr>
              <a:t>Reviewing</a:t>
            </a:r>
            <a:r>
              <a:rPr dirty="0" sz="2300" spc="-4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outcomes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for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improvement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1141"/>
            <a:ext cx="12192000" cy="110680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2952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Steps</a:t>
            </a:r>
            <a:r>
              <a:rPr dirty="0" sz="3200" spc="-6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32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Effective</a:t>
            </a:r>
            <a:r>
              <a:rPr dirty="0" sz="3200" spc="-6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000000"/>
                </a:solidFill>
                <a:latin typeface="Arial MT"/>
                <a:cs typeface="Arial MT"/>
              </a:rPr>
              <a:t>Decision</a:t>
            </a:r>
            <a:r>
              <a:rPr dirty="0" sz="3200" spc="-55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Arial MT"/>
                <a:cs typeface="Arial MT"/>
              </a:rPr>
              <a:t>Making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7737" y="1667083"/>
            <a:ext cx="4408170" cy="3492500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233045" indent="-220345">
              <a:lnSpc>
                <a:spcPct val="100000"/>
              </a:lnSpc>
              <a:spcBef>
                <a:spcPts val="13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Identify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problem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Gather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necessary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information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Generate</a:t>
            </a:r>
            <a:r>
              <a:rPr dirty="0" sz="2200" spc="-11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alternatives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Evaluate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pros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cons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Choose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best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option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Implement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decision</a:t>
            </a:r>
            <a:endParaRPr sz="2200">
              <a:latin typeface="Arial MT"/>
              <a:cs typeface="Arial MT"/>
            </a:endParaRPr>
          </a:p>
          <a:p>
            <a:pPr marL="233045" indent="-220345">
              <a:lnSpc>
                <a:spcPct val="100000"/>
              </a:lnSpc>
              <a:spcBef>
                <a:spcPts val="1260"/>
              </a:spcBef>
              <a:buChar char="•"/>
              <a:tabLst>
                <a:tab pos="233045" algn="l"/>
              </a:tabLst>
            </a:pPr>
            <a:r>
              <a:rPr dirty="0" sz="2200">
                <a:latin typeface="Arial MT"/>
                <a:cs typeface="Arial MT"/>
              </a:rPr>
              <a:t>Review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learn</a:t>
            </a:r>
            <a:r>
              <a:rPr dirty="0" sz="2200" spc="-4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from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the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results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31141"/>
            <a:ext cx="12192000" cy="1106805"/>
          </a:xfrm>
          <a:prstGeom prst="rect"/>
          <a:ln w="6350">
            <a:solidFill>
              <a:srgbClr val="5B9BD5"/>
            </a:solidFill>
          </a:ln>
        </p:spPr>
        <p:txBody>
          <a:bodyPr wrap="square" lIns="0" tIns="193675" rIns="0" bIns="0" rtlCol="0" vert="horz">
            <a:spAutoFit/>
          </a:bodyPr>
          <a:lstStyle/>
          <a:p>
            <a:pPr algn="ctr" marL="316865">
              <a:lnSpc>
                <a:spcPct val="100000"/>
              </a:lnSpc>
              <a:spcBef>
                <a:spcPts val="1525"/>
              </a:spcBef>
            </a:pPr>
            <a:r>
              <a:rPr dirty="0" sz="4500" spc="-10" b="1">
                <a:solidFill>
                  <a:srgbClr val="000000"/>
                </a:solidFill>
                <a:latin typeface="Arial"/>
                <a:cs typeface="Arial"/>
              </a:rPr>
              <a:t>SCENERIOS</a:t>
            </a:r>
            <a:endParaRPr sz="45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906" y="1730130"/>
            <a:ext cx="9936480" cy="3728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Scenario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–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Business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Decision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2000" spc="-10" b="1">
                <a:latin typeface="Arial"/>
                <a:cs typeface="Arial"/>
              </a:rPr>
              <a:t>Situation: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company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wants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launch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product.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Decision</a:t>
            </a:r>
            <a:r>
              <a:rPr dirty="0" sz="2000" spc="-8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Factors:</a:t>
            </a:r>
            <a:endParaRPr sz="2000">
              <a:latin typeface="Arial"/>
              <a:cs typeface="Arial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demand</a:t>
            </a:r>
            <a:endParaRPr sz="2000">
              <a:latin typeface="Arial MT"/>
              <a:cs typeface="Arial MT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Competitor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analysis</a:t>
            </a:r>
            <a:endParaRPr sz="2000">
              <a:latin typeface="Arial MT"/>
              <a:cs typeface="Arial MT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Budget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resources</a:t>
            </a:r>
            <a:endParaRPr sz="2000">
              <a:latin typeface="Arial MT"/>
              <a:cs typeface="Arial MT"/>
            </a:endParaRPr>
          </a:p>
          <a:p>
            <a:pPr marL="469265" indent="-316865">
              <a:lnSpc>
                <a:spcPct val="100000"/>
              </a:lnSpc>
              <a:spcBef>
                <a:spcPts val="120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000">
                <a:latin typeface="Arial MT"/>
                <a:cs typeface="Arial MT"/>
              </a:rPr>
              <a:t>Risk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level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Arial"/>
                <a:cs typeface="Arial"/>
              </a:rPr>
              <a:t>Effective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Decision: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Launch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promising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segment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after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55" y="370639"/>
            <a:ext cx="42271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Scenario</a:t>
            </a:r>
            <a:r>
              <a:rPr dirty="0" sz="24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dirty="0" sz="2400" spc="-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2400" spc="-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Career</a:t>
            </a:r>
            <a:r>
              <a:rPr dirty="0" sz="2400" spc="-4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Arial"/>
                <a:cs typeface="Arial"/>
              </a:rPr>
              <a:t>Situation:</a:t>
            </a:r>
            <a:r>
              <a:rPr dirty="0" spc="-130" b="1">
                <a:latin typeface="Arial"/>
                <a:cs typeface="Arial"/>
              </a:rPr>
              <a:t> </a:t>
            </a:r>
            <a:r>
              <a:rPr dirty="0"/>
              <a:t>A</a:t>
            </a:r>
            <a:r>
              <a:rPr dirty="0" spc="-125"/>
              <a:t> </a:t>
            </a:r>
            <a:r>
              <a:rPr dirty="0"/>
              <a:t>student</a:t>
            </a:r>
            <a:r>
              <a:rPr dirty="0" spc="-15"/>
              <a:t> </a:t>
            </a:r>
            <a:r>
              <a:rPr dirty="0"/>
              <a:t>must</a:t>
            </a:r>
            <a:r>
              <a:rPr dirty="0" spc="-15"/>
              <a:t> </a:t>
            </a:r>
            <a:r>
              <a:rPr dirty="0"/>
              <a:t>choose</a:t>
            </a:r>
            <a:r>
              <a:rPr dirty="0" spc="-15"/>
              <a:t> </a:t>
            </a:r>
            <a:r>
              <a:rPr dirty="0"/>
              <a:t>between</a:t>
            </a:r>
            <a:r>
              <a:rPr dirty="0" spc="-10"/>
              <a:t> </a:t>
            </a:r>
            <a:r>
              <a:rPr dirty="0"/>
              <a:t>job</a:t>
            </a:r>
            <a:r>
              <a:rPr dirty="0" spc="-10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higher</a:t>
            </a:r>
            <a:r>
              <a:rPr dirty="0" spc="-15"/>
              <a:t> </a:t>
            </a:r>
            <a:r>
              <a:rPr dirty="0" spc="-10"/>
              <a:t>studies.</a:t>
            </a:r>
          </a:p>
          <a:p>
            <a:pPr>
              <a:lnSpc>
                <a:spcPct val="100000"/>
              </a:lnSpc>
              <a:spcBef>
                <a:spcPts val="1265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Steps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Used:</a:t>
            </a:r>
          </a:p>
          <a:p>
            <a:pPr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100"/>
              <a:t>Identify</a:t>
            </a:r>
            <a:r>
              <a:rPr dirty="0" sz="2100" spc="-35"/>
              <a:t> </a:t>
            </a:r>
            <a:r>
              <a:rPr dirty="0" sz="2100"/>
              <a:t>goals</a:t>
            </a:r>
            <a:r>
              <a:rPr dirty="0" sz="2100" spc="-30"/>
              <a:t> </a:t>
            </a:r>
            <a:r>
              <a:rPr dirty="0" sz="2100" spc="-10"/>
              <a:t>(salary,</a:t>
            </a:r>
            <a:r>
              <a:rPr dirty="0" sz="2100" spc="-35"/>
              <a:t> </a:t>
            </a:r>
            <a:r>
              <a:rPr dirty="0" sz="2100"/>
              <a:t>learning,</a:t>
            </a:r>
            <a:r>
              <a:rPr dirty="0" sz="2100" spc="-30"/>
              <a:t> </a:t>
            </a:r>
            <a:r>
              <a:rPr dirty="0" sz="2100" spc="-10"/>
              <a:t>long-</a:t>
            </a:r>
            <a:r>
              <a:rPr dirty="0" sz="2100"/>
              <a:t>term</a:t>
            </a:r>
            <a:r>
              <a:rPr dirty="0" sz="2100" spc="-30"/>
              <a:t> </a:t>
            </a:r>
            <a:r>
              <a:rPr dirty="0" sz="2100" spc="-10"/>
              <a:t>growth)</a:t>
            </a:r>
            <a:endParaRPr sz="2100"/>
          </a:p>
          <a:p>
            <a:pPr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100"/>
              <a:t>Compare</a:t>
            </a:r>
            <a:r>
              <a:rPr dirty="0" sz="2100" spc="-10"/>
              <a:t> </a:t>
            </a:r>
            <a:r>
              <a:rPr dirty="0" sz="2100"/>
              <a:t>benefits</a:t>
            </a:r>
            <a:r>
              <a:rPr dirty="0" sz="2100" spc="-15"/>
              <a:t> </a:t>
            </a:r>
            <a:r>
              <a:rPr dirty="0" sz="2100"/>
              <a:t>and</a:t>
            </a:r>
            <a:r>
              <a:rPr dirty="0" sz="2100" spc="-10"/>
              <a:t> drawbacks</a:t>
            </a:r>
            <a:endParaRPr sz="2100"/>
          </a:p>
          <a:p>
            <a:pPr marL="469265" indent="-316865">
              <a:lnSpc>
                <a:spcPct val="100000"/>
              </a:lnSpc>
              <a:spcBef>
                <a:spcPts val="1180"/>
              </a:spcBef>
              <a:buFont typeface="Times New Roman"/>
              <a:buChar char="•"/>
              <a:tabLst>
                <a:tab pos="469265" algn="l"/>
              </a:tabLst>
            </a:pPr>
            <a:r>
              <a:rPr dirty="0" sz="2100"/>
              <a:t>Seek</a:t>
            </a:r>
            <a:r>
              <a:rPr dirty="0" sz="2100" spc="-20"/>
              <a:t> </a:t>
            </a:r>
            <a:r>
              <a:rPr dirty="0" sz="2100"/>
              <a:t>mentor</a:t>
            </a:r>
            <a:r>
              <a:rPr dirty="0" sz="2100" spc="-20"/>
              <a:t> </a:t>
            </a:r>
            <a:r>
              <a:rPr dirty="0" sz="2100" spc="-10"/>
              <a:t>guidance</a:t>
            </a:r>
            <a:endParaRPr sz="2100"/>
          </a:p>
          <a:p>
            <a:pPr>
              <a:lnSpc>
                <a:spcPct val="100000"/>
              </a:lnSpc>
              <a:spcBef>
                <a:spcPts val="1265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Effective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Decision: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Choose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option</a:t>
            </a:r>
            <a:r>
              <a:rPr dirty="0" spc="-20"/>
              <a:t>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/>
              <a:t>aligns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/>
              <a:t>future</a:t>
            </a:r>
            <a:r>
              <a:rPr dirty="0" spc="-20"/>
              <a:t> </a:t>
            </a:r>
            <a:r>
              <a:rPr dirty="0"/>
              <a:t>career</a:t>
            </a:r>
            <a:r>
              <a:rPr dirty="0" spc="-25"/>
              <a:t> </a:t>
            </a:r>
            <a:r>
              <a:rPr dirty="0" spc="-10"/>
              <a:t>vision.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730" y="220120"/>
            <a:ext cx="49047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Scenario</a:t>
            </a:r>
            <a:r>
              <a:rPr dirty="0" sz="2400" spc="-6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dirty="0" sz="24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24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Emergency</a:t>
            </a:r>
            <a:r>
              <a:rPr dirty="0" sz="2400" spc="-5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2657" y="965285"/>
            <a:ext cx="7038975" cy="1239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Situation:</a:t>
            </a:r>
            <a:r>
              <a:rPr dirty="0" sz="2300" spc="-30" b="1">
                <a:latin typeface="Arial"/>
                <a:cs typeface="Arial"/>
              </a:rPr>
              <a:t> </a:t>
            </a:r>
            <a:r>
              <a:rPr dirty="0" sz="2300">
                <a:latin typeface="Arial MT"/>
                <a:cs typeface="Arial MT"/>
              </a:rPr>
              <a:t>System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failure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during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peak</a:t>
            </a:r>
            <a:r>
              <a:rPr dirty="0" sz="2300" spc="-2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business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hours.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300" b="1">
                <a:latin typeface="Arial"/>
                <a:cs typeface="Arial"/>
              </a:rPr>
              <a:t>Decision</a:t>
            </a:r>
            <a:r>
              <a:rPr dirty="0" sz="2300" spc="-40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Factors: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2357" y="2173558"/>
            <a:ext cx="128270" cy="154940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300" spc="-50"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300" spc="-50"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300" spc="-50">
                <a:latin typeface="Times New Roman"/>
                <a:cs typeface="Times New Roman"/>
              </a:rPr>
              <a:t>•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89856" y="2179405"/>
            <a:ext cx="300863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dirty="0" sz="2300">
                <a:latin typeface="Arial MT"/>
                <a:cs typeface="Arial MT"/>
              </a:rPr>
              <a:t>Response</a:t>
            </a:r>
            <a:r>
              <a:rPr dirty="0" sz="2300" spc="-30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time </a:t>
            </a:r>
            <a:r>
              <a:rPr dirty="0" sz="2300">
                <a:latin typeface="Arial MT"/>
                <a:cs typeface="Arial MT"/>
              </a:rPr>
              <a:t>Available</a:t>
            </a:r>
            <a:r>
              <a:rPr dirty="0" sz="2300" spc="-5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backup</a:t>
            </a:r>
            <a:r>
              <a:rPr dirty="0" sz="2300" spc="-4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plans </a:t>
            </a:r>
            <a:r>
              <a:rPr dirty="0" sz="2300">
                <a:latin typeface="Arial MT"/>
                <a:cs typeface="Arial MT"/>
              </a:rPr>
              <a:t>Impact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on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users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2657" y="3860885"/>
            <a:ext cx="983170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Effective</a:t>
            </a:r>
            <a:r>
              <a:rPr dirty="0" sz="2300" spc="-10" b="1">
                <a:latin typeface="Arial"/>
                <a:cs typeface="Arial"/>
              </a:rPr>
              <a:t> Decision:</a:t>
            </a:r>
            <a:r>
              <a:rPr dirty="0" sz="2300" spc="-140" b="1">
                <a:latin typeface="Arial"/>
                <a:cs typeface="Arial"/>
              </a:rPr>
              <a:t> </a:t>
            </a:r>
            <a:r>
              <a:rPr dirty="0" sz="2300">
                <a:latin typeface="Arial MT"/>
                <a:cs typeface="Arial MT"/>
              </a:rPr>
              <a:t>Activate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backup</a:t>
            </a:r>
            <a:r>
              <a:rPr dirty="0" sz="2300" spc="-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system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immediately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and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fix</a:t>
            </a:r>
            <a:r>
              <a:rPr dirty="0" sz="2300" spc="-1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issue</a:t>
            </a:r>
            <a:r>
              <a:rPr dirty="0" sz="2300" spc="-10">
                <a:latin typeface="Arial MT"/>
                <a:cs typeface="Arial MT"/>
              </a:rPr>
              <a:t> later.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5214" y="5548071"/>
            <a:ext cx="2265316" cy="12339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7631" y="5670337"/>
            <a:ext cx="2665189" cy="10326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8834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355"/>
              <a:t> </a:t>
            </a:r>
            <a:r>
              <a:rPr dirty="0" spc="-2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3</dc:title>
  <dcterms:created xsi:type="dcterms:W3CDTF">2026-02-13T07:33:11Z</dcterms:created>
  <dcterms:modified xsi:type="dcterms:W3CDTF">2026-02-13T07:33:11Z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Creator">
    <vt:lpwstr>Keynote</vt:lpwstr>
  </property>
  <property fmtid="{D5CDD505-2E9C-101B-9397-08002B2CF9AE}" pid="4" name="LastSaved">
    <vt:filetime>2026-02-13T00:00:00Z</vt:filetime>
  </property>
  <property fmtid="{D5CDD505-2E9C-101B-9397-08002B2CF9AE}" pid="5" name="Producer">
    <vt:lpwstr>CloudConvert</vt:lpwstr>
  </property>
</Properties>
</file>